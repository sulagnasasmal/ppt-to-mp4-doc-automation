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69" d="100"/>
          <a:sy n="69" d="100"/>
        </p:scale>
        <p:origin x="850" y="5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19552490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Hello and welcome to this Data Stream Integration Documentation Video.</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video covers: how Data Stream Integration works and the required configurations.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DFM enables customers to map semi-structured data stream fields to master feed client fields. The mapped fields can later be used when defining Policy Manager rules, Profiles and Rule components using Platform Lists.
In order to do that, the data streams must be configured either in the Platform Lists or in the SG_dataStreamClientFieldMapping.ini file available in the App Server instance folder.</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an example of the SG_dataStreamClientFieldMapping.ini file.</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Platform list in AdminOne or SG_dataStreamClientFieldMapping.ini file — that depends on the value set for SG_enableDataStreamClientFieldIniFileMapping parameter.
If FALSE then mapping fields are read from the AdminOne interface.
The SG_enableDataStreamIntegration parameter must be set TRUE to enable the Data Stream Integration feature.</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deep dive into the platform lists in AdminOne user interface.
Data Integration Manager, Data Elements, and Detection Process platform lists enable you to configure data streams.
The Data Integration Manager wizard allows you to configure the data stream and the fields flowing through it.
Data Elements and Detection Process platform lists are nested within the Data Integration Manager. These lists can be updated independently as well.</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let's see how to Configure Platform Lists for Data Streams.
Once you log on to AdminOne, go to the Settings tab and select Platform Lists.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the Platform List Items, select Data Integration Manager.</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Click the new item icon to add a new platform list.
It opens the New Platform List Item wizard.</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the Data Stream Identifier field, select a data stream field from the existing data streams. This field is mandatory and should be unique.
In the Data Stream Name field, specify the business name to be displayed for the data stream. The value must be unique with maximum length of 50 characters.
In the Description field, specify additional information related to the data stream.</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Once you define a data stream, click the arrow icon in the first column to configure fields further for the data streams. The Data Elements and Detection Process tabs are displayed.</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the Data Elements tab, click the Add item to list Data Elements (+) icon to specify various information like Key Identifier (the key in JSON string), Business Name displayed on Policy Manager and Analytics Authoring Environment, data type and Scrambling method when the data is persisted into DataLakes.
Based on the new Data Stream field's data type, you can map a Data Stream field with a relevant Client field in the DFM data model.</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Similarly, in the Data Elements tab, click the Add item to list Data Elements (+) icon and specify the required detection process for the data stream.
Once a data stream is configured, its fields are displayed in policy manager rules, profile and rule contexts in the same way as out-of-the-box DFM fields.</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for your time. For more information, visit our Documentation Center.</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2C39A"/>
          </a:solidFill>
          <a:ln w="12700">
            <a:solidFill>
              <a:srgbClr val="02C39A"/>
            </a:solidFill>
            <a:prstDash val="solid"/>
          </a:ln>
        </p:spPr>
      </p:sp>
      <p:sp>
        <p:nvSpPr>
          <p:cNvPr id="3" name="Shape 1"/>
          <p:cNvSpPr/>
          <p:nvPr/>
        </p:nvSpPr>
        <p:spPr>
          <a:xfrm>
            <a:off x="6858000" y="457200"/>
            <a:ext cx="3200400" cy="3200400"/>
          </a:xfrm>
          <a:prstGeom prst="ellipse">
            <a:avLst/>
          </a:prstGeom>
          <a:solidFill>
            <a:srgbClr val="1B7FA6">
              <a:alpha val="20000"/>
            </a:srgbClr>
          </a:solidFill>
          <a:ln w="12700">
            <a:solidFill>
              <a:srgbClr val="1B7FA6">
                <a:alpha val="40000"/>
              </a:srgbClr>
            </a:solidFill>
            <a:prstDash val="solid"/>
          </a:ln>
        </p:spPr>
      </p:sp>
      <p:sp>
        <p:nvSpPr>
          <p:cNvPr id="4" name="Shape 2"/>
          <p:cNvSpPr/>
          <p:nvPr/>
        </p:nvSpPr>
        <p:spPr>
          <a:xfrm>
            <a:off x="7315200" y="822960"/>
            <a:ext cx="2286000" cy="2286000"/>
          </a:xfrm>
          <a:prstGeom prst="ellipse">
            <a:avLst/>
          </a:prstGeom>
          <a:solidFill>
            <a:srgbClr val="02C39A">
              <a:alpha val="15000"/>
            </a:srgbClr>
          </a:solidFill>
          <a:ln w="12700">
            <a:solidFill>
              <a:srgbClr val="02C39A">
                <a:alpha val="30000"/>
              </a:srgbClr>
            </a:solidFill>
            <a:prstDash val="solid"/>
          </a:ln>
        </p:spPr>
      </p:sp>
      <p:sp>
        <p:nvSpPr>
          <p:cNvPr id="5" name="Text 3"/>
          <p:cNvSpPr/>
          <p:nvPr/>
        </p:nvSpPr>
        <p:spPr>
          <a:xfrm>
            <a:off x="548640" y="914400"/>
            <a:ext cx="5486400" cy="731520"/>
          </a:xfrm>
          <a:prstGeom prst="rect">
            <a:avLst/>
          </a:prstGeom>
          <a:noFill/>
          <a:ln/>
        </p:spPr>
        <p:txBody>
          <a:bodyPr wrap="square" lIns="0" tIns="0" rIns="0" bIns="0" rtlCol="0" anchor="ctr"/>
          <a:lstStyle/>
          <a:p>
            <a:pPr marL="0" indent="0">
              <a:buNone/>
            </a:pPr>
            <a:r>
              <a:rPr lang="en-US" sz="4400" b="1" dirty="0">
                <a:solidFill>
                  <a:srgbClr val="02C39A"/>
                </a:solidFill>
                <a:latin typeface="Calibri" pitchFamily="34" charset="0"/>
                <a:ea typeface="Calibri" pitchFamily="34" charset="-122"/>
                <a:cs typeface="Calibri" pitchFamily="34" charset="-120"/>
              </a:rPr>
              <a:t>DFM-X</a:t>
            </a:r>
            <a:endParaRPr lang="en-US" sz="4400" dirty="0"/>
          </a:p>
        </p:txBody>
      </p:sp>
      <p:sp>
        <p:nvSpPr>
          <p:cNvPr id="6" name="Text 4"/>
          <p:cNvSpPr/>
          <p:nvPr/>
        </p:nvSpPr>
        <p:spPr>
          <a:xfrm>
            <a:off x="548640" y="1600200"/>
            <a:ext cx="6400800" cy="640080"/>
          </a:xfrm>
          <a:prstGeom prst="rect">
            <a:avLst/>
          </a:prstGeom>
          <a:noFill/>
          <a:ln/>
        </p:spPr>
        <p:txBody>
          <a:bodyPr wrap="square" lIns="0" tIns="0" rIns="0" bIns="0" rtlCol="0" anchor="ctr"/>
          <a:lstStyle/>
          <a:p>
            <a:pPr marL="0" indent="0">
              <a:buNone/>
            </a:pPr>
            <a:r>
              <a:rPr lang="en-US" sz="2800" dirty="0">
                <a:solidFill>
                  <a:srgbClr val="FFFFFF"/>
                </a:solidFill>
                <a:latin typeface="Calibri" pitchFamily="34" charset="0"/>
                <a:ea typeface="Calibri" pitchFamily="34" charset="-122"/>
                <a:cs typeface="Calibri" pitchFamily="34" charset="-120"/>
              </a:rPr>
              <a:t>Data Stream Integration</a:t>
            </a:r>
            <a:endParaRPr lang="en-US" sz="2800" dirty="0"/>
          </a:p>
        </p:txBody>
      </p:sp>
      <p:sp>
        <p:nvSpPr>
          <p:cNvPr id="7" name="Text 5"/>
          <p:cNvSpPr/>
          <p:nvPr/>
        </p:nvSpPr>
        <p:spPr>
          <a:xfrm>
            <a:off x="548640" y="2331720"/>
            <a:ext cx="6858000" cy="822960"/>
          </a:xfrm>
          <a:prstGeom prst="rect">
            <a:avLst/>
          </a:prstGeom>
          <a:noFill/>
          <a:ln/>
        </p:spPr>
        <p:txBody>
          <a:bodyPr wrap="square" lIns="0" tIns="0" rIns="0" bIns="0" rtlCol="0" anchor="ctr"/>
          <a:lstStyle/>
          <a:p>
            <a:pPr marL="0" indent="0">
              <a:buNone/>
            </a:pPr>
            <a:r>
              <a:rPr lang="en-US" sz="1400" dirty="0">
                <a:solidFill>
                  <a:srgbClr val="CBD5E1"/>
                </a:solidFill>
                <a:latin typeface="Calibri" pitchFamily="34" charset="0"/>
                <a:ea typeface="Calibri" pitchFamily="34" charset="-122"/>
                <a:cs typeface="Calibri" pitchFamily="34" charset="-120"/>
              </a:rPr>
              <a:t>Understanding integration of semi-structured data streams</a:t>
            </a:r>
            <a:endParaRPr lang="en-US" sz="1400" dirty="0"/>
          </a:p>
          <a:p>
            <a:pPr marL="0" indent="0">
              <a:buNone/>
            </a:pPr>
            <a:r>
              <a:rPr lang="en-US" sz="1400" dirty="0">
                <a:solidFill>
                  <a:srgbClr val="CBD5E1"/>
                </a:solidFill>
                <a:latin typeface="Calibri" pitchFamily="34" charset="0"/>
                <a:ea typeface="Calibri" pitchFamily="34" charset="-122"/>
                <a:cs typeface="Calibri" pitchFamily="34" charset="-120"/>
              </a:rPr>
              <a:t>in the Data Flow Management (DFM) Component</a:t>
            </a:r>
            <a:endParaRPr lang="en-US" sz="1400" dirty="0"/>
          </a:p>
        </p:txBody>
      </p:sp>
      <p:sp>
        <p:nvSpPr>
          <p:cNvPr id="8" name="Shape 6"/>
          <p:cNvSpPr/>
          <p:nvPr/>
        </p:nvSpPr>
        <p:spPr>
          <a:xfrm>
            <a:off x="0" y="4754880"/>
            <a:ext cx="9144000" cy="384048"/>
          </a:xfrm>
          <a:prstGeom prst="rect">
            <a:avLst/>
          </a:prstGeom>
          <a:solidFill>
            <a:srgbClr val="0E5C7A"/>
          </a:solidFill>
          <a:ln w="12700">
            <a:solidFill>
              <a:srgbClr val="0E5C7A"/>
            </a:solidFill>
            <a:prstDash val="solid"/>
          </a:ln>
        </p:spPr>
      </p:sp>
      <p:sp>
        <p:nvSpPr>
          <p:cNvPr id="9" name="Text 7"/>
          <p:cNvSpPr/>
          <p:nvPr/>
        </p:nvSpPr>
        <p:spPr>
          <a:xfrm>
            <a:off x="274320" y="4773168"/>
            <a:ext cx="8595360" cy="347472"/>
          </a:xfrm>
          <a:prstGeom prst="rect">
            <a:avLst/>
          </a:prstGeom>
          <a:noFill/>
          <a:ln/>
        </p:spPr>
        <p:txBody>
          <a:bodyPr wrap="square" rtlCol="0" anchor="ctr"/>
          <a:lstStyle/>
          <a:p>
            <a:pPr marL="0" indent="0" algn="ctr">
              <a:buNone/>
            </a:pPr>
            <a:r>
              <a:rPr lang="en-US" sz="1100" dirty="0">
                <a:solidFill>
                  <a:srgbClr val="CBD5E1"/>
                </a:solidFill>
                <a:latin typeface="Calibri" pitchFamily="34" charset="0"/>
                <a:ea typeface="Calibri" pitchFamily="34" charset="-122"/>
                <a:cs typeface="Calibri" pitchFamily="34" charset="-120"/>
              </a:rPr>
              <a:t>StreamGuard Analytics Platform  |  Video Documentation Series</a:t>
            </a:r>
            <a:endParaRPr lang="en-US" sz="1100" dirty="0"/>
          </a:p>
        </p:txBody>
      </p:sp>
    </p:spTree>
  </p:cSld>
  <p:clrMapOvr>
    <a:masterClrMapping/>
  </p:clrMapOvr>
  <mc:AlternateContent xmlns:mc="http://schemas.openxmlformats.org/markup-compatibility/2006">
    <mc:Choice xmlns:p14="http://schemas.microsoft.com/office/powerpoint/2010/main" Requires="p14">
      <p:transition p14:dur="0" advClick="0" advTm="4680">
        <p:fade/>
      </p:transition>
    </mc:Choice>
    <mc:Fallback>
      <p:transition advClick="0" advTm="4680">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2C39A"/>
          </a:solidFill>
          <a:ln w="12700">
            <a:solidFill>
              <a:srgbClr val="02C39A"/>
            </a:solidFill>
            <a:prstDash val="solid"/>
          </a:ln>
        </p:spPr>
      </p:sp>
      <p:sp>
        <p:nvSpPr>
          <p:cNvPr id="3" name="Shape 1"/>
          <p:cNvSpPr/>
          <p:nvPr/>
        </p:nvSpPr>
        <p:spPr>
          <a:xfrm>
            <a:off x="0" y="73152"/>
            <a:ext cx="9144000" cy="822960"/>
          </a:xfrm>
          <a:prstGeom prst="rect">
            <a:avLst/>
          </a:prstGeom>
          <a:solidFill>
            <a:srgbClr val="0D1B2A"/>
          </a:solidFill>
          <a:ln w="12700">
            <a:solidFill>
              <a:srgbClr val="0D1B2A"/>
            </a:solidFill>
            <a:prstDash val="solid"/>
          </a:ln>
        </p:spPr>
      </p:sp>
      <p:sp>
        <p:nvSpPr>
          <p:cNvPr id="4" name="Text 2"/>
          <p:cNvSpPr/>
          <p:nvPr/>
        </p:nvSpPr>
        <p:spPr>
          <a:xfrm>
            <a:off x="365760" y="91440"/>
            <a:ext cx="8229600" cy="786384"/>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DFM-X Data Stream Integration</a:t>
            </a:r>
            <a:endParaRPr lang="en-US" sz="2200" dirty="0"/>
          </a:p>
        </p:txBody>
      </p:sp>
      <p:sp>
        <p:nvSpPr>
          <p:cNvPr id="5" name="Text 3"/>
          <p:cNvSpPr/>
          <p:nvPr/>
        </p:nvSpPr>
        <p:spPr>
          <a:xfrm>
            <a:off x="457200" y="1097280"/>
            <a:ext cx="8229600" cy="411480"/>
          </a:xfrm>
          <a:prstGeom prst="rect">
            <a:avLst/>
          </a:prstGeom>
          <a:noFill/>
          <a:ln/>
        </p:spPr>
        <p:txBody>
          <a:bodyPr wrap="square" lIns="0" tIns="0" rIns="0" bIns="0" rtlCol="0" anchor="ctr"/>
          <a:lstStyle/>
          <a:p>
            <a:pPr marL="0" indent="0">
              <a:buNone/>
            </a:pPr>
            <a:r>
              <a:rPr lang="en-US" sz="1800" b="1" dirty="0">
                <a:solidFill>
                  <a:srgbClr val="0E5C7A"/>
                </a:solidFill>
                <a:latin typeface="Calibri" pitchFamily="34" charset="0"/>
                <a:ea typeface="Calibri" pitchFamily="34" charset="-122"/>
                <a:cs typeface="Calibri" pitchFamily="34" charset="-120"/>
              </a:rPr>
              <a:t>In This Video</a:t>
            </a:r>
            <a:endParaRPr lang="en-US" sz="1800" dirty="0"/>
          </a:p>
        </p:txBody>
      </p:sp>
      <p:sp>
        <p:nvSpPr>
          <p:cNvPr id="6" name="Shape 4"/>
          <p:cNvSpPr/>
          <p:nvPr/>
        </p:nvSpPr>
        <p:spPr>
          <a:xfrm>
            <a:off x="457200" y="1645920"/>
            <a:ext cx="384048" cy="384048"/>
          </a:xfrm>
          <a:prstGeom prst="ellipse">
            <a:avLst/>
          </a:prstGeom>
          <a:solidFill>
            <a:srgbClr val="1B7FA6"/>
          </a:solidFill>
          <a:ln w="12700">
            <a:solidFill>
              <a:srgbClr val="1B7FA6"/>
            </a:solidFill>
            <a:prstDash val="solid"/>
          </a:ln>
        </p:spPr>
      </p:sp>
      <p:sp>
        <p:nvSpPr>
          <p:cNvPr id="7" name="Text 5"/>
          <p:cNvSpPr/>
          <p:nvPr/>
        </p:nvSpPr>
        <p:spPr>
          <a:xfrm>
            <a:off x="457200" y="1645920"/>
            <a:ext cx="384048" cy="384048"/>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8" name="Text 6"/>
          <p:cNvSpPr/>
          <p:nvPr/>
        </p:nvSpPr>
        <p:spPr>
          <a:xfrm>
            <a:off x="1005840" y="1664208"/>
            <a:ext cx="7315200" cy="347472"/>
          </a:xfrm>
          <a:prstGeom prst="rect">
            <a:avLst/>
          </a:prstGeom>
          <a:noFill/>
          <a:ln/>
        </p:spPr>
        <p:txBody>
          <a:bodyPr wrap="square" rtlCol="0" anchor="ctr"/>
          <a:lstStyle/>
          <a:p>
            <a:pPr marL="0" indent="0">
              <a:buNone/>
            </a:pPr>
            <a:r>
              <a:rPr lang="en-US" sz="1400" dirty="0">
                <a:solidFill>
                  <a:srgbClr val="0D1B2A"/>
                </a:solidFill>
                <a:latin typeface="Calibri" pitchFamily="34" charset="0"/>
                <a:ea typeface="Calibri" pitchFamily="34" charset="-122"/>
                <a:cs typeface="Calibri" pitchFamily="34" charset="-120"/>
              </a:rPr>
              <a:t>How Data Stream Integration works</a:t>
            </a:r>
            <a:endParaRPr lang="en-US" sz="1400" dirty="0"/>
          </a:p>
        </p:txBody>
      </p:sp>
      <p:sp>
        <p:nvSpPr>
          <p:cNvPr id="9" name="Shape 7"/>
          <p:cNvSpPr/>
          <p:nvPr/>
        </p:nvSpPr>
        <p:spPr>
          <a:xfrm>
            <a:off x="457200" y="2258568"/>
            <a:ext cx="384048" cy="384048"/>
          </a:xfrm>
          <a:prstGeom prst="ellipse">
            <a:avLst/>
          </a:prstGeom>
          <a:solidFill>
            <a:srgbClr val="1B7FA6"/>
          </a:solidFill>
          <a:ln w="12700">
            <a:solidFill>
              <a:srgbClr val="1B7FA6"/>
            </a:solidFill>
            <a:prstDash val="solid"/>
          </a:ln>
        </p:spPr>
      </p:sp>
      <p:sp>
        <p:nvSpPr>
          <p:cNvPr id="10" name="Text 8"/>
          <p:cNvSpPr/>
          <p:nvPr/>
        </p:nvSpPr>
        <p:spPr>
          <a:xfrm>
            <a:off x="457200" y="2258568"/>
            <a:ext cx="384048" cy="384048"/>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1" name="Text 9"/>
          <p:cNvSpPr/>
          <p:nvPr/>
        </p:nvSpPr>
        <p:spPr>
          <a:xfrm>
            <a:off x="1005840" y="2276856"/>
            <a:ext cx="7315200" cy="347472"/>
          </a:xfrm>
          <a:prstGeom prst="rect">
            <a:avLst/>
          </a:prstGeom>
          <a:noFill/>
          <a:ln/>
        </p:spPr>
        <p:txBody>
          <a:bodyPr wrap="square" rtlCol="0" anchor="ctr"/>
          <a:lstStyle/>
          <a:p>
            <a:pPr marL="0" indent="0">
              <a:buNone/>
            </a:pPr>
            <a:r>
              <a:rPr lang="en-US" sz="1400" dirty="0">
                <a:solidFill>
                  <a:srgbClr val="0D1B2A"/>
                </a:solidFill>
                <a:latin typeface="Calibri" pitchFamily="34" charset="0"/>
                <a:ea typeface="Calibri" pitchFamily="34" charset="-122"/>
                <a:cs typeface="Calibri" pitchFamily="34" charset="-120"/>
              </a:rPr>
              <a:t>Required configurations</a:t>
            </a:r>
            <a:endParaRPr lang="en-US" sz="1400" dirty="0"/>
          </a:p>
        </p:txBody>
      </p:sp>
      <p:sp>
        <p:nvSpPr>
          <p:cNvPr id="12" name="Shape 10"/>
          <p:cNvSpPr/>
          <p:nvPr/>
        </p:nvSpPr>
        <p:spPr>
          <a:xfrm>
            <a:off x="457200" y="2871216"/>
            <a:ext cx="384048" cy="384048"/>
          </a:xfrm>
          <a:prstGeom prst="ellipse">
            <a:avLst/>
          </a:prstGeom>
          <a:solidFill>
            <a:srgbClr val="1B7FA6"/>
          </a:solidFill>
          <a:ln w="12700">
            <a:solidFill>
              <a:srgbClr val="1B7FA6"/>
            </a:solidFill>
            <a:prstDash val="solid"/>
          </a:ln>
        </p:spPr>
      </p:sp>
      <p:sp>
        <p:nvSpPr>
          <p:cNvPr id="13" name="Text 11"/>
          <p:cNvSpPr/>
          <p:nvPr/>
        </p:nvSpPr>
        <p:spPr>
          <a:xfrm>
            <a:off x="457200" y="2871216"/>
            <a:ext cx="384048" cy="384048"/>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4" name="Text 12"/>
          <p:cNvSpPr/>
          <p:nvPr/>
        </p:nvSpPr>
        <p:spPr>
          <a:xfrm>
            <a:off x="1005840" y="2889504"/>
            <a:ext cx="7315200" cy="347472"/>
          </a:xfrm>
          <a:prstGeom prst="rect">
            <a:avLst/>
          </a:prstGeom>
          <a:noFill/>
          <a:ln/>
        </p:spPr>
        <p:txBody>
          <a:bodyPr wrap="square" rtlCol="0" anchor="ctr"/>
          <a:lstStyle/>
          <a:p>
            <a:pPr marL="0" indent="0">
              <a:buNone/>
            </a:pPr>
            <a:r>
              <a:rPr lang="en-US" sz="1400" dirty="0">
                <a:solidFill>
                  <a:srgbClr val="0D1B2A"/>
                </a:solidFill>
                <a:latin typeface="Calibri" pitchFamily="34" charset="0"/>
                <a:ea typeface="Calibri" pitchFamily="34" charset="-122"/>
                <a:cs typeface="Calibri" pitchFamily="34" charset="-120"/>
              </a:rPr>
              <a:t>Platform List setup in AdminOne</a:t>
            </a:r>
            <a:endParaRPr lang="en-US" sz="1400" dirty="0"/>
          </a:p>
        </p:txBody>
      </p:sp>
      <p:sp>
        <p:nvSpPr>
          <p:cNvPr id="15" name="Shape 13"/>
          <p:cNvSpPr/>
          <p:nvPr/>
        </p:nvSpPr>
        <p:spPr>
          <a:xfrm>
            <a:off x="457200" y="3483864"/>
            <a:ext cx="384048" cy="384048"/>
          </a:xfrm>
          <a:prstGeom prst="ellipse">
            <a:avLst/>
          </a:prstGeom>
          <a:solidFill>
            <a:srgbClr val="1B7FA6"/>
          </a:solidFill>
          <a:ln w="12700">
            <a:solidFill>
              <a:srgbClr val="1B7FA6"/>
            </a:solidFill>
            <a:prstDash val="solid"/>
          </a:ln>
        </p:spPr>
      </p:sp>
      <p:sp>
        <p:nvSpPr>
          <p:cNvPr id="16" name="Text 14"/>
          <p:cNvSpPr/>
          <p:nvPr/>
        </p:nvSpPr>
        <p:spPr>
          <a:xfrm>
            <a:off x="457200" y="3483864"/>
            <a:ext cx="384048" cy="384048"/>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7" name="Text 15"/>
          <p:cNvSpPr/>
          <p:nvPr/>
        </p:nvSpPr>
        <p:spPr>
          <a:xfrm>
            <a:off x="1005840" y="3502152"/>
            <a:ext cx="7315200" cy="347472"/>
          </a:xfrm>
          <a:prstGeom prst="rect">
            <a:avLst/>
          </a:prstGeom>
          <a:noFill/>
          <a:ln/>
        </p:spPr>
        <p:txBody>
          <a:bodyPr wrap="square" rtlCol="0" anchor="ctr"/>
          <a:lstStyle/>
          <a:p>
            <a:pPr marL="0" indent="0">
              <a:buNone/>
            </a:pPr>
            <a:r>
              <a:rPr lang="en-US" sz="1400" dirty="0">
                <a:solidFill>
                  <a:srgbClr val="0D1B2A"/>
                </a:solidFill>
                <a:latin typeface="Calibri" pitchFamily="34" charset="0"/>
                <a:ea typeface="Calibri" pitchFamily="34" charset="-122"/>
                <a:cs typeface="Calibri" pitchFamily="34" charset="-120"/>
              </a:rPr>
              <a:t>Data Integration Manager walkthrough</a:t>
            </a:r>
            <a:endParaRPr lang="en-US" sz="1400" dirty="0"/>
          </a:p>
        </p:txBody>
      </p:sp>
      <p:sp>
        <p:nvSpPr>
          <p:cNvPr id="18" name="Shape 16"/>
          <p:cNvSpPr/>
          <p:nvPr/>
        </p:nvSpPr>
        <p:spPr>
          <a:xfrm>
            <a:off x="457200" y="4096512"/>
            <a:ext cx="384048" cy="384048"/>
          </a:xfrm>
          <a:prstGeom prst="ellipse">
            <a:avLst/>
          </a:prstGeom>
          <a:solidFill>
            <a:srgbClr val="1B7FA6"/>
          </a:solidFill>
          <a:ln w="12700">
            <a:solidFill>
              <a:srgbClr val="1B7FA6"/>
            </a:solidFill>
            <a:prstDash val="solid"/>
          </a:ln>
        </p:spPr>
      </p:sp>
      <p:sp>
        <p:nvSpPr>
          <p:cNvPr id="19" name="Text 17"/>
          <p:cNvSpPr/>
          <p:nvPr/>
        </p:nvSpPr>
        <p:spPr>
          <a:xfrm>
            <a:off x="457200" y="4096512"/>
            <a:ext cx="384048" cy="384048"/>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sp>
        <p:nvSpPr>
          <p:cNvPr id="20" name="Text 18"/>
          <p:cNvSpPr/>
          <p:nvPr/>
        </p:nvSpPr>
        <p:spPr>
          <a:xfrm>
            <a:off x="1005840" y="4114800"/>
            <a:ext cx="7315200" cy="347472"/>
          </a:xfrm>
          <a:prstGeom prst="rect">
            <a:avLst/>
          </a:prstGeom>
          <a:noFill/>
          <a:ln/>
        </p:spPr>
        <p:txBody>
          <a:bodyPr wrap="square" rtlCol="0" anchor="ctr"/>
          <a:lstStyle/>
          <a:p>
            <a:pPr marL="0" indent="0">
              <a:buNone/>
            </a:pPr>
            <a:r>
              <a:rPr lang="en-US" sz="1400" dirty="0">
                <a:solidFill>
                  <a:srgbClr val="0D1B2A"/>
                </a:solidFill>
                <a:latin typeface="Calibri" pitchFamily="34" charset="0"/>
                <a:ea typeface="Calibri" pitchFamily="34" charset="-122"/>
                <a:cs typeface="Calibri" pitchFamily="34" charset="-120"/>
              </a:rPr>
              <a:t>Data Elements &amp; Detection Process tabs</a:t>
            </a:r>
            <a:endParaRPr lang="en-US" sz="1400" dirty="0"/>
          </a:p>
        </p:txBody>
      </p:sp>
    </p:spTree>
  </p:cSld>
  <p:clrMapOvr>
    <a:masterClrMapping/>
  </p:clrMapOvr>
  <mc:AlternateContent xmlns:mc="http://schemas.openxmlformats.org/markup-compatibility/2006">
    <mc:Choice xmlns:p14="http://schemas.microsoft.com/office/powerpoint/2010/main" Requires="p14">
      <p:transition p14:dur="0" advClick="0" advTm="6024">
        <p:fade/>
      </p:transition>
    </mc:Choice>
    <mc:Fallback>
      <p:transition advClick="0" advTm="6024">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2C39A"/>
          </a:solidFill>
          <a:ln w="12700">
            <a:solidFill>
              <a:srgbClr val="02C39A"/>
            </a:solidFill>
            <a:prstDash val="solid"/>
          </a:ln>
        </p:spPr>
      </p:sp>
      <p:sp>
        <p:nvSpPr>
          <p:cNvPr id="3" name="Shape 1"/>
          <p:cNvSpPr/>
          <p:nvPr/>
        </p:nvSpPr>
        <p:spPr>
          <a:xfrm>
            <a:off x="0" y="73152"/>
            <a:ext cx="9144000" cy="822960"/>
          </a:xfrm>
          <a:prstGeom prst="rect">
            <a:avLst/>
          </a:prstGeom>
          <a:solidFill>
            <a:srgbClr val="0D1B2A"/>
          </a:solidFill>
          <a:ln w="12700">
            <a:solidFill>
              <a:srgbClr val="0D1B2A"/>
            </a:solidFill>
            <a:prstDash val="solid"/>
          </a:ln>
        </p:spPr>
      </p:sp>
      <p:sp>
        <p:nvSpPr>
          <p:cNvPr id="4" name="Text 2"/>
          <p:cNvSpPr/>
          <p:nvPr/>
        </p:nvSpPr>
        <p:spPr>
          <a:xfrm>
            <a:off x="365760" y="91440"/>
            <a:ext cx="8229600" cy="786384"/>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Data Integration Management</a:t>
            </a:r>
            <a:endParaRPr lang="en-US" sz="2200" dirty="0"/>
          </a:p>
        </p:txBody>
      </p:sp>
      <p:sp>
        <p:nvSpPr>
          <p:cNvPr id="5" name="Shape 3"/>
          <p:cNvSpPr/>
          <p:nvPr/>
        </p:nvSpPr>
        <p:spPr>
          <a:xfrm>
            <a:off x="365760" y="1097280"/>
            <a:ext cx="2560320" cy="640080"/>
          </a:xfrm>
          <a:prstGeom prst="rect">
            <a:avLst/>
          </a:prstGeom>
          <a:solidFill>
            <a:srgbClr val="F0F4F8"/>
          </a:solidFill>
          <a:ln w="12700">
            <a:solidFill>
              <a:srgbClr val="CBD5E1"/>
            </a:solidFill>
            <a:prstDash val="solid"/>
          </a:ln>
          <a:effectLst>
            <a:outerShdw blurRad="50800" dist="25400" dir="8100000" algn="bl" rotWithShape="0">
              <a:srgbClr val="000000">
                <a:alpha val="8000"/>
              </a:srgbClr>
            </a:outerShdw>
          </a:effectLst>
        </p:spPr>
      </p:sp>
      <p:sp>
        <p:nvSpPr>
          <p:cNvPr id="6" name="Shape 4"/>
          <p:cNvSpPr/>
          <p:nvPr/>
        </p:nvSpPr>
        <p:spPr>
          <a:xfrm>
            <a:off x="365760" y="1097280"/>
            <a:ext cx="64008" cy="640080"/>
          </a:xfrm>
          <a:prstGeom prst="rect">
            <a:avLst/>
          </a:prstGeom>
          <a:solidFill>
            <a:srgbClr val="1B7FA6"/>
          </a:solidFill>
          <a:ln w="12700">
            <a:solidFill>
              <a:srgbClr val="1B7FA6"/>
            </a:solidFill>
            <a:prstDash val="solid"/>
          </a:ln>
        </p:spPr>
      </p:sp>
      <p:sp>
        <p:nvSpPr>
          <p:cNvPr id="7" name="Text 5"/>
          <p:cNvSpPr/>
          <p:nvPr/>
        </p:nvSpPr>
        <p:spPr>
          <a:xfrm>
            <a:off x="502920" y="1097280"/>
            <a:ext cx="2377440" cy="640080"/>
          </a:xfrm>
          <a:prstGeom prst="rect">
            <a:avLst/>
          </a:prstGeom>
          <a:noFill/>
          <a:ln/>
        </p:spPr>
        <p:txBody>
          <a:bodyPr wrap="square" lIns="76200" tIns="76200" rIns="76200" bIns="76200" rtlCol="0" anchor="ctr"/>
          <a:lstStyle/>
          <a:p>
            <a:pPr marL="0" indent="0" algn="l">
              <a:buNone/>
            </a:pPr>
            <a:r>
              <a:rPr lang="en-US" sz="1400" b="1" dirty="0">
                <a:solidFill>
                  <a:srgbClr val="0D1B2A"/>
                </a:solidFill>
                <a:latin typeface="Calibri" pitchFamily="34" charset="0"/>
                <a:ea typeface="Calibri" pitchFamily="34" charset="-122"/>
                <a:cs typeface="Calibri" pitchFamily="34" charset="-120"/>
              </a:rPr>
              <a:t>Data Availability</a:t>
            </a:r>
            <a:endParaRPr lang="en-US" sz="1400" dirty="0"/>
          </a:p>
        </p:txBody>
      </p:sp>
      <p:sp>
        <p:nvSpPr>
          <p:cNvPr id="8" name="Shape 6"/>
          <p:cNvSpPr/>
          <p:nvPr/>
        </p:nvSpPr>
        <p:spPr>
          <a:xfrm>
            <a:off x="365760" y="1874520"/>
            <a:ext cx="2560320" cy="640080"/>
          </a:xfrm>
          <a:prstGeom prst="rect">
            <a:avLst/>
          </a:prstGeom>
          <a:solidFill>
            <a:srgbClr val="F0F4F8"/>
          </a:solidFill>
          <a:ln w="12700">
            <a:solidFill>
              <a:srgbClr val="CBD5E1"/>
            </a:solidFill>
            <a:prstDash val="solid"/>
          </a:ln>
          <a:effectLst>
            <a:outerShdw blurRad="50800" dist="25400" dir="8100000" algn="bl" rotWithShape="0">
              <a:srgbClr val="000000">
                <a:alpha val="8000"/>
              </a:srgbClr>
            </a:outerShdw>
          </a:effectLst>
        </p:spPr>
      </p:sp>
      <p:sp>
        <p:nvSpPr>
          <p:cNvPr id="9" name="Shape 7"/>
          <p:cNvSpPr/>
          <p:nvPr/>
        </p:nvSpPr>
        <p:spPr>
          <a:xfrm>
            <a:off x="365760" y="1874520"/>
            <a:ext cx="64008" cy="640080"/>
          </a:xfrm>
          <a:prstGeom prst="rect">
            <a:avLst/>
          </a:prstGeom>
          <a:solidFill>
            <a:srgbClr val="1B7FA6"/>
          </a:solidFill>
          <a:ln w="12700">
            <a:solidFill>
              <a:srgbClr val="1B7FA6"/>
            </a:solidFill>
            <a:prstDash val="solid"/>
          </a:ln>
        </p:spPr>
      </p:sp>
      <p:sp>
        <p:nvSpPr>
          <p:cNvPr id="10" name="Text 8"/>
          <p:cNvSpPr/>
          <p:nvPr/>
        </p:nvSpPr>
        <p:spPr>
          <a:xfrm>
            <a:off x="502920" y="1874520"/>
            <a:ext cx="2377440" cy="640080"/>
          </a:xfrm>
          <a:prstGeom prst="rect">
            <a:avLst/>
          </a:prstGeom>
          <a:noFill/>
          <a:ln/>
        </p:spPr>
        <p:txBody>
          <a:bodyPr wrap="square" lIns="76200" tIns="76200" rIns="76200" bIns="76200" rtlCol="0" anchor="ctr"/>
          <a:lstStyle/>
          <a:p>
            <a:pPr marL="0" indent="0" algn="l">
              <a:buNone/>
            </a:pPr>
            <a:r>
              <a:rPr lang="en-US" sz="1400" b="1" dirty="0">
                <a:solidFill>
                  <a:srgbClr val="0D1B2A"/>
                </a:solidFill>
                <a:latin typeface="Calibri" pitchFamily="34" charset="0"/>
                <a:ea typeface="Calibri" pitchFamily="34" charset="-122"/>
                <a:cs typeface="Calibri" pitchFamily="34" charset="-120"/>
              </a:rPr>
              <a:t>Data Management</a:t>
            </a:r>
            <a:endParaRPr lang="en-US" sz="1400" dirty="0"/>
          </a:p>
        </p:txBody>
      </p:sp>
      <p:sp>
        <p:nvSpPr>
          <p:cNvPr id="11" name="Shape 9"/>
          <p:cNvSpPr/>
          <p:nvPr/>
        </p:nvSpPr>
        <p:spPr>
          <a:xfrm>
            <a:off x="365760" y="2651760"/>
            <a:ext cx="2560320" cy="640080"/>
          </a:xfrm>
          <a:prstGeom prst="rect">
            <a:avLst/>
          </a:prstGeom>
          <a:solidFill>
            <a:srgbClr val="F0F4F8"/>
          </a:solidFill>
          <a:ln w="12700">
            <a:solidFill>
              <a:srgbClr val="CBD5E1"/>
            </a:solidFill>
            <a:prstDash val="solid"/>
          </a:ln>
          <a:effectLst>
            <a:outerShdw blurRad="50800" dist="25400" dir="8100000" algn="bl" rotWithShape="0">
              <a:srgbClr val="000000">
                <a:alpha val="8000"/>
              </a:srgbClr>
            </a:outerShdw>
          </a:effectLst>
        </p:spPr>
      </p:sp>
      <p:sp>
        <p:nvSpPr>
          <p:cNvPr id="12" name="Shape 10"/>
          <p:cNvSpPr/>
          <p:nvPr/>
        </p:nvSpPr>
        <p:spPr>
          <a:xfrm>
            <a:off x="365760" y="2651760"/>
            <a:ext cx="64008" cy="640080"/>
          </a:xfrm>
          <a:prstGeom prst="rect">
            <a:avLst/>
          </a:prstGeom>
          <a:solidFill>
            <a:srgbClr val="1B7FA6"/>
          </a:solidFill>
          <a:ln w="12700">
            <a:solidFill>
              <a:srgbClr val="1B7FA6"/>
            </a:solidFill>
            <a:prstDash val="solid"/>
          </a:ln>
        </p:spPr>
      </p:sp>
      <p:sp>
        <p:nvSpPr>
          <p:cNvPr id="13" name="Text 11"/>
          <p:cNvSpPr/>
          <p:nvPr/>
        </p:nvSpPr>
        <p:spPr>
          <a:xfrm>
            <a:off x="502920" y="2651760"/>
            <a:ext cx="2377440" cy="640080"/>
          </a:xfrm>
          <a:prstGeom prst="rect">
            <a:avLst/>
          </a:prstGeom>
          <a:noFill/>
          <a:ln/>
        </p:spPr>
        <p:txBody>
          <a:bodyPr wrap="square" lIns="76200" tIns="76200" rIns="76200" bIns="76200" rtlCol="0" anchor="ctr"/>
          <a:lstStyle/>
          <a:p>
            <a:pPr marL="0" indent="0" algn="l">
              <a:buNone/>
            </a:pPr>
            <a:r>
              <a:rPr lang="en-US" sz="1400" b="1" dirty="0">
                <a:solidFill>
                  <a:srgbClr val="0D1B2A"/>
                </a:solidFill>
                <a:latin typeface="Calibri" pitchFamily="34" charset="0"/>
                <a:ea typeface="Calibri" pitchFamily="34" charset="-122"/>
                <a:cs typeface="Calibri" pitchFamily="34" charset="-120"/>
              </a:rPr>
              <a:t>Data Integration</a:t>
            </a:r>
            <a:endParaRPr lang="en-US" sz="1400" dirty="0"/>
          </a:p>
        </p:txBody>
      </p:sp>
      <p:sp>
        <p:nvSpPr>
          <p:cNvPr id="14" name="Shape 12"/>
          <p:cNvSpPr/>
          <p:nvPr/>
        </p:nvSpPr>
        <p:spPr>
          <a:xfrm>
            <a:off x="3108960" y="1828800"/>
            <a:ext cx="36576" cy="0"/>
          </a:xfrm>
          <a:prstGeom prst="rect">
            <a:avLst/>
          </a:prstGeom>
          <a:noFill/>
          <a:ln w="25400">
            <a:solidFill>
              <a:srgbClr val="1B7FA6"/>
            </a:solidFill>
            <a:prstDash val="solid"/>
          </a:ln>
        </p:spPr>
      </p:sp>
      <p:sp>
        <p:nvSpPr>
          <p:cNvPr id="15" name="Text 13"/>
          <p:cNvSpPr/>
          <p:nvPr/>
        </p:nvSpPr>
        <p:spPr>
          <a:xfrm>
            <a:off x="2926080" y="1828800"/>
            <a:ext cx="365760" cy="457200"/>
          </a:xfrm>
          <a:prstGeom prst="rect">
            <a:avLst/>
          </a:prstGeom>
          <a:noFill/>
          <a:ln/>
        </p:spPr>
        <p:txBody>
          <a:bodyPr wrap="square" rtlCol="0" anchor="ctr"/>
          <a:lstStyle/>
          <a:p>
            <a:pPr marL="0" indent="0" algn="ctr">
              <a:buNone/>
            </a:pPr>
            <a:r>
              <a:rPr lang="en-US" sz="2000" dirty="0">
                <a:solidFill>
                  <a:srgbClr val="1B7FA6"/>
                </a:solidFill>
              </a:rPr>
              <a:t>→</a:t>
            </a:r>
            <a:endParaRPr lang="en-US" sz="2000" dirty="0"/>
          </a:p>
        </p:txBody>
      </p:sp>
      <p:sp>
        <p:nvSpPr>
          <p:cNvPr id="16" name="Shape 14"/>
          <p:cNvSpPr/>
          <p:nvPr/>
        </p:nvSpPr>
        <p:spPr>
          <a:xfrm>
            <a:off x="3291840" y="1005840"/>
            <a:ext cx="3200400" cy="2377440"/>
          </a:xfrm>
          <a:prstGeom prst="rect">
            <a:avLst/>
          </a:prstGeom>
          <a:solidFill>
            <a:srgbClr val="1E2D3D"/>
          </a:solidFill>
          <a:ln w="12700">
            <a:solidFill>
              <a:srgbClr val="1B7FA6"/>
            </a:solidFill>
            <a:prstDash val="solid"/>
          </a:ln>
        </p:spPr>
      </p:sp>
      <p:sp>
        <p:nvSpPr>
          <p:cNvPr id="17" name="Text 15"/>
          <p:cNvSpPr/>
          <p:nvPr/>
        </p:nvSpPr>
        <p:spPr>
          <a:xfrm>
            <a:off x="3291840" y="1005840"/>
            <a:ext cx="3200400" cy="347472"/>
          </a:xfrm>
          <a:prstGeom prst="rect">
            <a:avLst/>
          </a:prstGeom>
          <a:noFill/>
          <a:ln/>
        </p:spPr>
        <p:txBody>
          <a:bodyPr wrap="square" rtlCol="0" anchor="ctr"/>
          <a:lstStyle/>
          <a:p>
            <a:pPr marL="0" indent="0" algn="ctr">
              <a:buNone/>
            </a:pPr>
            <a:r>
              <a:rPr lang="en-US" sz="1100" b="1" dirty="0">
                <a:solidFill>
                  <a:srgbClr val="02C39A"/>
                </a:solidFill>
                <a:latin typeface="Consolas" pitchFamily="34" charset="0"/>
                <a:ea typeface="Consolas" pitchFamily="34" charset="-122"/>
                <a:cs typeface="Consolas" pitchFamily="34" charset="-120"/>
              </a:rPr>
              <a:t>Policy Manager</a:t>
            </a:r>
            <a:endParaRPr lang="en-US" sz="1100" dirty="0"/>
          </a:p>
        </p:txBody>
      </p:sp>
      <p:sp>
        <p:nvSpPr>
          <p:cNvPr id="18" name="Text 16"/>
          <p:cNvSpPr/>
          <p:nvPr/>
        </p:nvSpPr>
        <p:spPr>
          <a:xfrm>
            <a:off x="3337560" y="1371600"/>
            <a:ext cx="3108960" cy="1920240"/>
          </a:xfrm>
          <a:prstGeom prst="rect">
            <a:avLst/>
          </a:prstGeom>
          <a:noFill/>
          <a:ln/>
        </p:spPr>
        <p:txBody>
          <a:bodyPr wrap="square" lIns="76200" tIns="76200" rIns="76200" bIns="76200" rtlCol="0" anchor="t"/>
          <a:lstStyle/>
          <a:p>
            <a:pPr marL="0" indent="0">
              <a:buNone/>
            </a:pPr>
            <a:r>
              <a:rPr lang="en-US" sz="1000" dirty="0">
                <a:solidFill>
                  <a:srgbClr val="FFFFFF"/>
                </a:solidFill>
                <a:latin typeface="Consolas" pitchFamily="34" charset="0"/>
                <a:ea typeface="Consolas" pitchFamily="34" charset="-122"/>
                <a:cs typeface="Consolas" pitchFamily="34" charset="-120"/>
              </a:rPr>
              <a:t>{
</a:t>
            </a:r>
            <a:r>
              <a:rPr lang="en-US" sz="1000" dirty="0">
                <a:solidFill>
                  <a:srgbClr val="CBD5E1"/>
                </a:solidFill>
                <a:latin typeface="Consolas" pitchFamily="34" charset="0"/>
                <a:ea typeface="Consolas" pitchFamily="34" charset="-122"/>
                <a:cs typeface="Consolas" pitchFamily="34" charset="-120"/>
              </a:rPr>
              <a:t>  rootingIndicator: </a:t>
            </a:r>
            <a:r>
              <a:rPr lang="en-US" sz="1000" dirty="0">
                <a:solidFill>
                  <a:srgbClr val="02C39A"/>
                </a:solidFill>
                <a:latin typeface="Consolas" pitchFamily="34" charset="0"/>
                <a:ea typeface="Consolas" pitchFamily="34" charset="-122"/>
                <a:cs typeface="Consolas" pitchFamily="34" charset="-120"/>
              </a:rPr>
              <a:t>"True",
</a:t>
            </a:r>
            <a:r>
              <a:rPr lang="en-US" sz="1000" dirty="0">
                <a:solidFill>
                  <a:srgbClr val="CBD5E1"/>
                </a:solidFill>
                <a:latin typeface="Consolas" pitchFamily="34" charset="0"/>
                <a:ea typeface="Consolas" pitchFamily="34" charset="-122"/>
                <a:cs typeface="Consolas" pitchFamily="34" charset="-120"/>
              </a:rPr>
              <a:t>  malwareIndicator: </a:t>
            </a:r>
            <a:r>
              <a:rPr lang="en-US" sz="1000" dirty="0">
                <a:solidFill>
                  <a:srgbClr val="02C39A"/>
                </a:solidFill>
                <a:latin typeface="Consolas" pitchFamily="34" charset="0"/>
                <a:ea typeface="Consolas" pitchFamily="34" charset="-122"/>
                <a:cs typeface="Consolas" pitchFamily="34" charset="-120"/>
              </a:rPr>
              <a:t>"True",
</a:t>
            </a:r>
            <a:r>
              <a:rPr lang="en-US" sz="1000" dirty="0">
                <a:solidFill>
                  <a:srgbClr val="CBD5E1"/>
                </a:solidFill>
                <a:latin typeface="Consolas" pitchFamily="34" charset="0"/>
                <a:ea typeface="Consolas" pitchFamily="34" charset="-122"/>
                <a:cs typeface="Consolas" pitchFamily="34" charset="-120"/>
              </a:rPr>
              <a:t>  deviceID: </a:t>
            </a:r>
            <a:r>
              <a:rPr lang="en-US" sz="1000" dirty="0">
                <a:solidFill>
                  <a:srgbClr val="02C39A"/>
                </a:solidFill>
                <a:latin typeface="Consolas" pitchFamily="34" charset="0"/>
                <a:ea typeface="Consolas" pitchFamily="34" charset="-122"/>
                <a:cs typeface="Consolas" pitchFamily="34" charset="-120"/>
              </a:rPr>
              <a:t>"DEMO-DEVICE-001",
</a:t>
            </a:r>
            <a:r>
              <a:rPr lang="en-US" sz="1000" dirty="0">
                <a:solidFill>
                  <a:srgbClr val="CBD5E1"/>
                </a:solidFill>
                <a:latin typeface="Consolas" pitchFamily="34" charset="0"/>
                <a:ea typeface="Consolas" pitchFamily="34" charset="-122"/>
                <a:cs typeface="Consolas" pitchFamily="34" charset="-120"/>
              </a:rPr>
              <a:t>  userID: </a:t>
            </a:r>
            <a:r>
              <a:rPr lang="en-US" sz="1000" dirty="0">
                <a:solidFill>
                  <a:srgbClr val="02C39A"/>
                </a:solidFill>
                <a:latin typeface="Consolas" pitchFamily="34" charset="0"/>
                <a:ea typeface="Consolas" pitchFamily="34" charset="-122"/>
                <a:cs typeface="Consolas" pitchFamily="34" charset="-120"/>
              </a:rPr>
              <a:t>"DEMO.USER",
</a:t>
            </a:r>
            <a:r>
              <a:rPr lang="en-US" sz="1000" dirty="0">
                <a:solidFill>
                  <a:srgbClr val="CBD5E1"/>
                </a:solidFill>
                <a:latin typeface="Consolas" pitchFamily="34" charset="0"/>
                <a:ea typeface="Consolas" pitchFamily="34" charset="-122"/>
                <a:cs typeface="Consolas" pitchFamily="34" charset="-120"/>
              </a:rPr>
              <a:t>  sessionID: </a:t>
            </a:r>
            <a:r>
              <a:rPr lang="en-US" sz="1000" dirty="0">
                <a:solidFill>
                  <a:srgbClr val="02C39A"/>
                </a:solidFill>
                <a:latin typeface="Consolas" pitchFamily="34" charset="0"/>
                <a:ea typeface="Consolas" pitchFamily="34" charset="-122"/>
                <a:cs typeface="Consolas" pitchFamily="34" charset="-120"/>
              </a:rPr>
              <a:t>"SESSION-DEMO-001"
</a:t>
            </a:r>
            <a:r>
              <a:rPr lang="en-US" sz="1000" dirty="0">
                <a:solidFill>
                  <a:srgbClr val="FFFFFF"/>
                </a:solidFill>
                <a:latin typeface="Consolas" pitchFamily="34" charset="0"/>
                <a:ea typeface="Consolas" pitchFamily="34" charset="-122"/>
                <a:cs typeface="Consolas" pitchFamily="34" charset="-120"/>
              </a:rPr>
              <a:t>}</a:t>
            </a:r>
            <a:endParaRPr lang="en-US" sz="1000" dirty="0"/>
          </a:p>
        </p:txBody>
      </p:sp>
      <p:sp>
        <p:nvSpPr>
          <p:cNvPr id="19" name="Shape 17"/>
          <p:cNvSpPr/>
          <p:nvPr/>
        </p:nvSpPr>
        <p:spPr>
          <a:xfrm>
            <a:off x="6766560" y="1188720"/>
            <a:ext cx="1920240" cy="566928"/>
          </a:xfrm>
          <a:prstGeom prst="rect">
            <a:avLst/>
          </a:prstGeom>
          <a:solidFill>
            <a:srgbClr val="F0F4F8"/>
          </a:solidFill>
          <a:ln w="12700">
            <a:solidFill>
              <a:srgbClr val="CBD5E1"/>
            </a:solidFill>
            <a:prstDash val="solid"/>
          </a:ln>
          <a:effectLst>
            <a:outerShdw blurRad="50800" dist="25400" dir="8100000" algn="bl" rotWithShape="0">
              <a:srgbClr val="000000">
                <a:alpha val="8000"/>
              </a:srgbClr>
            </a:outerShdw>
          </a:effectLst>
        </p:spPr>
      </p:sp>
      <p:sp>
        <p:nvSpPr>
          <p:cNvPr id="20" name="Shape 18"/>
          <p:cNvSpPr/>
          <p:nvPr/>
        </p:nvSpPr>
        <p:spPr>
          <a:xfrm>
            <a:off x="6766560" y="1188720"/>
            <a:ext cx="64008" cy="566928"/>
          </a:xfrm>
          <a:prstGeom prst="rect">
            <a:avLst/>
          </a:prstGeom>
          <a:solidFill>
            <a:srgbClr val="02C39A"/>
          </a:solidFill>
          <a:ln w="12700">
            <a:solidFill>
              <a:srgbClr val="02C39A"/>
            </a:solidFill>
            <a:prstDash val="solid"/>
          </a:ln>
        </p:spPr>
      </p:sp>
      <p:sp>
        <p:nvSpPr>
          <p:cNvPr id="21" name="Text 19"/>
          <p:cNvSpPr/>
          <p:nvPr/>
        </p:nvSpPr>
        <p:spPr>
          <a:xfrm>
            <a:off x="6903720" y="1188720"/>
            <a:ext cx="1737360" cy="566928"/>
          </a:xfrm>
          <a:prstGeom prst="rect">
            <a:avLst/>
          </a:prstGeom>
          <a:noFill/>
          <a:ln/>
        </p:spPr>
        <p:txBody>
          <a:bodyPr wrap="square" lIns="76200" tIns="76200" rIns="76200" bIns="76200" rtlCol="0" anchor="ctr"/>
          <a:lstStyle/>
          <a:p>
            <a:pPr marL="0" indent="0" algn="l">
              <a:buNone/>
            </a:pPr>
            <a:r>
              <a:rPr lang="en-US" sz="1300" b="1" dirty="0">
                <a:solidFill>
                  <a:srgbClr val="0D1B2A"/>
                </a:solidFill>
                <a:latin typeface="Calibri" pitchFamily="34" charset="0"/>
                <a:ea typeface="Calibri" pitchFamily="34" charset="-122"/>
                <a:cs typeface="Calibri" pitchFamily="34" charset="-120"/>
              </a:rPr>
              <a:t>Alerts</a:t>
            </a:r>
            <a:endParaRPr lang="en-US" sz="1300" dirty="0"/>
          </a:p>
        </p:txBody>
      </p:sp>
      <p:sp>
        <p:nvSpPr>
          <p:cNvPr id="22" name="Shape 20"/>
          <p:cNvSpPr/>
          <p:nvPr/>
        </p:nvSpPr>
        <p:spPr>
          <a:xfrm>
            <a:off x="6766560" y="1938528"/>
            <a:ext cx="1920240" cy="566928"/>
          </a:xfrm>
          <a:prstGeom prst="rect">
            <a:avLst/>
          </a:prstGeom>
          <a:solidFill>
            <a:srgbClr val="F0F4F8"/>
          </a:solidFill>
          <a:ln w="12700">
            <a:solidFill>
              <a:srgbClr val="CBD5E1"/>
            </a:solidFill>
            <a:prstDash val="solid"/>
          </a:ln>
          <a:effectLst>
            <a:outerShdw blurRad="50800" dist="25400" dir="8100000" algn="bl" rotWithShape="0">
              <a:srgbClr val="000000">
                <a:alpha val="8000"/>
              </a:srgbClr>
            </a:outerShdw>
          </a:effectLst>
        </p:spPr>
      </p:sp>
      <p:sp>
        <p:nvSpPr>
          <p:cNvPr id="23" name="Shape 21"/>
          <p:cNvSpPr/>
          <p:nvPr/>
        </p:nvSpPr>
        <p:spPr>
          <a:xfrm>
            <a:off x="6766560" y="1938528"/>
            <a:ext cx="64008" cy="566928"/>
          </a:xfrm>
          <a:prstGeom prst="rect">
            <a:avLst/>
          </a:prstGeom>
          <a:solidFill>
            <a:srgbClr val="02C39A"/>
          </a:solidFill>
          <a:ln w="12700">
            <a:solidFill>
              <a:srgbClr val="02C39A"/>
            </a:solidFill>
            <a:prstDash val="solid"/>
          </a:ln>
        </p:spPr>
      </p:sp>
      <p:sp>
        <p:nvSpPr>
          <p:cNvPr id="24" name="Text 22"/>
          <p:cNvSpPr/>
          <p:nvPr/>
        </p:nvSpPr>
        <p:spPr>
          <a:xfrm>
            <a:off x="6903720" y="1938528"/>
            <a:ext cx="1737360" cy="566928"/>
          </a:xfrm>
          <a:prstGeom prst="rect">
            <a:avLst/>
          </a:prstGeom>
          <a:noFill/>
          <a:ln/>
        </p:spPr>
        <p:txBody>
          <a:bodyPr wrap="square" lIns="76200" tIns="76200" rIns="76200" bIns="76200" rtlCol="0" anchor="ctr"/>
          <a:lstStyle/>
          <a:p>
            <a:pPr marL="0" indent="0" algn="l">
              <a:buNone/>
            </a:pPr>
            <a:r>
              <a:rPr lang="en-US" sz="1300" b="1" dirty="0">
                <a:solidFill>
                  <a:srgbClr val="0D1B2A"/>
                </a:solidFill>
                <a:latin typeface="Calibri" pitchFamily="34" charset="0"/>
                <a:ea typeface="Calibri" pitchFamily="34" charset="-122"/>
                <a:cs typeface="Calibri" pitchFamily="34" charset="-120"/>
              </a:rPr>
              <a:t>Analytics</a:t>
            </a:r>
            <a:endParaRPr lang="en-US" sz="1300" dirty="0"/>
          </a:p>
        </p:txBody>
      </p:sp>
      <p:sp>
        <p:nvSpPr>
          <p:cNvPr id="25" name="Shape 23"/>
          <p:cNvSpPr/>
          <p:nvPr/>
        </p:nvSpPr>
        <p:spPr>
          <a:xfrm>
            <a:off x="6766560" y="2688336"/>
            <a:ext cx="1920240" cy="566928"/>
          </a:xfrm>
          <a:prstGeom prst="rect">
            <a:avLst/>
          </a:prstGeom>
          <a:solidFill>
            <a:srgbClr val="F0F4F8"/>
          </a:solidFill>
          <a:ln w="12700">
            <a:solidFill>
              <a:srgbClr val="CBD5E1"/>
            </a:solidFill>
            <a:prstDash val="solid"/>
          </a:ln>
          <a:effectLst>
            <a:outerShdw blurRad="50800" dist="25400" dir="8100000" algn="bl" rotWithShape="0">
              <a:srgbClr val="000000">
                <a:alpha val="8000"/>
              </a:srgbClr>
            </a:outerShdw>
          </a:effectLst>
        </p:spPr>
      </p:sp>
      <p:sp>
        <p:nvSpPr>
          <p:cNvPr id="26" name="Shape 24"/>
          <p:cNvSpPr/>
          <p:nvPr/>
        </p:nvSpPr>
        <p:spPr>
          <a:xfrm>
            <a:off x="6766560" y="2688336"/>
            <a:ext cx="64008" cy="566928"/>
          </a:xfrm>
          <a:prstGeom prst="rect">
            <a:avLst/>
          </a:prstGeom>
          <a:solidFill>
            <a:srgbClr val="02C39A"/>
          </a:solidFill>
          <a:ln w="12700">
            <a:solidFill>
              <a:srgbClr val="02C39A"/>
            </a:solidFill>
            <a:prstDash val="solid"/>
          </a:ln>
        </p:spPr>
      </p:sp>
      <p:sp>
        <p:nvSpPr>
          <p:cNvPr id="27" name="Text 25"/>
          <p:cNvSpPr/>
          <p:nvPr/>
        </p:nvSpPr>
        <p:spPr>
          <a:xfrm>
            <a:off x="6903720" y="2688336"/>
            <a:ext cx="1737360" cy="566928"/>
          </a:xfrm>
          <a:prstGeom prst="rect">
            <a:avLst/>
          </a:prstGeom>
          <a:noFill/>
          <a:ln/>
        </p:spPr>
        <p:txBody>
          <a:bodyPr wrap="square" lIns="76200" tIns="76200" rIns="76200" bIns="76200" rtlCol="0" anchor="ctr"/>
          <a:lstStyle/>
          <a:p>
            <a:pPr marL="0" indent="0" algn="l">
              <a:buNone/>
            </a:pPr>
            <a:r>
              <a:rPr lang="en-US" sz="1300" b="1" dirty="0">
                <a:solidFill>
                  <a:srgbClr val="0D1B2A"/>
                </a:solidFill>
                <a:latin typeface="Calibri" pitchFamily="34" charset="0"/>
                <a:ea typeface="Calibri" pitchFamily="34" charset="-122"/>
                <a:cs typeface="Calibri" pitchFamily="34" charset="-120"/>
              </a:rPr>
              <a:t>IDB</a:t>
            </a:r>
            <a:endParaRPr lang="en-US" sz="1300" dirty="0"/>
          </a:p>
        </p:txBody>
      </p:sp>
    </p:spTree>
  </p:cSld>
  <p:clrMapOvr>
    <a:masterClrMapping/>
  </p:clrMapOvr>
  <mc:AlternateContent xmlns:mc="http://schemas.openxmlformats.org/markup-compatibility/2006">
    <mc:Choice xmlns:p14="http://schemas.microsoft.com/office/powerpoint/2010/main" Requires="p14">
      <p:transition p14:dur="0" advClick="0" advTm="25776">
        <p:fade/>
      </p:transition>
    </mc:Choice>
    <mc:Fallback>
      <p:transition advClick="0" advTm="25776">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2C39A"/>
          </a:solidFill>
          <a:ln w="12700">
            <a:solidFill>
              <a:srgbClr val="02C39A"/>
            </a:solidFill>
            <a:prstDash val="solid"/>
          </a:ln>
        </p:spPr>
      </p:sp>
      <p:sp>
        <p:nvSpPr>
          <p:cNvPr id="3" name="Shape 1"/>
          <p:cNvSpPr/>
          <p:nvPr/>
        </p:nvSpPr>
        <p:spPr>
          <a:xfrm>
            <a:off x="0" y="73152"/>
            <a:ext cx="9144000" cy="822960"/>
          </a:xfrm>
          <a:prstGeom prst="rect">
            <a:avLst/>
          </a:prstGeom>
          <a:solidFill>
            <a:srgbClr val="0D1B2A"/>
          </a:solidFill>
          <a:ln w="12700">
            <a:solidFill>
              <a:srgbClr val="0D1B2A"/>
            </a:solidFill>
            <a:prstDash val="solid"/>
          </a:ln>
        </p:spPr>
      </p:sp>
      <p:sp>
        <p:nvSpPr>
          <p:cNvPr id="4" name="Text 2"/>
          <p:cNvSpPr/>
          <p:nvPr/>
        </p:nvSpPr>
        <p:spPr>
          <a:xfrm>
            <a:off x="365760" y="91440"/>
            <a:ext cx="8229600" cy="786384"/>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Configuration: INI File Example</a:t>
            </a:r>
            <a:endParaRPr lang="en-US" sz="2200" dirty="0"/>
          </a:p>
        </p:txBody>
      </p:sp>
      <p:sp>
        <p:nvSpPr>
          <p:cNvPr id="5" name="Text 3"/>
          <p:cNvSpPr/>
          <p:nvPr/>
        </p:nvSpPr>
        <p:spPr>
          <a:xfrm>
            <a:off x="457200" y="1005840"/>
            <a:ext cx="8229600" cy="365760"/>
          </a:xfrm>
          <a:prstGeom prst="rect">
            <a:avLst/>
          </a:prstGeom>
          <a:noFill/>
          <a:ln/>
        </p:spPr>
        <p:txBody>
          <a:bodyPr wrap="square" rtlCol="0" anchor="ctr"/>
          <a:lstStyle/>
          <a:p>
            <a:pPr marL="0" indent="0">
              <a:buNone/>
            </a:pPr>
            <a:r>
              <a:rPr lang="en-US" sz="1500" b="1" dirty="0">
                <a:solidFill>
                  <a:srgbClr val="0E5C7A"/>
                </a:solidFill>
                <a:latin typeface="Calibri" pitchFamily="34" charset="0"/>
                <a:ea typeface="Calibri" pitchFamily="34" charset="-122"/>
                <a:cs typeface="Calibri" pitchFamily="34" charset="-120"/>
              </a:rPr>
              <a:t>SG_dataStreamClientFieldMapping.ini</a:t>
            </a:r>
            <a:endParaRPr lang="en-US" sz="1500" dirty="0"/>
          </a:p>
        </p:txBody>
      </p:sp>
      <p:sp>
        <p:nvSpPr>
          <p:cNvPr id="6" name="Shape 4"/>
          <p:cNvSpPr/>
          <p:nvPr/>
        </p:nvSpPr>
        <p:spPr>
          <a:xfrm>
            <a:off x="457200" y="1417320"/>
            <a:ext cx="8229600" cy="3017520"/>
          </a:xfrm>
          <a:prstGeom prst="rect">
            <a:avLst/>
          </a:prstGeom>
          <a:solidFill>
            <a:srgbClr val="1E2D3D"/>
          </a:solidFill>
          <a:ln w="12700">
            <a:solidFill>
              <a:srgbClr val="1B7FA6"/>
            </a:solidFill>
            <a:prstDash val="solid"/>
          </a:ln>
        </p:spPr>
      </p:sp>
      <p:sp>
        <p:nvSpPr>
          <p:cNvPr id="7" name="Text 5"/>
          <p:cNvSpPr/>
          <p:nvPr/>
        </p:nvSpPr>
        <p:spPr>
          <a:xfrm>
            <a:off x="640080" y="1508760"/>
            <a:ext cx="7863840" cy="2834640"/>
          </a:xfrm>
          <a:prstGeom prst="rect">
            <a:avLst/>
          </a:prstGeom>
          <a:noFill/>
          <a:ln/>
        </p:spPr>
        <p:txBody>
          <a:bodyPr wrap="square" lIns="101600" tIns="101600" rIns="101600" bIns="101600" rtlCol="0" anchor="t"/>
          <a:lstStyle/>
          <a:p>
            <a:pPr marL="0" indent="0">
              <a:buNone/>
            </a:pPr>
            <a:r>
              <a:rPr lang="en-US" sz="1200" i="1" dirty="0">
                <a:solidFill>
                  <a:srgbClr val="64748B"/>
                </a:solidFill>
                <a:latin typeface="Consolas" pitchFamily="34" charset="0"/>
                <a:ea typeface="Consolas" pitchFamily="34" charset="-122"/>
                <a:cs typeface="Consolas" pitchFamily="34" charset="-120"/>
              </a:rPr>
              <a:t># Data Stream Client Field Mapping Configuration
</a:t>
            </a:r>
            <a:r>
              <a:rPr lang="en-US" sz="1200" b="1" dirty="0">
                <a:solidFill>
                  <a:srgbClr val="02C39A"/>
                </a:solidFill>
                <a:latin typeface="Consolas" pitchFamily="34" charset="0"/>
                <a:ea typeface="Consolas" pitchFamily="34" charset="-122"/>
                <a:cs typeface="Consolas" pitchFamily="34" charset="-120"/>
              </a:rPr>
              <a:t>[DataStream_Demo]
</a:t>
            </a:r>
            <a:r>
              <a:rPr lang="en-US" sz="1200" dirty="0">
                <a:solidFill>
                  <a:srgbClr val="CBD5E1"/>
                </a:solidFill>
                <a:latin typeface="Consolas" pitchFamily="34" charset="0"/>
                <a:ea typeface="Consolas" pitchFamily="34" charset="-122"/>
                <a:cs typeface="Consolas" pitchFamily="34" charset="-120"/>
              </a:rPr>
              <a:t>clientField_1 = </a:t>
            </a:r>
            <a:r>
              <a:rPr lang="en-US" sz="1200" dirty="0">
                <a:solidFill>
                  <a:srgbClr val="FFFFFF"/>
                </a:solidFill>
                <a:latin typeface="Consolas" pitchFamily="34" charset="0"/>
                <a:ea typeface="Consolas" pitchFamily="34" charset="-122"/>
                <a:cs typeface="Consolas" pitchFamily="34" charset="-120"/>
              </a:rPr>
              <a:t>rootingIndicator
</a:t>
            </a:r>
            <a:r>
              <a:rPr lang="en-US" sz="1200" dirty="0">
                <a:solidFill>
                  <a:srgbClr val="CBD5E1"/>
                </a:solidFill>
                <a:latin typeface="Consolas" pitchFamily="34" charset="0"/>
                <a:ea typeface="Consolas" pitchFamily="34" charset="-122"/>
                <a:cs typeface="Consolas" pitchFamily="34" charset="-120"/>
              </a:rPr>
              <a:t>clientField_2 = </a:t>
            </a:r>
            <a:r>
              <a:rPr lang="en-US" sz="1200" dirty="0">
                <a:solidFill>
                  <a:srgbClr val="FFFFFF"/>
                </a:solidFill>
                <a:latin typeface="Consolas" pitchFamily="34" charset="0"/>
                <a:ea typeface="Consolas" pitchFamily="34" charset="-122"/>
                <a:cs typeface="Consolas" pitchFamily="34" charset="-120"/>
              </a:rPr>
              <a:t>malwareIndicator
</a:t>
            </a:r>
            <a:r>
              <a:rPr lang="en-US" sz="1200" dirty="0">
                <a:solidFill>
                  <a:srgbClr val="CBD5E1"/>
                </a:solidFill>
                <a:latin typeface="Consolas" pitchFamily="34" charset="0"/>
                <a:ea typeface="Consolas" pitchFamily="34" charset="-122"/>
                <a:cs typeface="Consolas" pitchFamily="34" charset="-120"/>
              </a:rPr>
              <a:t>clientField_3 = </a:t>
            </a:r>
            <a:r>
              <a:rPr lang="en-US" sz="1200" dirty="0">
                <a:solidFill>
                  <a:srgbClr val="FFFFFF"/>
                </a:solidFill>
                <a:latin typeface="Consolas" pitchFamily="34" charset="0"/>
                <a:ea typeface="Consolas" pitchFamily="34" charset="-122"/>
                <a:cs typeface="Consolas" pitchFamily="34" charset="-120"/>
              </a:rPr>
              <a:t>deviceID
</a:t>
            </a:r>
            <a:r>
              <a:rPr lang="en-US" sz="1200" b="1" dirty="0">
                <a:solidFill>
                  <a:srgbClr val="02C39A"/>
                </a:solidFill>
                <a:latin typeface="Consolas" pitchFamily="34" charset="0"/>
                <a:ea typeface="Consolas" pitchFamily="34" charset="-122"/>
                <a:cs typeface="Consolas" pitchFamily="34" charset="-120"/>
              </a:rPr>
              <a:t>[DataStream_Auth]
</a:t>
            </a:r>
            <a:r>
              <a:rPr lang="en-US" sz="1200" dirty="0">
                <a:solidFill>
                  <a:srgbClr val="CBD5E1"/>
                </a:solidFill>
                <a:latin typeface="Consolas" pitchFamily="34" charset="0"/>
                <a:ea typeface="Consolas" pitchFamily="34" charset="-122"/>
                <a:cs typeface="Consolas" pitchFamily="34" charset="-120"/>
              </a:rPr>
              <a:t>clientField_1 = </a:t>
            </a:r>
            <a:r>
              <a:rPr lang="en-US" sz="1200" dirty="0">
                <a:solidFill>
                  <a:srgbClr val="FFFFFF"/>
                </a:solidFill>
                <a:latin typeface="Consolas" pitchFamily="34" charset="0"/>
                <a:ea typeface="Consolas" pitchFamily="34" charset="-122"/>
                <a:cs typeface="Consolas" pitchFamily="34" charset="-120"/>
              </a:rPr>
              <a:t>userID
</a:t>
            </a:r>
            <a:r>
              <a:rPr lang="en-US" sz="1200" dirty="0">
                <a:solidFill>
                  <a:srgbClr val="CBD5E1"/>
                </a:solidFill>
                <a:latin typeface="Consolas" pitchFamily="34" charset="0"/>
                <a:ea typeface="Consolas" pitchFamily="34" charset="-122"/>
                <a:cs typeface="Consolas" pitchFamily="34" charset="-120"/>
              </a:rPr>
              <a:t>clientField_2 = </a:t>
            </a:r>
            <a:r>
              <a:rPr lang="en-US" sz="1200" dirty="0">
                <a:solidFill>
                  <a:srgbClr val="FFFFFF"/>
                </a:solidFill>
                <a:latin typeface="Consolas" pitchFamily="34" charset="0"/>
                <a:ea typeface="Consolas" pitchFamily="34" charset="-122"/>
                <a:cs typeface="Consolas" pitchFamily="34" charset="-120"/>
              </a:rPr>
              <a:t>sessionID
</a:t>
            </a:r>
            <a:endParaRPr lang="en-US" sz="1200" dirty="0"/>
          </a:p>
        </p:txBody>
      </p:sp>
    </p:spTree>
  </p:cSld>
  <p:clrMapOvr>
    <a:masterClrMapping/>
  </p:clrMapOvr>
  <mc:AlternateContent xmlns:mc="http://schemas.openxmlformats.org/markup-compatibility/2006">
    <mc:Choice xmlns:p14="http://schemas.microsoft.com/office/powerpoint/2010/main" Requires="p14">
      <p:transition p14:dur="0" advClick="0" advTm="5520">
        <p:fade/>
      </p:transition>
    </mc:Choice>
    <mc:Fallback>
      <p:transition advClick="0" advTm="5520">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2C39A"/>
          </a:solidFill>
          <a:ln w="12700">
            <a:solidFill>
              <a:srgbClr val="02C39A"/>
            </a:solidFill>
            <a:prstDash val="solid"/>
          </a:ln>
        </p:spPr>
      </p:sp>
      <p:sp>
        <p:nvSpPr>
          <p:cNvPr id="3" name="Shape 1"/>
          <p:cNvSpPr/>
          <p:nvPr/>
        </p:nvSpPr>
        <p:spPr>
          <a:xfrm>
            <a:off x="0" y="73152"/>
            <a:ext cx="9144000" cy="822960"/>
          </a:xfrm>
          <a:prstGeom prst="rect">
            <a:avLst/>
          </a:prstGeom>
          <a:solidFill>
            <a:srgbClr val="0D1B2A"/>
          </a:solidFill>
          <a:ln w="12700">
            <a:solidFill>
              <a:srgbClr val="0D1B2A"/>
            </a:solidFill>
            <a:prstDash val="solid"/>
          </a:ln>
        </p:spPr>
      </p:sp>
      <p:sp>
        <p:nvSpPr>
          <p:cNvPr id="4" name="Text 2"/>
          <p:cNvSpPr/>
          <p:nvPr/>
        </p:nvSpPr>
        <p:spPr>
          <a:xfrm>
            <a:off x="365760" y="91440"/>
            <a:ext cx="8229600" cy="786384"/>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Key Configuration Parameters</a:t>
            </a:r>
            <a:endParaRPr lang="en-US" sz="2200" dirty="0"/>
          </a:p>
        </p:txBody>
      </p:sp>
      <p:sp>
        <p:nvSpPr>
          <p:cNvPr id="5" name="Shape 3"/>
          <p:cNvSpPr/>
          <p:nvPr/>
        </p:nvSpPr>
        <p:spPr>
          <a:xfrm>
            <a:off x="365760" y="1051560"/>
            <a:ext cx="8412480" cy="1325880"/>
          </a:xfrm>
          <a:prstGeom prst="rect">
            <a:avLst/>
          </a:prstGeom>
          <a:solidFill>
            <a:srgbClr val="FFFFFF"/>
          </a:solidFill>
          <a:ln w="12700">
            <a:solidFill>
              <a:srgbClr val="CBD5E1"/>
            </a:solidFill>
            <a:prstDash val="solid"/>
          </a:ln>
          <a:effectLst>
            <a:outerShdw blurRad="50800" dist="25400" dir="8100000" algn="bl" rotWithShape="0">
              <a:srgbClr val="000000">
                <a:alpha val="7000"/>
              </a:srgbClr>
            </a:outerShdw>
          </a:effectLst>
        </p:spPr>
      </p:sp>
      <p:sp>
        <p:nvSpPr>
          <p:cNvPr id="6" name="Shape 4"/>
          <p:cNvSpPr/>
          <p:nvPr/>
        </p:nvSpPr>
        <p:spPr>
          <a:xfrm>
            <a:off x="365760" y="1051560"/>
            <a:ext cx="64008" cy="1325880"/>
          </a:xfrm>
          <a:prstGeom prst="rect">
            <a:avLst/>
          </a:prstGeom>
          <a:solidFill>
            <a:srgbClr val="02C39A"/>
          </a:solidFill>
          <a:ln w="12700">
            <a:solidFill>
              <a:srgbClr val="02C39A"/>
            </a:solidFill>
            <a:prstDash val="solid"/>
          </a:ln>
        </p:spPr>
      </p:sp>
      <p:sp>
        <p:nvSpPr>
          <p:cNvPr id="7" name="Text 5"/>
          <p:cNvSpPr/>
          <p:nvPr/>
        </p:nvSpPr>
        <p:spPr>
          <a:xfrm>
            <a:off x="594360" y="1124712"/>
            <a:ext cx="7955280" cy="347472"/>
          </a:xfrm>
          <a:prstGeom prst="rect">
            <a:avLst/>
          </a:prstGeom>
          <a:noFill/>
          <a:ln/>
        </p:spPr>
        <p:txBody>
          <a:bodyPr wrap="square" lIns="0" tIns="0" rIns="0" bIns="0" rtlCol="0" anchor="ctr"/>
          <a:lstStyle/>
          <a:p>
            <a:pPr marL="0" indent="0">
              <a:buNone/>
            </a:pPr>
            <a:r>
              <a:rPr lang="en-US" sz="1300" b="1" dirty="0">
                <a:solidFill>
                  <a:srgbClr val="0D1B2A"/>
                </a:solidFill>
                <a:latin typeface="Consolas" pitchFamily="34" charset="0"/>
                <a:ea typeface="Consolas" pitchFamily="34" charset="-122"/>
                <a:cs typeface="Consolas" pitchFamily="34" charset="-120"/>
              </a:rPr>
              <a:t>SG_enableDataStreamIntegration</a:t>
            </a:r>
            <a:endParaRPr lang="en-US" sz="1300" dirty="0"/>
          </a:p>
        </p:txBody>
      </p:sp>
      <p:sp>
        <p:nvSpPr>
          <p:cNvPr id="8" name="Shape 6"/>
          <p:cNvSpPr/>
          <p:nvPr/>
        </p:nvSpPr>
        <p:spPr>
          <a:xfrm>
            <a:off x="594360" y="1508760"/>
            <a:ext cx="1188720" cy="256032"/>
          </a:xfrm>
          <a:prstGeom prst="roundRect">
            <a:avLst>
              <a:gd name="adj" fmla="val 17857"/>
            </a:avLst>
          </a:prstGeom>
          <a:solidFill>
            <a:srgbClr val="02C39A">
              <a:alpha val="20000"/>
            </a:srgbClr>
          </a:solidFill>
          <a:ln w="12700">
            <a:solidFill>
              <a:srgbClr val="02C39A"/>
            </a:solidFill>
            <a:prstDash val="solid"/>
          </a:ln>
        </p:spPr>
      </p:sp>
      <p:sp>
        <p:nvSpPr>
          <p:cNvPr id="9" name="Text 7"/>
          <p:cNvSpPr/>
          <p:nvPr/>
        </p:nvSpPr>
        <p:spPr>
          <a:xfrm>
            <a:off x="594360" y="1508760"/>
            <a:ext cx="1188720" cy="256032"/>
          </a:xfrm>
          <a:prstGeom prst="rect">
            <a:avLst/>
          </a:prstGeom>
          <a:noFill/>
          <a:ln/>
        </p:spPr>
        <p:txBody>
          <a:bodyPr wrap="square" lIns="0" tIns="0" rIns="0" bIns="0" rtlCol="0" anchor="ctr"/>
          <a:lstStyle/>
          <a:p>
            <a:pPr marL="0" indent="0" algn="ctr">
              <a:buNone/>
            </a:pPr>
            <a:r>
              <a:rPr lang="en-US" sz="1000" b="1" dirty="0">
                <a:solidFill>
                  <a:srgbClr val="0E5C7A"/>
                </a:solidFill>
              </a:rPr>
              <a:t>TRUE / FALSE</a:t>
            </a:r>
            <a:endParaRPr lang="en-US" sz="1000" dirty="0"/>
          </a:p>
        </p:txBody>
      </p:sp>
      <p:sp>
        <p:nvSpPr>
          <p:cNvPr id="10" name="Text 8"/>
          <p:cNvSpPr/>
          <p:nvPr/>
        </p:nvSpPr>
        <p:spPr>
          <a:xfrm>
            <a:off x="594360" y="1828800"/>
            <a:ext cx="7772400" cy="457200"/>
          </a:xfrm>
          <a:prstGeom prst="rect">
            <a:avLst/>
          </a:prstGeom>
          <a:noFill/>
          <a:ln/>
        </p:spPr>
        <p:txBody>
          <a:bodyPr wrap="square" lIns="0" tIns="0" rIns="0" bIns="0" rtlCol="0" anchor="ctr"/>
          <a:lstStyle/>
          <a:p>
            <a:pPr marL="0" indent="0">
              <a:buNone/>
            </a:pPr>
            <a:r>
              <a:rPr lang="en-US" sz="1200" dirty="0">
                <a:solidFill>
                  <a:srgbClr val="64748B"/>
                </a:solidFill>
                <a:latin typeface="Calibri" pitchFamily="34" charset="0"/>
                <a:ea typeface="Calibri" pitchFamily="34" charset="-122"/>
                <a:cs typeface="Calibri" pitchFamily="34" charset="-120"/>
              </a:rPr>
              <a:t>Must be set to TRUE to enable the Data Stream Integration feature.</a:t>
            </a:r>
            <a:endParaRPr lang="en-US" sz="1200" dirty="0"/>
          </a:p>
        </p:txBody>
      </p:sp>
      <p:sp>
        <p:nvSpPr>
          <p:cNvPr id="11" name="Shape 9"/>
          <p:cNvSpPr/>
          <p:nvPr/>
        </p:nvSpPr>
        <p:spPr>
          <a:xfrm>
            <a:off x="365760" y="2606040"/>
            <a:ext cx="8412480" cy="1325880"/>
          </a:xfrm>
          <a:prstGeom prst="rect">
            <a:avLst/>
          </a:prstGeom>
          <a:solidFill>
            <a:srgbClr val="FFFFFF"/>
          </a:solidFill>
          <a:ln w="12700">
            <a:solidFill>
              <a:srgbClr val="CBD5E1"/>
            </a:solidFill>
            <a:prstDash val="solid"/>
          </a:ln>
          <a:effectLst>
            <a:outerShdw blurRad="50800" dist="25400" dir="8100000" algn="bl" rotWithShape="0">
              <a:srgbClr val="000000">
                <a:alpha val="7000"/>
              </a:srgbClr>
            </a:outerShdw>
          </a:effectLst>
        </p:spPr>
      </p:sp>
      <p:sp>
        <p:nvSpPr>
          <p:cNvPr id="12" name="Shape 10"/>
          <p:cNvSpPr/>
          <p:nvPr/>
        </p:nvSpPr>
        <p:spPr>
          <a:xfrm>
            <a:off x="365760" y="2606040"/>
            <a:ext cx="64008" cy="1325880"/>
          </a:xfrm>
          <a:prstGeom prst="rect">
            <a:avLst/>
          </a:prstGeom>
          <a:solidFill>
            <a:srgbClr val="1B7FA6"/>
          </a:solidFill>
          <a:ln w="12700">
            <a:solidFill>
              <a:srgbClr val="1B7FA6"/>
            </a:solidFill>
            <a:prstDash val="solid"/>
          </a:ln>
        </p:spPr>
      </p:sp>
      <p:sp>
        <p:nvSpPr>
          <p:cNvPr id="13" name="Text 11"/>
          <p:cNvSpPr/>
          <p:nvPr/>
        </p:nvSpPr>
        <p:spPr>
          <a:xfrm>
            <a:off x="594360" y="2679192"/>
            <a:ext cx="7955280" cy="347472"/>
          </a:xfrm>
          <a:prstGeom prst="rect">
            <a:avLst/>
          </a:prstGeom>
          <a:noFill/>
          <a:ln/>
        </p:spPr>
        <p:txBody>
          <a:bodyPr wrap="square" lIns="0" tIns="0" rIns="0" bIns="0" rtlCol="0" anchor="ctr"/>
          <a:lstStyle/>
          <a:p>
            <a:pPr marL="0" indent="0">
              <a:buNone/>
            </a:pPr>
            <a:r>
              <a:rPr lang="en-US" sz="1300" b="1" dirty="0">
                <a:solidFill>
                  <a:srgbClr val="0D1B2A"/>
                </a:solidFill>
                <a:latin typeface="Consolas" pitchFamily="34" charset="0"/>
                <a:ea typeface="Consolas" pitchFamily="34" charset="-122"/>
                <a:cs typeface="Consolas" pitchFamily="34" charset="-120"/>
              </a:rPr>
              <a:t>SG_enableDataStreamClientFieldIniFileMapping</a:t>
            </a:r>
            <a:endParaRPr lang="en-US" sz="1300" dirty="0"/>
          </a:p>
        </p:txBody>
      </p:sp>
      <p:sp>
        <p:nvSpPr>
          <p:cNvPr id="14" name="Shape 12"/>
          <p:cNvSpPr/>
          <p:nvPr/>
        </p:nvSpPr>
        <p:spPr>
          <a:xfrm>
            <a:off x="594360" y="3063240"/>
            <a:ext cx="1188720" cy="256032"/>
          </a:xfrm>
          <a:prstGeom prst="roundRect">
            <a:avLst>
              <a:gd name="adj" fmla="val 17857"/>
            </a:avLst>
          </a:prstGeom>
          <a:solidFill>
            <a:srgbClr val="1B7FA6">
              <a:alpha val="20000"/>
            </a:srgbClr>
          </a:solidFill>
          <a:ln w="12700">
            <a:solidFill>
              <a:srgbClr val="1B7FA6"/>
            </a:solidFill>
            <a:prstDash val="solid"/>
          </a:ln>
        </p:spPr>
      </p:sp>
      <p:sp>
        <p:nvSpPr>
          <p:cNvPr id="15" name="Text 13"/>
          <p:cNvSpPr/>
          <p:nvPr/>
        </p:nvSpPr>
        <p:spPr>
          <a:xfrm>
            <a:off x="594360" y="3063240"/>
            <a:ext cx="1188720" cy="256032"/>
          </a:xfrm>
          <a:prstGeom prst="rect">
            <a:avLst/>
          </a:prstGeom>
          <a:noFill/>
          <a:ln/>
        </p:spPr>
        <p:txBody>
          <a:bodyPr wrap="square" lIns="0" tIns="0" rIns="0" bIns="0" rtlCol="0" anchor="ctr"/>
          <a:lstStyle/>
          <a:p>
            <a:pPr marL="0" indent="0" algn="ctr">
              <a:buNone/>
            </a:pPr>
            <a:r>
              <a:rPr lang="en-US" sz="1000" b="1" dirty="0">
                <a:solidFill>
                  <a:srgbClr val="0E5C7A"/>
                </a:solidFill>
              </a:rPr>
              <a:t>TRUE / FALSE</a:t>
            </a:r>
            <a:endParaRPr lang="en-US" sz="1000" dirty="0"/>
          </a:p>
        </p:txBody>
      </p:sp>
      <p:sp>
        <p:nvSpPr>
          <p:cNvPr id="16" name="Text 14"/>
          <p:cNvSpPr/>
          <p:nvPr/>
        </p:nvSpPr>
        <p:spPr>
          <a:xfrm>
            <a:off x="594360" y="3383280"/>
            <a:ext cx="7772400" cy="457200"/>
          </a:xfrm>
          <a:prstGeom prst="rect">
            <a:avLst/>
          </a:prstGeom>
          <a:noFill/>
          <a:ln/>
        </p:spPr>
        <p:txBody>
          <a:bodyPr wrap="square" lIns="0" tIns="0" rIns="0" bIns="0" rtlCol="0" anchor="ctr"/>
          <a:lstStyle/>
          <a:p>
            <a:pPr marL="0" indent="0">
              <a:buNone/>
            </a:pPr>
            <a:r>
              <a:rPr lang="en-US" sz="1200" dirty="0">
                <a:solidFill>
                  <a:srgbClr val="64748B"/>
                </a:solidFill>
                <a:latin typeface="Calibri" pitchFamily="34" charset="0"/>
                <a:ea typeface="Calibri" pitchFamily="34" charset="-122"/>
                <a:cs typeface="Calibri" pitchFamily="34" charset="-120"/>
              </a:rPr>
              <a:t>If FALSE, mapping fields are read from AdminOne interface. If TRUE, the INI file is used.</a:t>
            </a:r>
            <a:endParaRPr lang="en-US" sz="1200" dirty="0"/>
          </a:p>
        </p:txBody>
      </p:sp>
      <p:sp>
        <p:nvSpPr>
          <p:cNvPr id="17" name="Text 15"/>
          <p:cNvSpPr/>
          <p:nvPr/>
        </p:nvSpPr>
        <p:spPr>
          <a:xfrm>
            <a:off x="457200" y="4480560"/>
            <a:ext cx="8229600" cy="320040"/>
          </a:xfrm>
          <a:prstGeom prst="rect">
            <a:avLst/>
          </a:prstGeom>
          <a:noFill/>
          <a:ln/>
        </p:spPr>
        <p:txBody>
          <a:bodyPr wrap="square" rtlCol="0" anchor="ctr"/>
          <a:lstStyle/>
          <a:p>
            <a:pPr marL="0" indent="0">
              <a:buNone/>
            </a:pPr>
            <a:r>
              <a:rPr lang="en-US" sz="1100" i="1" dirty="0">
                <a:solidFill>
                  <a:srgbClr val="64748B"/>
                </a:solidFill>
                <a:latin typeface="Calibri" pitchFamily="34" charset="0"/>
                <a:ea typeface="Calibri" pitchFamily="34" charset="-122"/>
                <a:cs typeface="Calibri" pitchFamily="34" charset="-120"/>
              </a:rPr>
              <a:t>Refer to the Implementer Guide for additional parameters.</a:t>
            </a:r>
            <a:endParaRPr lang="en-US" sz="1100" dirty="0"/>
          </a:p>
        </p:txBody>
      </p:sp>
    </p:spTree>
  </p:cSld>
  <p:clrMapOvr>
    <a:masterClrMapping/>
  </p:clrMapOvr>
  <mc:AlternateContent xmlns:mc="http://schemas.openxmlformats.org/markup-compatibility/2006">
    <mc:Choice xmlns:p14="http://schemas.microsoft.com/office/powerpoint/2010/main" Requires="p14">
      <p:transition p14:dur="0" advClick="0" advTm="23448">
        <p:fade/>
      </p:transition>
    </mc:Choice>
    <mc:Fallback>
      <p:transition advClick="0" advTm="23448">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2C39A"/>
          </a:solidFill>
          <a:ln w="12700">
            <a:solidFill>
              <a:srgbClr val="02C39A"/>
            </a:solidFill>
            <a:prstDash val="solid"/>
          </a:ln>
        </p:spPr>
      </p:sp>
      <p:sp>
        <p:nvSpPr>
          <p:cNvPr id="3" name="Shape 1"/>
          <p:cNvSpPr/>
          <p:nvPr/>
        </p:nvSpPr>
        <p:spPr>
          <a:xfrm>
            <a:off x="0" y="73152"/>
            <a:ext cx="9144000" cy="822960"/>
          </a:xfrm>
          <a:prstGeom prst="rect">
            <a:avLst/>
          </a:prstGeom>
          <a:solidFill>
            <a:srgbClr val="0D1B2A"/>
          </a:solidFill>
          <a:ln w="12700">
            <a:solidFill>
              <a:srgbClr val="0D1B2A"/>
            </a:solidFill>
            <a:prstDash val="solid"/>
          </a:ln>
        </p:spPr>
      </p:sp>
      <p:sp>
        <p:nvSpPr>
          <p:cNvPr id="4" name="Text 2"/>
          <p:cNvSpPr/>
          <p:nvPr/>
        </p:nvSpPr>
        <p:spPr>
          <a:xfrm>
            <a:off x="365760" y="91440"/>
            <a:ext cx="8229600" cy="786384"/>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Platform Lists in AdminOne</a:t>
            </a:r>
            <a:endParaRPr lang="en-US" sz="2200" dirty="0"/>
          </a:p>
        </p:txBody>
      </p:sp>
      <p:sp>
        <p:nvSpPr>
          <p:cNvPr id="5" name="Shape 3"/>
          <p:cNvSpPr/>
          <p:nvPr/>
        </p:nvSpPr>
        <p:spPr>
          <a:xfrm>
            <a:off x="365760" y="1051560"/>
            <a:ext cx="2697480" cy="3474720"/>
          </a:xfrm>
          <a:prstGeom prst="rect">
            <a:avLst/>
          </a:prstGeom>
          <a:solidFill>
            <a:srgbClr val="FFFFFF"/>
          </a:solidFill>
          <a:ln w="12700">
            <a:solidFill>
              <a:srgbClr val="CBD5E1"/>
            </a:solidFill>
            <a:prstDash val="solid"/>
          </a:ln>
          <a:effectLst>
            <a:outerShdw blurRad="76200" dist="38100" dir="8100000" algn="bl" rotWithShape="0">
              <a:srgbClr val="000000">
                <a:alpha val="9000"/>
              </a:srgbClr>
            </a:outerShdw>
          </a:effectLst>
        </p:spPr>
      </p:sp>
      <p:sp>
        <p:nvSpPr>
          <p:cNvPr id="6" name="Shape 4"/>
          <p:cNvSpPr/>
          <p:nvPr/>
        </p:nvSpPr>
        <p:spPr>
          <a:xfrm>
            <a:off x="365760" y="1051560"/>
            <a:ext cx="2697480" cy="64008"/>
          </a:xfrm>
          <a:prstGeom prst="rect">
            <a:avLst/>
          </a:prstGeom>
          <a:solidFill>
            <a:srgbClr val="1B7FA6"/>
          </a:solidFill>
          <a:ln w="12700">
            <a:solidFill>
              <a:srgbClr val="1B7FA6"/>
            </a:solidFill>
            <a:prstDash val="solid"/>
          </a:ln>
        </p:spPr>
      </p:sp>
      <p:sp>
        <p:nvSpPr>
          <p:cNvPr id="7" name="Shape 5"/>
          <p:cNvSpPr/>
          <p:nvPr/>
        </p:nvSpPr>
        <p:spPr>
          <a:xfrm>
            <a:off x="1371600" y="1234440"/>
            <a:ext cx="685800" cy="685800"/>
          </a:xfrm>
          <a:prstGeom prst="ellipse">
            <a:avLst/>
          </a:prstGeom>
          <a:solidFill>
            <a:srgbClr val="1B7FA6">
              <a:alpha val="85000"/>
            </a:srgbClr>
          </a:solidFill>
          <a:ln w="12700">
            <a:solidFill>
              <a:srgbClr val="1B7FA6"/>
            </a:solidFill>
            <a:prstDash val="solid"/>
          </a:ln>
        </p:spPr>
      </p:sp>
      <p:sp>
        <p:nvSpPr>
          <p:cNvPr id="8" name="Text 6"/>
          <p:cNvSpPr/>
          <p:nvPr/>
        </p:nvSpPr>
        <p:spPr>
          <a:xfrm>
            <a:off x="1371600" y="1234440"/>
            <a:ext cx="685800" cy="685800"/>
          </a:xfrm>
          <a:prstGeom prst="rect">
            <a:avLst/>
          </a:prstGeom>
          <a:noFill/>
          <a:ln/>
        </p:spPr>
        <p:txBody>
          <a:bodyPr wrap="square" rtlCol="0" anchor="ctr"/>
          <a:lstStyle/>
          <a:p>
            <a:pPr marL="0" indent="0" algn="ctr">
              <a:buNone/>
            </a:pPr>
            <a:r>
              <a:rPr lang="en-US" sz="1800" dirty="0">
                <a:solidFill>
                  <a:srgbClr val="000000"/>
                </a:solidFill>
              </a:rPr>
              <a:t>📋</a:t>
            </a:r>
            <a:endParaRPr lang="en-US" sz="1800" dirty="0"/>
          </a:p>
        </p:txBody>
      </p:sp>
      <p:sp>
        <p:nvSpPr>
          <p:cNvPr id="9" name="Text 7"/>
          <p:cNvSpPr/>
          <p:nvPr/>
        </p:nvSpPr>
        <p:spPr>
          <a:xfrm>
            <a:off x="502920" y="2057400"/>
            <a:ext cx="2423160" cy="548640"/>
          </a:xfrm>
          <a:prstGeom prst="rect">
            <a:avLst/>
          </a:prstGeom>
          <a:noFill/>
          <a:ln/>
        </p:spPr>
        <p:txBody>
          <a:bodyPr wrap="square" lIns="50800" tIns="50800" rIns="50800" bIns="50800" rtlCol="0" anchor="ctr"/>
          <a:lstStyle/>
          <a:p>
            <a:pPr marL="0" indent="0" algn="ctr">
              <a:buNone/>
            </a:pPr>
            <a:r>
              <a:rPr lang="en-US" sz="1300" b="1" dirty="0">
                <a:solidFill>
                  <a:srgbClr val="0D1B2A"/>
                </a:solidFill>
                <a:latin typeface="Calibri" pitchFamily="34" charset="0"/>
                <a:ea typeface="Calibri" pitchFamily="34" charset="-122"/>
                <a:cs typeface="Calibri" pitchFamily="34" charset="-120"/>
              </a:rPr>
              <a:t>Data Integration Manager</a:t>
            </a:r>
            <a:endParaRPr lang="en-US" sz="1300" dirty="0"/>
          </a:p>
        </p:txBody>
      </p:sp>
      <p:sp>
        <p:nvSpPr>
          <p:cNvPr id="10" name="Text 8"/>
          <p:cNvSpPr/>
          <p:nvPr/>
        </p:nvSpPr>
        <p:spPr>
          <a:xfrm>
            <a:off x="502920" y="2651760"/>
            <a:ext cx="2423160" cy="1645920"/>
          </a:xfrm>
          <a:prstGeom prst="rect">
            <a:avLst/>
          </a:prstGeom>
          <a:noFill/>
          <a:ln/>
        </p:spPr>
        <p:txBody>
          <a:bodyPr wrap="square" lIns="76200" tIns="76200" rIns="76200" bIns="76200" rtlCol="0" anchor="ctr"/>
          <a:lstStyle/>
          <a:p>
            <a:pPr marL="0" indent="0" algn="ctr">
              <a:buNone/>
            </a:pPr>
            <a:r>
              <a:rPr lang="en-US" sz="1200" dirty="0">
                <a:solidFill>
                  <a:srgbClr val="64748B"/>
                </a:solidFill>
                <a:latin typeface="Calibri" pitchFamily="34" charset="0"/>
                <a:ea typeface="Calibri" pitchFamily="34" charset="-122"/>
                <a:cs typeface="Calibri" pitchFamily="34" charset="-120"/>
              </a:rPr>
              <a:t>Wizard-based configuration. Define the data stream and the fields flowing through it.</a:t>
            </a:r>
            <a:endParaRPr lang="en-US" sz="1200" dirty="0"/>
          </a:p>
        </p:txBody>
      </p:sp>
      <p:sp>
        <p:nvSpPr>
          <p:cNvPr id="11" name="Shape 9"/>
          <p:cNvSpPr/>
          <p:nvPr/>
        </p:nvSpPr>
        <p:spPr>
          <a:xfrm>
            <a:off x="3246120" y="1051560"/>
            <a:ext cx="2697480" cy="3474720"/>
          </a:xfrm>
          <a:prstGeom prst="rect">
            <a:avLst/>
          </a:prstGeom>
          <a:solidFill>
            <a:srgbClr val="FFFFFF"/>
          </a:solidFill>
          <a:ln w="12700">
            <a:solidFill>
              <a:srgbClr val="CBD5E1"/>
            </a:solidFill>
            <a:prstDash val="solid"/>
          </a:ln>
          <a:effectLst>
            <a:outerShdw blurRad="76200" dist="38100" dir="8100000" algn="bl" rotWithShape="0">
              <a:srgbClr val="000000">
                <a:alpha val="9000"/>
              </a:srgbClr>
            </a:outerShdw>
          </a:effectLst>
        </p:spPr>
      </p:sp>
      <p:sp>
        <p:nvSpPr>
          <p:cNvPr id="12" name="Shape 10"/>
          <p:cNvSpPr/>
          <p:nvPr/>
        </p:nvSpPr>
        <p:spPr>
          <a:xfrm>
            <a:off x="3246120" y="1051560"/>
            <a:ext cx="2697480" cy="64008"/>
          </a:xfrm>
          <a:prstGeom prst="rect">
            <a:avLst/>
          </a:prstGeom>
          <a:solidFill>
            <a:srgbClr val="1B7FA6"/>
          </a:solidFill>
          <a:ln w="12700">
            <a:solidFill>
              <a:srgbClr val="1B7FA6"/>
            </a:solidFill>
            <a:prstDash val="solid"/>
          </a:ln>
        </p:spPr>
      </p:sp>
      <p:sp>
        <p:nvSpPr>
          <p:cNvPr id="13" name="Shape 11"/>
          <p:cNvSpPr/>
          <p:nvPr/>
        </p:nvSpPr>
        <p:spPr>
          <a:xfrm>
            <a:off x="4251960" y="1234440"/>
            <a:ext cx="685800" cy="685800"/>
          </a:xfrm>
          <a:prstGeom prst="ellipse">
            <a:avLst/>
          </a:prstGeom>
          <a:solidFill>
            <a:srgbClr val="1B7FA6">
              <a:alpha val="85000"/>
            </a:srgbClr>
          </a:solidFill>
          <a:ln w="12700">
            <a:solidFill>
              <a:srgbClr val="1B7FA6"/>
            </a:solidFill>
            <a:prstDash val="solid"/>
          </a:ln>
        </p:spPr>
      </p:sp>
      <p:sp>
        <p:nvSpPr>
          <p:cNvPr id="14" name="Text 12"/>
          <p:cNvSpPr/>
          <p:nvPr/>
        </p:nvSpPr>
        <p:spPr>
          <a:xfrm>
            <a:off x="4251960" y="1234440"/>
            <a:ext cx="685800" cy="685800"/>
          </a:xfrm>
          <a:prstGeom prst="rect">
            <a:avLst/>
          </a:prstGeom>
          <a:noFill/>
          <a:ln/>
        </p:spPr>
        <p:txBody>
          <a:bodyPr wrap="square" rtlCol="0" anchor="ctr"/>
          <a:lstStyle/>
          <a:p>
            <a:pPr marL="0" indent="0" algn="ctr">
              <a:buNone/>
            </a:pPr>
            <a:r>
              <a:rPr lang="en-US" sz="1800" dirty="0">
                <a:solidFill>
                  <a:srgbClr val="000000"/>
                </a:solidFill>
              </a:rPr>
              <a:t>🔑</a:t>
            </a:r>
            <a:endParaRPr lang="en-US" sz="1800" dirty="0"/>
          </a:p>
        </p:txBody>
      </p:sp>
      <p:sp>
        <p:nvSpPr>
          <p:cNvPr id="15" name="Text 13"/>
          <p:cNvSpPr/>
          <p:nvPr/>
        </p:nvSpPr>
        <p:spPr>
          <a:xfrm>
            <a:off x="3383280" y="2057400"/>
            <a:ext cx="2423160" cy="548640"/>
          </a:xfrm>
          <a:prstGeom prst="rect">
            <a:avLst/>
          </a:prstGeom>
          <a:noFill/>
          <a:ln/>
        </p:spPr>
        <p:txBody>
          <a:bodyPr wrap="square" lIns="50800" tIns="50800" rIns="50800" bIns="50800" rtlCol="0" anchor="ctr"/>
          <a:lstStyle/>
          <a:p>
            <a:pPr marL="0" indent="0" algn="ctr">
              <a:buNone/>
            </a:pPr>
            <a:r>
              <a:rPr lang="en-US" sz="1300" b="1" dirty="0">
                <a:solidFill>
                  <a:srgbClr val="0D1B2A"/>
                </a:solidFill>
                <a:latin typeface="Calibri" pitchFamily="34" charset="0"/>
                <a:ea typeface="Calibri" pitchFamily="34" charset="-122"/>
                <a:cs typeface="Calibri" pitchFamily="34" charset="-120"/>
              </a:rPr>
              <a:t>Data Elements</a:t>
            </a:r>
            <a:endParaRPr lang="en-US" sz="1300" dirty="0"/>
          </a:p>
        </p:txBody>
      </p:sp>
      <p:sp>
        <p:nvSpPr>
          <p:cNvPr id="16" name="Text 14"/>
          <p:cNvSpPr/>
          <p:nvPr/>
        </p:nvSpPr>
        <p:spPr>
          <a:xfrm>
            <a:off x="3383280" y="2651760"/>
            <a:ext cx="2423160" cy="1645920"/>
          </a:xfrm>
          <a:prstGeom prst="rect">
            <a:avLst/>
          </a:prstGeom>
          <a:noFill/>
          <a:ln/>
        </p:spPr>
        <p:txBody>
          <a:bodyPr wrap="square" lIns="76200" tIns="76200" rIns="76200" bIns="76200" rtlCol="0" anchor="ctr"/>
          <a:lstStyle/>
          <a:p>
            <a:pPr marL="0" indent="0" algn="ctr">
              <a:buNone/>
            </a:pPr>
            <a:r>
              <a:rPr lang="en-US" sz="1200" dirty="0">
                <a:solidFill>
                  <a:srgbClr val="64748B"/>
                </a:solidFill>
                <a:latin typeface="Calibri" pitchFamily="34" charset="0"/>
                <a:ea typeface="Calibri" pitchFamily="34" charset="-122"/>
                <a:cs typeface="Calibri" pitchFamily="34" charset="-120"/>
              </a:rPr>
              <a:t>Nested within Data Integration Manager. Can be updated independently.</a:t>
            </a:r>
            <a:endParaRPr lang="en-US" sz="1200" dirty="0"/>
          </a:p>
        </p:txBody>
      </p:sp>
      <p:sp>
        <p:nvSpPr>
          <p:cNvPr id="17" name="Shape 15"/>
          <p:cNvSpPr/>
          <p:nvPr/>
        </p:nvSpPr>
        <p:spPr>
          <a:xfrm>
            <a:off x="6126480" y="1051560"/>
            <a:ext cx="2697480" cy="3474720"/>
          </a:xfrm>
          <a:prstGeom prst="rect">
            <a:avLst/>
          </a:prstGeom>
          <a:solidFill>
            <a:srgbClr val="FFFFFF"/>
          </a:solidFill>
          <a:ln w="12700">
            <a:solidFill>
              <a:srgbClr val="CBD5E1"/>
            </a:solidFill>
            <a:prstDash val="solid"/>
          </a:ln>
          <a:effectLst>
            <a:outerShdw blurRad="76200" dist="38100" dir="8100000" algn="bl" rotWithShape="0">
              <a:srgbClr val="000000">
                <a:alpha val="9000"/>
              </a:srgbClr>
            </a:outerShdw>
          </a:effectLst>
        </p:spPr>
      </p:sp>
      <p:sp>
        <p:nvSpPr>
          <p:cNvPr id="18" name="Shape 16"/>
          <p:cNvSpPr/>
          <p:nvPr/>
        </p:nvSpPr>
        <p:spPr>
          <a:xfrm>
            <a:off x="6126480" y="1051560"/>
            <a:ext cx="2697480" cy="64008"/>
          </a:xfrm>
          <a:prstGeom prst="rect">
            <a:avLst/>
          </a:prstGeom>
          <a:solidFill>
            <a:srgbClr val="1B7FA6"/>
          </a:solidFill>
          <a:ln w="12700">
            <a:solidFill>
              <a:srgbClr val="1B7FA6"/>
            </a:solidFill>
            <a:prstDash val="solid"/>
          </a:ln>
        </p:spPr>
      </p:sp>
      <p:sp>
        <p:nvSpPr>
          <p:cNvPr id="19" name="Shape 17"/>
          <p:cNvSpPr/>
          <p:nvPr/>
        </p:nvSpPr>
        <p:spPr>
          <a:xfrm>
            <a:off x="7132320" y="1234440"/>
            <a:ext cx="685800" cy="685800"/>
          </a:xfrm>
          <a:prstGeom prst="ellipse">
            <a:avLst/>
          </a:prstGeom>
          <a:solidFill>
            <a:srgbClr val="1B7FA6">
              <a:alpha val="85000"/>
            </a:srgbClr>
          </a:solidFill>
          <a:ln w="12700">
            <a:solidFill>
              <a:srgbClr val="1B7FA6"/>
            </a:solidFill>
            <a:prstDash val="solid"/>
          </a:ln>
        </p:spPr>
      </p:sp>
      <p:sp>
        <p:nvSpPr>
          <p:cNvPr id="20" name="Text 18"/>
          <p:cNvSpPr/>
          <p:nvPr/>
        </p:nvSpPr>
        <p:spPr>
          <a:xfrm>
            <a:off x="7132320" y="1234440"/>
            <a:ext cx="685800" cy="685800"/>
          </a:xfrm>
          <a:prstGeom prst="rect">
            <a:avLst/>
          </a:prstGeom>
          <a:noFill/>
          <a:ln/>
        </p:spPr>
        <p:txBody>
          <a:bodyPr wrap="square" rtlCol="0" anchor="ctr"/>
          <a:lstStyle/>
          <a:p>
            <a:pPr marL="0" indent="0" algn="ctr">
              <a:buNone/>
            </a:pPr>
            <a:r>
              <a:rPr lang="en-US" sz="1800" dirty="0">
                <a:solidFill>
                  <a:srgbClr val="000000"/>
                </a:solidFill>
              </a:rPr>
              <a:t>⚙️</a:t>
            </a:r>
            <a:endParaRPr lang="en-US" sz="1800" dirty="0"/>
          </a:p>
        </p:txBody>
      </p:sp>
      <p:sp>
        <p:nvSpPr>
          <p:cNvPr id="21" name="Text 19"/>
          <p:cNvSpPr/>
          <p:nvPr/>
        </p:nvSpPr>
        <p:spPr>
          <a:xfrm>
            <a:off x="6263640" y="2057400"/>
            <a:ext cx="2423160" cy="548640"/>
          </a:xfrm>
          <a:prstGeom prst="rect">
            <a:avLst/>
          </a:prstGeom>
          <a:noFill/>
          <a:ln/>
        </p:spPr>
        <p:txBody>
          <a:bodyPr wrap="square" lIns="50800" tIns="50800" rIns="50800" bIns="50800" rtlCol="0" anchor="ctr"/>
          <a:lstStyle/>
          <a:p>
            <a:pPr marL="0" indent="0" algn="ctr">
              <a:buNone/>
            </a:pPr>
            <a:r>
              <a:rPr lang="en-US" sz="1300" b="1" dirty="0">
                <a:solidFill>
                  <a:srgbClr val="0D1B2A"/>
                </a:solidFill>
                <a:latin typeface="Calibri" pitchFamily="34" charset="0"/>
                <a:ea typeface="Calibri" pitchFamily="34" charset="-122"/>
                <a:cs typeface="Calibri" pitchFamily="34" charset="-120"/>
              </a:rPr>
              <a:t>Detection Process</a:t>
            </a:r>
            <a:endParaRPr lang="en-US" sz="1300" dirty="0"/>
          </a:p>
        </p:txBody>
      </p:sp>
      <p:sp>
        <p:nvSpPr>
          <p:cNvPr id="22" name="Text 20"/>
          <p:cNvSpPr/>
          <p:nvPr/>
        </p:nvSpPr>
        <p:spPr>
          <a:xfrm>
            <a:off x="6263640" y="2651760"/>
            <a:ext cx="2423160" cy="1645920"/>
          </a:xfrm>
          <a:prstGeom prst="rect">
            <a:avLst/>
          </a:prstGeom>
          <a:noFill/>
          <a:ln/>
        </p:spPr>
        <p:txBody>
          <a:bodyPr wrap="square" lIns="76200" tIns="76200" rIns="76200" bIns="76200" rtlCol="0" anchor="ctr"/>
          <a:lstStyle/>
          <a:p>
            <a:pPr marL="0" indent="0" algn="ctr">
              <a:buNone/>
            </a:pPr>
            <a:r>
              <a:rPr lang="en-US" sz="1200" dirty="0">
                <a:solidFill>
                  <a:srgbClr val="64748B"/>
                </a:solidFill>
                <a:latin typeface="Calibri" pitchFamily="34" charset="0"/>
                <a:ea typeface="Calibri" pitchFamily="34" charset="-122"/>
                <a:cs typeface="Calibri" pitchFamily="34" charset="-120"/>
              </a:rPr>
              <a:t>Nested within Data Integration Manager. Configure detection logic per data stream.</a:t>
            </a:r>
            <a:endParaRPr lang="en-US" sz="1200" dirty="0"/>
          </a:p>
        </p:txBody>
      </p:sp>
    </p:spTree>
  </p:cSld>
  <p:clrMapOvr>
    <a:masterClrMapping/>
  </p:clrMapOvr>
  <mc:AlternateContent xmlns:mc="http://schemas.openxmlformats.org/markup-compatibility/2006">
    <mc:Choice xmlns:p14="http://schemas.microsoft.com/office/powerpoint/2010/main" Requires="p14">
      <p:transition p14:dur="0" advClick="0" advTm="28272">
        <p:fade/>
      </p:transition>
    </mc:Choice>
    <mc:Fallback>
      <p:transition advClick="0" advTm="28272">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2C39A"/>
          </a:solidFill>
          <a:ln w="12700">
            <a:solidFill>
              <a:srgbClr val="02C39A"/>
            </a:solidFill>
            <a:prstDash val="solid"/>
          </a:ln>
        </p:spPr>
      </p:sp>
      <p:sp>
        <p:nvSpPr>
          <p:cNvPr id="3" name="Shape 1"/>
          <p:cNvSpPr/>
          <p:nvPr/>
        </p:nvSpPr>
        <p:spPr>
          <a:xfrm>
            <a:off x="0" y="73152"/>
            <a:ext cx="9144000" cy="822960"/>
          </a:xfrm>
          <a:prstGeom prst="rect">
            <a:avLst/>
          </a:prstGeom>
          <a:solidFill>
            <a:srgbClr val="0D1B2A"/>
          </a:solidFill>
          <a:ln w="12700">
            <a:solidFill>
              <a:srgbClr val="0D1B2A"/>
            </a:solidFill>
            <a:prstDash val="solid"/>
          </a:ln>
        </p:spPr>
      </p:sp>
      <p:sp>
        <p:nvSpPr>
          <p:cNvPr id="4" name="Text 2"/>
          <p:cNvSpPr/>
          <p:nvPr/>
        </p:nvSpPr>
        <p:spPr>
          <a:xfrm>
            <a:off x="365760" y="91440"/>
            <a:ext cx="8229600" cy="786384"/>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Configure Platform Lists for Data Streams</a:t>
            </a:r>
            <a:endParaRPr lang="en-US" sz="2200" dirty="0"/>
          </a:p>
        </p:txBody>
      </p:sp>
      <p:sp>
        <p:nvSpPr>
          <p:cNvPr id="5" name="Shape 3"/>
          <p:cNvSpPr/>
          <p:nvPr/>
        </p:nvSpPr>
        <p:spPr>
          <a:xfrm>
            <a:off x="457200" y="1097280"/>
            <a:ext cx="502920" cy="502920"/>
          </a:xfrm>
          <a:prstGeom prst="rect">
            <a:avLst/>
          </a:prstGeom>
          <a:solidFill>
            <a:srgbClr val="1B7FA6"/>
          </a:solidFill>
          <a:ln w="12700">
            <a:solidFill>
              <a:srgbClr val="1B7FA6"/>
            </a:solidFill>
            <a:prstDash val="solid"/>
          </a:ln>
        </p:spPr>
      </p:sp>
      <p:sp>
        <p:nvSpPr>
          <p:cNvPr id="6" name="Text 4"/>
          <p:cNvSpPr/>
          <p:nvPr/>
        </p:nvSpPr>
        <p:spPr>
          <a:xfrm>
            <a:off x="457200" y="1097280"/>
            <a:ext cx="502920" cy="502920"/>
          </a:xfrm>
          <a:prstGeom prst="rect">
            <a:avLst/>
          </a:prstGeom>
          <a:noFill/>
          <a:ln/>
        </p:spPr>
        <p:txBody>
          <a:bodyPr wrap="square" lIns="0" tIns="0" rIns="0" bIns="0" rtlCol="0" anchor="ctr"/>
          <a:lstStyle/>
          <a:p>
            <a:pPr marL="0" indent="0" algn="ctr">
              <a:buNone/>
            </a:pPr>
            <a:r>
              <a:rPr lang="en-US" sz="1800" b="1" dirty="0">
                <a:solidFill>
                  <a:srgbClr val="FFFFFF"/>
                </a:solidFill>
              </a:rPr>
              <a:t>1</a:t>
            </a:r>
            <a:endParaRPr lang="en-US" sz="1800" dirty="0"/>
          </a:p>
        </p:txBody>
      </p:sp>
      <p:sp>
        <p:nvSpPr>
          <p:cNvPr id="7" name="Shape 5"/>
          <p:cNvSpPr/>
          <p:nvPr/>
        </p:nvSpPr>
        <p:spPr>
          <a:xfrm>
            <a:off x="1097280" y="1115568"/>
            <a:ext cx="7498080" cy="457200"/>
          </a:xfrm>
          <a:prstGeom prst="rect">
            <a:avLst/>
          </a:prstGeom>
          <a:solidFill>
            <a:srgbClr val="FFFFFF"/>
          </a:solidFill>
          <a:ln w="12700">
            <a:solidFill>
              <a:srgbClr val="CBD5E1"/>
            </a:solidFill>
            <a:prstDash val="solid"/>
          </a:ln>
        </p:spPr>
      </p:sp>
      <p:sp>
        <p:nvSpPr>
          <p:cNvPr id="8" name="Text 6"/>
          <p:cNvSpPr/>
          <p:nvPr/>
        </p:nvSpPr>
        <p:spPr>
          <a:xfrm>
            <a:off x="1234440" y="1115568"/>
            <a:ext cx="7315200" cy="457200"/>
          </a:xfrm>
          <a:prstGeom prst="rect">
            <a:avLst/>
          </a:prstGeom>
          <a:noFill/>
          <a:ln/>
        </p:spPr>
        <p:txBody>
          <a:bodyPr wrap="square" rtlCol="0" anchor="ctr"/>
          <a:lstStyle/>
          <a:p>
            <a:pPr marL="0" indent="0">
              <a:buNone/>
            </a:pPr>
            <a:r>
              <a:rPr lang="en-US" sz="1400" dirty="0">
                <a:solidFill>
                  <a:srgbClr val="0D1B2A"/>
                </a:solidFill>
                <a:latin typeface="Calibri" pitchFamily="34" charset="0"/>
                <a:ea typeface="Calibri" pitchFamily="34" charset="-122"/>
                <a:cs typeface="Calibri" pitchFamily="34" charset="-120"/>
              </a:rPr>
              <a:t>Log on to AdminOne</a:t>
            </a:r>
            <a:endParaRPr lang="en-US" sz="1400" dirty="0"/>
          </a:p>
        </p:txBody>
      </p:sp>
      <p:sp>
        <p:nvSpPr>
          <p:cNvPr id="9" name="Shape 7"/>
          <p:cNvSpPr/>
          <p:nvPr/>
        </p:nvSpPr>
        <p:spPr>
          <a:xfrm>
            <a:off x="457200" y="1965960"/>
            <a:ext cx="502920" cy="502920"/>
          </a:xfrm>
          <a:prstGeom prst="rect">
            <a:avLst/>
          </a:prstGeom>
          <a:solidFill>
            <a:srgbClr val="1B7FA6"/>
          </a:solidFill>
          <a:ln w="12700">
            <a:solidFill>
              <a:srgbClr val="1B7FA6"/>
            </a:solidFill>
            <a:prstDash val="solid"/>
          </a:ln>
        </p:spPr>
      </p:sp>
      <p:sp>
        <p:nvSpPr>
          <p:cNvPr id="10" name="Text 8"/>
          <p:cNvSpPr/>
          <p:nvPr/>
        </p:nvSpPr>
        <p:spPr>
          <a:xfrm>
            <a:off x="457200" y="1965960"/>
            <a:ext cx="502920" cy="502920"/>
          </a:xfrm>
          <a:prstGeom prst="rect">
            <a:avLst/>
          </a:prstGeom>
          <a:noFill/>
          <a:ln/>
        </p:spPr>
        <p:txBody>
          <a:bodyPr wrap="square" lIns="0" tIns="0" rIns="0" bIns="0" rtlCol="0" anchor="ctr"/>
          <a:lstStyle/>
          <a:p>
            <a:pPr marL="0" indent="0" algn="ctr">
              <a:buNone/>
            </a:pPr>
            <a:r>
              <a:rPr lang="en-US" sz="1800" b="1" dirty="0">
                <a:solidFill>
                  <a:srgbClr val="FFFFFF"/>
                </a:solidFill>
              </a:rPr>
              <a:t>2</a:t>
            </a:r>
            <a:endParaRPr lang="en-US" sz="1800" dirty="0"/>
          </a:p>
        </p:txBody>
      </p:sp>
      <p:sp>
        <p:nvSpPr>
          <p:cNvPr id="11" name="Shape 9"/>
          <p:cNvSpPr/>
          <p:nvPr/>
        </p:nvSpPr>
        <p:spPr>
          <a:xfrm>
            <a:off x="1097280" y="1984248"/>
            <a:ext cx="7498080" cy="457200"/>
          </a:xfrm>
          <a:prstGeom prst="rect">
            <a:avLst/>
          </a:prstGeom>
          <a:solidFill>
            <a:srgbClr val="FFFFFF"/>
          </a:solidFill>
          <a:ln w="12700">
            <a:solidFill>
              <a:srgbClr val="CBD5E1"/>
            </a:solidFill>
            <a:prstDash val="solid"/>
          </a:ln>
        </p:spPr>
      </p:sp>
      <p:sp>
        <p:nvSpPr>
          <p:cNvPr id="12" name="Text 10"/>
          <p:cNvSpPr/>
          <p:nvPr/>
        </p:nvSpPr>
        <p:spPr>
          <a:xfrm>
            <a:off x="1234440" y="1984248"/>
            <a:ext cx="7315200" cy="457200"/>
          </a:xfrm>
          <a:prstGeom prst="rect">
            <a:avLst/>
          </a:prstGeom>
          <a:noFill/>
          <a:ln/>
        </p:spPr>
        <p:txBody>
          <a:bodyPr wrap="square" rtlCol="0" anchor="ctr"/>
          <a:lstStyle/>
          <a:p>
            <a:pPr marL="0" indent="0">
              <a:buNone/>
            </a:pPr>
            <a:r>
              <a:rPr lang="en-US" sz="1400" dirty="0">
                <a:solidFill>
                  <a:srgbClr val="0D1B2A"/>
                </a:solidFill>
                <a:latin typeface="Calibri" pitchFamily="34" charset="0"/>
                <a:ea typeface="Calibri" pitchFamily="34" charset="-122"/>
                <a:cs typeface="Calibri" pitchFamily="34" charset="-120"/>
              </a:rPr>
              <a:t>Navigate to the Settings tab</a:t>
            </a:r>
            <a:endParaRPr lang="en-US" sz="1400" dirty="0"/>
          </a:p>
        </p:txBody>
      </p:sp>
      <p:sp>
        <p:nvSpPr>
          <p:cNvPr id="13" name="Shape 11"/>
          <p:cNvSpPr/>
          <p:nvPr/>
        </p:nvSpPr>
        <p:spPr>
          <a:xfrm>
            <a:off x="457200" y="2834640"/>
            <a:ext cx="502920" cy="502920"/>
          </a:xfrm>
          <a:prstGeom prst="rect">
            <a:avLst/>
          </a:prstGeom>
          <a:solidFill>
            <a:srgbClr val="1B7FA6"/>
          </a:solidFill>
          <a:ln w="12700">
            <a:solidFill>
              <a:srgbClr val="1B7FA6"/>
            </a:solidFill>
            <a:prstDash val="solid"/>
          </a:ln>
        </p:spPr>
      </p:sp>
      <p:sp>
        <p:nvSpPr>
          <p:cNvPr id="14" name="Text 12"/>
          <p:cNvSpPr/>
          <p:nvPr/>
        </p:nvSpPr>
        <p:spPr>
          <a:xfrm>
            <a:off x="457200" y="2834640"/>
            <a:ext cx="502920" cy="502920"/>
          </a:xfrm>
          <a:prstGeom prst="rect">
            <a:avLst/>
          </a:prstGeom>
          <a:noFill/>
          <a:ln/>
        </p:spPr>
        <p:txBody>
          <a:bodyPr wrap="square" lIns="0" tIns="0" rIns="0" bIns="0" rtlCol="0" anchor="ctr"/>
          <a:lstStyle/>
          <a:p>
            <a:pPr marL="0" indent="0" algn="ctr">
              <a:buNone/>
            </a:pPr>
            <a:r>
              <a:rPr lang="en-US" sz="1800" b="1" dirty="0">
                <a:solidFill>
                  <a:srgbClr val="FFFFFF"/>
                </a:solidFill>
              </a:rPr>
              <a:t>3</a:t>
            </a:r>
            <a:endParaRPr lang="en-US" sz="1800" dirty="0"/>
          </a:p>
        </p:txBody>
      </p:sp>
      <p:sp>
        <p:nvSpPr>
          <p:cNvPr id="15" name="Shape 13"/>
          <p:cNvSpPr/>
          <p:nvPr/>
        </p:nvSpPr>
        <p:spPr>
          <a:xfrm>
            <a:off x="1097280" y="2852928"/>
            <a:ext cx="7498080" cy="457200"/>
          </a:xfrm>
          <a:prstGeom prst="rect">
            <a:avLst/>
          </a:prstGeom>
          <a:solidFill>
            <a:srgbClr val="FFFFFF"/>
          </a:solidFill>
          <a:ln w="12700">
            <a:solidFill>
              <a:srgbClr val="CBD5E1"/>
            </a:solidFill>
            <a:prstDash val="solid"/>
          </a:ln>
        </p:spPr>
      </p:sp>
      <p:sp>
        <p:nvSpPr>
          <p:cNvPr id="16" name="Text 14"/>
          <p:cNvSpPr/>
          <p:nvPr/>
        </p:nvSpPr>
        <p:spPr>
          <a:xfrm>
            <a:off x="1234440" y="2852928"/>
            <a:ext cx="7315200" cy="457200"/>
          </a:xfrm>
          <a:prstGeom prst="rect">
            <a:avLst/>
          </a:prstGeom>
          <a:noFill/>
          <a:ln/>
        </p:spPr>
        <p:txBody>
          <a:bodyPr wrap="square" rtlCol="0" anchor="ctr"/>
          <a:lstStyle/>
          <a:p>
            <a:pPr marL="0" indent="0">
              <a:buNone/>
            </a:pPr>
            <a:r>
              <a:rPr lang="en-US" sz="1400" dirty="0">
                <a:solidFill>
                  <a:srgbClr val="0D1B2A"/>
                </a:solidFill>
                <a:latin typeface="Calibri" pitchFamily="34" charset="0"/>
                <a:ea typeface="Calibri" pitchFamily="34" charset="-122"/>
                <a:cs typeface="Calibri" pitchFamily="34" charset="-120"/>
              </a:rPr>
              <a:t>Select Platform Lists from the menu</a:t>
            </a:r>
            <a:endParaRPr lang="en-US" sz="1400" dirty="0"/>
          </a:p>
        </p:txBody>
      </p:sp>
      <p:sp>
        <p:nvSpPr>
          <p:cNvPr id="17" name="Shape 15"/>
          <p:cNvSpPr/>
          <p:nvPr/>
        </p:nvSpPr>
        <p:spPr>
          <a:xfrm>
            <a:off x="457200" y="3703320"/>
            <a:ext cx="502920" cy="502920"/>
          </a:xfrm>
          <a:prstGeom prst="rect">
            <a:avLst/>
          </a:prstGeom>
          <a:solidFill>
            <a:srgbClr val="1B7FA6"/>
          </a:solidFill>
          <a:ln w="12700">
            <a:solidFill>
              <a:srgbClr val="1B7FA6"/>
            </a:solidFill>
            <a:prstDash val="solid"/>
          </a:ln>
        </p:spPr>
      </p:sp>
      <p:sp>
        <p:nvSpPr>
          <p:cNvPr id="18" name="Text 16"/>
          <p:cNvSpPr/>
          <p:nvPr/>
        </p:nvSpPr>
        <p:spPr>
          <a:xfrm>
            <a:off x="457200" y="3703320"/>
            <a:ext cx="502920" cy="502920"/>
          </a:xfrm>
          <a:prstGeom prst="rect">
            <a:avLst/>
          </a:prstGeom>
          <a:noFill/>
          <a:ln/>
        </p:spPr>
        <p:txBody>
          <a:bodyPr wrap="square" lIns="0" tIns="0" rIns="0" bIns="0" rtlCol="0" anchor="ctr"/>
          <a:lstStyle/>
          <a:p>
            <a:pPr marL="0" indent="0" algn="ctr">
              <a:buNone/>
            </a:pPr>
            <a:r>
              <a:rPr lang="en-US" sz="1800" b="1" dirty="0">
                <a:solidFill>
                  <a:srgbClr val="FFFFFF"/>
                </a:solidFill>
              </a:rPr>
              <a:t>4</a:t>
            </a:r>
            <a:endParaRPr lang="en-US" sz="1800" dirty="0"/>
          </a:p>
        </p:txBody>
      </p:sp>
      <p:sp>
        <p:nvSpPr>
          <p:cNvPr id="19" name="Shape 17"/>
          <p:cNvSpPr/>
          <p:nvPr/>
        </p:nvSpPr>
        <p:spPr>
          <a:xfrm>
            <a:off x="1097280" y="3721608"/>
            <a:ext cx="7498080" cy="457200"/>
          </a:xfrm>
          <a:prstGeom prst="rect">
            <a:avLst/>
          </a:prstGeom>
          <a:solidFill>
            <a:srgbClr val="FFFFFF"/>
          </a:solidFill>
          <a:ln w="12700">
            <a:solidFill>
              <a:srgbClr val="CBD5E1"/>
            </a:solidFill>
            <a:prstDash val="solid"/>
          </a:ln>
        </p:spPr>
      </p:sp>
      <p:sp>
        <p:nvSpPr>
          <p:cNvPr id="20" name="Text 18"/>
          <p:cNvSpPr/>
          <p:nvPr/>
        </p:nvSpPr>
        <p:spPr>
          <a:xfrm>
            <a:off x="1234440" y="3721608"/>
            <a:ext cx="7315200" cy="457200"/>
          </a:xfrm>
          <a:prstGeom prst="rect">
            <a:avLst/>
          </a:prstGeom>
          <a:noFill/>
          <a:ln/>
        </p:spPr>
        <p:txBody>
          <a:bodyPr wrap="square" rtlCol="0" anchor="ctr"/>
          <a:lstStyle/>
          <a:p>
            <a:pPr marL="0" indent="0">
              <a:buNone/>
            </a:pPr>
            <a:r>
              <a:rPr lang="en-US" sz="1400" dirty="0">
                <a:solidFill>
                  <a:srgbClr val="0D1B2A"/>
                </a:solidFill>
                <a:latin typeface="Calibri" pitchFamily="34" charset="0"/>
                <a:ea typeface="Calibri" pitchFamily="34" charset="-122"/>
                <a:cs typeface="Calibri" pitchFamily="34" charset="-120"/>
              </a:rPr>
              <a:t>You will see the Platform List Items screen</a:t>
            </a:r>
            <a:endParaRPr lang="en-US" sz="1400" dirty="0"/>
          </a:p>
        </p:txBody>
      </p:sp>
    </p:spTree>
  </p:cSld>
  <p:clrMapOvr>
    <a:masterClrMapping/>
  </p:clrMapOvr>
  <mc:AlternateContent xmlns:mc="http://schemas.openxmlformats.org/markup-compatibility/2006">
    <mc:Choice xmlns:p14="http://schemas.microsoft.com/office/powerpoint/2010/main" Requires="p14">
      <p:transition p14:dur="0" advClick="0" advTm="10128">
        <p:fade/>
      </p:transition>
    </mc:Choice>
    <mc:Fallback>
      <p:transition advClick="0" advTm="10128">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2C39A"/>
          </a:solidFill>
          <a:ln w="12700">
            <a:solidFill>
              <a:srgbClr val="02C39A"/>
            </a:solidFill>
            <a:prstDash val="solid"/>
          </a:ln>
        </p:spPr>
      </p:sp>
      <p:sp>
        <p:nvSpPr>
          <p:cNvPr id="3" name="Shape 1"/>
          <p:cNvSpPr/>
          <p:nvPr/>
        </p:nvSpPr>
        <p:spPr>
          <a:xfrm>
            <a:off x="0" y="73152"/>
            <a:ext cx="9144000" cy="822960"/>
          </a:xfrm>
          <a:prstGeom prst="rect">
            <a:avLst/>
          </a:prstGeom>
          <a:solidFill>
            <a:srgbClr val="0D1B2A"/>
          </a:solidFill>
          <a:ln w="12700">
            <a:solidFill>
              <a:srgbClr val="0D1B2A"/>
            </a:solidFill>
            <a:prstDash val="solid"/>
          </a:ln>
        </p:spPr>
      </p:sp>
      <p:sp>
        <p:nvSpPr>
          <p:cNvPr id="4" name="Text 2"/>
          <p:cNvSpPr/>
          <p:nvPr/>
        </p:nvSpPr>
        <p:spPr>
          <a:xfrm>
            <a:off x="365760" y="91440"/>
            <a:ext cx="8229600" cy="786384"/>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Select Data Integration Manager</a:t>
            </a:r>
            <a:endParaRPr lang="en-US" sz="2200" dirty="0"/>
          </a:p>
        </p:txBody>
      </p:sp>
      <p:sp>
        <p:nvSpPr>
          <p:cNvPr id="5" name="Shape 3"/>
          <p:cNvSpPr/>
          <p:nvPr/>
        </p:nvSpPr>
        <p:spPr>
          <a:xfrm>
            <a:off x="457200" y="1051560"/>
            <a:ext cx="8229600" cy="3566160"/>
          </a:xfrm>
          <a:prstGeom prst="rect">
            <a:avLst/>
          </a:prstGeom>
          <a:solidFill>
            <a:srgbClr val="FFFFFF"/>
          </a:solidFill>
          <a:ln w="12700">
            <a:solidFill>
              <a:srgbClr val="CBD5E1"/>
            </a:solidFill>
            <a:prstDash val="solid"/>
          </a:ln>
        </p:spPr>
      </p:sp>
      <p:sp>
        <p:nvSpPr>
          <p:cNvPr id="6" name="Shape 4"/>
          <p:cNvSpPr/>
          <p:nvPr/>
        </p:nvSpPr>
        <p:spPr>
          <a:xfrm>
            <a:off x="457200" y="1051560"/>
            <a:ext cx="8229600" cy="411480"/>
          </a:xfrm>
          <a:prstGeom prst="rect">
            <a:avLst/>
          </a:prstGeom>
          <a:solidFill>
            <a:srgbClr val="0D1B2A"/>
          </a:solidFill>
          <a:ln w="12700">
            <a:solidFill>
              <a:srgbClr val="0D1B2A"/>
            </a:solidFill>
            <a:prstDash val="solid"/>
          </a:ln>
        </p:spPr>
      </p:sp>
      <p:sp>
        <p:nvSpPr>
          <p:cNvPr id="7" name="Text 5"/>
          <p:cNvSpPr/>
          <p:nvPr/>
        </p:nvSpPr>
        <p:spPr>
          <a:xfrm>
            <a:off x="640080" y="1051560"/>
            <a:ext cx="7315200" cy="411480"/>
          </a:xfrm>
          <a:prstGeom prst="rect">
            <a:avLst/>
          </a:prstGeom>
          <a:noFill/>
          <a:ln/>
        </p:spPr>
        <p:txBody>
          <a:bodyPr wrap="square"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Platform List Items</a:t>
            </a:r>
            <a:endParaRPr lang="en-US" sz="1300" dirty="0"/>
          </a:p>
        </p:txBody>
      </p:sp>
      <p:sp>
        <p:nvSpPr>
          <p:cNvPr id="8" name="Shape 6"/>
          <p:cNvSpPr/>
          <p:nvPr/>
        </p:nvSpPr>
        <p:spPr>
          <a:xfrm>
            <a:off x="457200" y="1463040"/>
            <a:ext cx="8229600" cy="457200"/>
          </a:xfrm>
          <a:prstGeom prst="rect">
            <a:avLst/>
          </a:prstGeom>
          <a:solidFill>
            <a:srgbClr val="1B7FA6"/>
          </a:solidFill>
          <a:ln w="6350">
            <a:solidFill>
              <a:srgbClr val="CBD5E1"/>
            </a:solidFill>
            <a:prstDash val="solid"/>
          </a:ln>
        </p:spPr>
      </p:sp>
      <p:sp>
        <p:nvSpPr>
          <p:cNvPr id="9" name="Shape 7"/>
          <p:cNvSpPr/>
          <p:nvPr/>
        </p:nvSpPr>
        <p:spPr>
          <a:xfrm>
            <a:off x="457200" y="1463040"/>
            <a:ext cx="54864" cy="457200"/>
          </a:xfrm>
          <a:prstGeom prst="rect">
            <a:avLst/>
          </a:prstGeom>
          <a:solidFill>
            <a:srgbClr val="02C39A"/>
          </a:solidFill>
          <a:ln w="12700">
            <a:solidFill>
              <a:srgbClr val="02C39A"/>
            </a:solidFill>
            <a:prstDash val="solid"/>
          </a:ln>
        </p:spPr>
      </p:sp>
      <p:sp>
        <p:nvSpPr>
          <p:cNvPr id="10" name="Text 8"/>
          <p:cNvSpPr/>
          <p:nvPr/>
        </p:nvSpPr>
        <p:spPr>
          <a:xfrm>
            <a:off x="640080" y="1463040"/>
            <a:ext cx="6400800" cy="457200"/>
          </a:xfrm>
          <a:prstGeom prst="rect">
            <a:avLst/>
          </a:prstGeom>
          <a:noFill/>
          <a:ln/>
        </p:spPr>
        <p:txBody>
          <a:bodyPr wrap="square"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Data Integration Manager</a:t>
            </a:r>
            <a:endParaRPr lang="en-US" sz="1300" dirty="0"/>
          </a:p>
        </p:txBody>
      </p:sp>
      <p:sp>
        <p:nvSpPr>
          <p:cNvPr id="11" name="Text 9"/>
          <p:cNvSpPr/>
          <p:nvPr/>
        </p:nvSpPr>
        <p:spPr>
          <a:xfrm>
            <a:off x="6858000" y="1463040"/>
            <a:ext cx="1645920" cy="457200"/>
          </a:xfrm>
          <a:prstGeom prst="rect">
            <a:avLst/>
          </a:prstGeom>
          <a:noFill/>
          <a:ln/>
        </p:spPr>
        <p:txBody>
          <a:bodyPr wrap="square" rtlCol="0" anchor="ctr"/>
          <a:lstStyle/>
          <a:p>
            <a:pPr marL="0" indent="0" algn="r">
              <a:buNone/>
            </a:pPr>
            <a:r>
              <a:rPr lang="en-US" sz="1100" i="1" dirty="0">
                <a:solidFill>
                  <a:srgbClr val="02C39A"/>
                </a:solidFill>
                <a:latin typeface="Calibri" pitchFamily="34" charset="0"/>
                <a:ea typeface="Calibri" pitchFamily="34" charset="-122"/>
                <a:cs typeface="Calibri" pitchFamily="34" charset="-120"/>
              </a:rPr>
              <a:t>← Select this</a:t>
            </a:r>
            <a:endParaRPr lang="en-US" sz="1100" dirty="0"/>
          </a:p>
        </p:txBody>
      </p:sp>
      <p:sp>
        <p:nvSpPr>
          <p:cNvPr id="12" name="Shape 10"/>
          <p:cNvSpPr/>
          <p:nvPr/>
        </p:nvSpPr>
        <p:spPr>
          <a:xfrm>
            <a:off x="457200" y="1938528"/>
            <a:ext cx="8229600" cy="457200"/>
          </a:xfrm>
          <a:prstGeom prst="rect">
            <a:avLst/>
          </a:prstGeom>
          <a:solidFill>
            <a:srgbClr val="FFFFFF"/>
          </a:solidFill>
          <a:ln w="6350">
            <a:solidFill>
              <a:srgbClr val="CBD5E1"/>
            </a:solidFill>
            <a:prstDash val="solid"/>
          </a:ln>
        </p:spPr>
      </p:sp>
      <p:sp>
        <p:nvSpPr>
          <p:cNvPr id="13" name="Text 11"/>
          <p:cNvSpPr/>
          <p:nvPr/>
        </p:nvSpPr>
        <p:spPr>
          <a:xfrm>
            <a:off x="640080" y="1938528"/>
            <a:ext cx="6400800" cy="457200"/>
          </a:xfrm>
          <a:prstGeom prst="rect">
            <a:avLst/>
          </a:prstGeom>
          <a:noFill/>
          <a:ln/>
        </p:spPr>
        <p:txBody>
          <a:bodyPr wrap="square" rtlCol="0" anchor="ctr"/>
          <a:lstStyle/>
          <a:p>
            <a:pPr marL="0" indent="0">
              <a:buNone/>
            </a:pPr>
            <a:r>
              <a:rPr lang="en-US" sz="1300" dirty="0">
                <a:solidFill>
                  <a:srgbClr val="0D1B2A"/>
                </a:solidFill>
                <a:latin typeface="Calibri" pitchFamily="34" charset="0"/>
                <a:ea typeface="Calibri" pitchFamily="34" charset="-122"/>
                <a:cs typeface="Calibri" pitchFamily="34" charset="-120"/>
              </a:rPr>
              <a:t>Data Elements</a:t>
            </a:r>
            <a:endParaRPr lang="en-US" sz="1300" dirty="0"/>
          </a:p>
        </p:txBody>
      </p:sp>
      <p:sp>
        <p:nvSpPr>
          <p:cNvPr id="14" name="Shape 12"/>
          <p:cNvSpPr/>
          <p:nvPr/>
        </p:nvSpPr>
        <p:spPr>
          <a:xfrm>
            <a:off x="457200" y="2414016"/>
            <a:ext cx="8229600" cy="457200"/>
          </a:xfrm>
          <a:prstGeom prst="rect">
            <a:avLst/>
          </a:prstGeom>
          <a:solidFill>
            <a:srgbClr val="F8FAFC"/>
          </a:solidFill>
          <a:ln w="6350">
            <a:solidFill>
              <a:srgbClr val="CBD5E1"/>
            </a:solidFill>
            <a:prstDash val="solid"/>
          </a:ln>
        </p:spPr>
      </p:sp>
      <p:sp>
        <p:nvSpPr>
          <p:cNvPr id="15" name="Text 13"/>
          <p:cNvSpPr/>
          <p:nvPr/>
        </p:nvSpPr>
        <p:spPr>
          <a:xfrm>
            <a:off x="640080" y="2414016"/>
            <a:ext cx="6400800" cy="457200"/>
          </a:xfrm>
          <a:prstGeom prst="rect">
            <a:avLst/>
          </a:prstGeom>
          <a:noFill/>
          <a:ln/>
        </p:spPr>
        <p:txBody>
          <a:bodyPr wrap="square" rtlCol="0" anchor="ctr"/>
          <a:lstStyle/>
          <a:p>
            <a:pPr marL="0" indent="0">
              <a:buNone/>
            </a:pPr>
            <a:r>
              <a:rPr lang="en-US" sz="1300" dirty="0">
                <a:solidFill>
                  <a:srgbClr val="0D1B2A"/>
                </a:solidFill>
                <a:latin typeface="Calibri" pitchFamily="34" charset="0"/>
                <a:ea typeface="Calibri" pitchFamily="34" charset="-122"/>
                <a:cs typeface="Calibri" pitchFamily="34" charset="-120"/>
              </a:rPr>
              <a:t>Detection Process</a:t>
            </a:r>
            <a:endParaRPr lang="en-US" sz="1300" dirty="0"/>
          </a:p>
        </p:txBody>
      </p:sp>
      <p:sp>
        <p:nvSpPr>
          <p:cNvPr id="16" name="Shape 14"/>
          <p:cNvSpPr/>
          <p:nvPr/>
        </p:nvSpPr>
        <p:spPr>
          <a:xfrm>
            <a:off x="457200" y="2889504"/>
            <a:ext cx="8229600" cy="457200"/>
          </a:xfrm>
          <a:prstGeom prst="rect">
            <a:avLst/>
          </a:prstGeom>
          <a:solidFill>
            <a:srgbClr val="FFFFFF"/>
          </a:solidFill>
          <a:ln w="6350">
            <a:solidFill>
              <a:srgbClr val="CBD5E1"/>
            </a:solidFill>
            <a:prstDash val="solid"/>
          </a:ln>
        </p:spPr>
      </p:sp>
      <p:sp>
        <p:nvSpPr>
          <p:cNvPr id="17" name="Text 15"/>
          <p:cNvSpPr/>
          <p:nvPr/>
        </p:nvSpPr>
        <p:spPr>
          <a:xfrm>
            <a:off x="640080" y="2889504"/>
            <a:ext cx="6400800" cy="457200"/>
          </a:xfrm>
          <a:prstGeom prst="rect">
            <a:avLst/>
          </a:prstGeom>
          <a:noFill/>
          <a:ln/>
        </p:spPr>
        <p:txBody>
          <a:bodyPr wrap="square" rtlCol="0" anchor="ctr"/>
          <a:lstStyle/>
          <a:p>
            <a:pPr marL="0" indent="0">
              <a:buNone/>
            </a:pPr>
            <a:r>
              <a:rPr lang="en-US" sz="1300" dirty="0">
                <a:solidFill>
                  <a:srgbClr val="0D1B2A"/>
                </a:solidFill>
                <a:latin typeface="Calibri" pitchFamily="34" charset="0"/>
                <a:ea typeface="Calibri" pitchFamily="34" charset="-122"/>
                <a:cs typeface="Calibri" pitchFamily="34" charset="-120"/>
              </a:rPr>
              <a:t>System Configuration</a:t>
            </a:r>
            <a:endParaRPr lang="en-US" sz="1300" dirty="0"/>
          </a:p>
        </p:txBody>
      </p:sp>
      <p:sp>
        <p:nvSpPr>
          <p:cNvPr id="18" name="Shape 16"/>
          <p:cNvSpPr/>
          <p:nvPr/>
        </p:nvSpPr>
        <p:spPr>
          <a:xfrm>
            <a:off x="457200" y="3364992"/>
            <a:ext cx="8229600" cy="457200"/>
          </a:xfrm>
          <a:prstGeom prst="rect">
            <a:avLst/>
          </a:prstGeom>
          <a:solidFill>
            <a:srgbClr val="F8FAFC"/>
          </a:solidFill>
          <a:ln w="6350">
            <a:solidFill>
              <a:srgbClr val="CBD5E1"/>
            </a:solidFill>
            <a:prstDash val="solid"/>
          </a:ln>
        </p:spPr>
      </p:sp>
      <p:sp>
        <p:nvSpPr>
          <p:cNvPr id="19" name="Text 17"/>
          <p:cNvSpPr/>
          <p:nvPr/>
        </p:nvSpPr>
        <p:spPr>
          <a:xfrm>
            <a:off x="640080" y="3364992"/>
            <a:ext cx="6400800" cy="457200"/>
          </a:xfrm>
          <a:prstGeom prst="rect">
            <a:avLst/>
          </a:prstGeom>
          <a:noFill/>
          <a:ln/>
        </p:spPr>
        <p:txBody>
          <a:bodyPr wrap="square" rtlCol="0" anchor="ctr"/>
          <a:lstStyle/>
          <a:p>
            <a:pPr marL="0" indent="0">
              <a:buNone/>
            </a:pPr>
            <a:r>
              <a:rPr lang="en-US" sz="1300" dirty="0">
                <a:solidFill>
                  <a:srgbClr val="0D1B2A"/>
                </a:solidFill>
                <a:latin typeface="Calibri" pitchFamily="34" charset="0"/>
                <a:ea typeface="Calibri" pitchFamily="34" charset="-122"/>
                <a:cs typeface="Calibri" pitchFamily="34" charset="-120"/>
              </a:rPr>
              <a:t>Alert Rules</a:t>
            </a:r>
            <a:endParaRPr lang="en-US" sz="1300" dirty="0"/>
          </a:p>
        </p:txBody>
      </p:sp>
    </p:spTree>
  </p:cSld>
  <p:clrMapOvr>
    <a:masterClrMapping/>
  </p:clrMapOvr>
  <mc:AlternateContent xmlns:mc="http://schemas.openxmlformats.org/markup-compatibility/2006">
    <mc:Choice xmlns:p14="http://schemas.microsoft.com/office/powerpoint/2010/main" Requires="p14">
      <p:transition p14:dur="0" advClick="0" advTm="4656">
        <p:fade/>
      </p:transition>
    </mc:Choice>
    <mc:Fallback>
      <p:transition advClick="0" advTm="4656">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2C39A"/>
          </a:solidFill>
          <a:ln w="12700">
            <a:solidFill>
              <a:srgbClr val="02C39A"/>
            </a:solidFill>
            <a:prstDash val="solid"/>
          </a:ln>
        </p:spPr>
      </p:sp>
      <p:sp>
        <p:nvSpPr>
          <p:cNvPr id="3" name="Shape 1"/>
          <p:cNvSpPr/>
          <p:nvPr/>
        </p:nvSpPr>
        <p:spPr>
          <a:xfrm>
            <a:off x="0" y="73152"/>
            <a:ext cx="9144000" cy="822960"/>
          </a:xfrm>
          <a:prstGeom prst="rect">
            <a:avLst/>
          </a:prstGeom>
          <a:solidFill>
            <a:srgbClr val="0D1B2A"/>
          </a:solidFill>
          <a:ln w="12700">
            <a:solidFill>
              <a:srgbClr val="0D1B2A"/>
            </a:solidFill>
            <a:prstDash val="solid"/>
          </a:ln>
        </p:spPr>
      </p:sp>
      <p:sp>
        <p:nvSpPr>
          <p:cNvPr id="4" name="Text 2"/>
          <p:cNvSpPr/>
          <p:nvPr/>
        </p:nvSpPr>
        <p:spPr>
          <a:xfrm>
            <a:off x="365760" y="91440"/>
            <a:ext cx="8229600" cy="786384"/>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Add a New Platform List Item</a:t>
            </a:r>
            <a:endParaRPr lang="en-US" sz="2200" dirty="0"/>
          </a:p>
        </p:txBody>
      </p:sp>
      <p:sp>
        <p:nvSpPr>
          <p:cNvPr id="5" name="Text 3"/>
          <p:cNvSpPr/>
          <p:nvPr/>
        </p:nvSpPr>
        <p:spPr>
          <a:xfrm>
            <a:off x="457200" y="1097280"/>
            <a:ext cx="3931920" cy="365760"/>
          </a:xfrm>
          <a:prstGeom prst="rect">
            <a:avLst/>
          </a:prstGeom>
          <a:noFill/>
          <a:ln/>
        </p:spPr>
        <p:txBody>
          <a:bodyPr wrap="square" rtlCol="0" anchor="ctr"/>
          <a:lstStyle/>
          <a:p>
            <a:pPr marL="0" indent="0">
              <a:buNone/>
            </a:pPr>
            <a:r>
              <a:rPr lang="en-US" sz="1400" b="1" dirty="0">
                <a:solidFill>
                  <a:srgbClr val="0E5C7A"/>
                </a:solidFill>
                <a:latin typeface="Calibri" pitchFamily="34" charset="0"/>
                <a:ea typeface="Calibri" pitchFamily="34" charset="-122"/>
                <a:cs typeface="Calibri" pitchFamily="34" charset="-120"/>
              </a:rPr>
              <a:t>How to add a new item:</a:t>
            </a:r>
            <a:endParaRPr lang="en-US" sz="1400" dirty="0"/>
          </a:p>
        </p:txBody>
      </p:sp>
      <p:sp>
        <p:nvSpPr>
          <p:cNvPr id="6" name="Shape 4"/>
          <p:cNvSpPr/>
          <p:nvPr/>
        </p:nvSpPr>
        <p:spPr>
          <a:xfrm>
            <a:off x="457200" y="1572768"/>
            <a:ext cx="320040" cy="320040"/>
          </a:xfrm>
          <a:prstGeom prst="ellipse">
            <a:avLst/>
          </a:prstGeom>
          <a:solidFill>
            <a:srgbClr val="1B7FA6"/>
          </a:solidFill>
          <a:ln w="12700">
            <a:solidFill>
              <a:srgbClr val="1B7FA6"/>
            </a:solidFill>
            <a:prstDash val="solid"/>
          </a:ln>
        </p:spPr>
      </p:sp>
      <p:sp>
        <p:nvSpPr>
          <p:cNvPr id="7" name="Text 5"/>
          <p:cNvSpPr/>
          <p:nvPr/>
        </p:nvSpPr>
        <p:spPr>
          <a:xfrm>
            <a:off x="457200" y="1572768"/>
            <a:ext cx="320040" cy="320040"/>
          </a:xfrm>
          <a:prstGeom prst="rect">
            <a:avLst/>
          </a:prstGeom>
          <a:noFill/>
          <a:ln/>
        </p:spPr>
        <p:txBody>
          <a:bodyPr wrap="square" lIns="0" tIns="0" rIns="0" bIns="0" rtlCol="0" anchor="ctr"/>
          <a:lstStyle/>
          <a:p>
            <a:pPr marL="0" indent="0" algn="ctr">
              <a:buNone/>
            </a:pPr>
            <a:r>
              <a:rPr lang="en-US" sz="1100" b="1" dirty="0">
                <a:solidFill>
                  <a:srgbClr val="FFFFFF"/>
                </a:solidFill>
              </a:rPr>
              <a:t>1</a:t>
            </a:r>
            <a:endParaRPr lang="en-US" sz="1100" dirty="0"/>
          </a:p>
        </p:txBody>
      </p:sp>
      <p:sp>
        <p:nvSpPr>
          <p:cNvPr id="8" name="Text 6"/>
          <p:cNvSpPr/>
          <p:nvPr/>
        </p:nvSpPr>
        <p:spPr>
          <a:xfrm>
            <a:off x="914400" y="1572768"/>
            <a:ext cx="3474720" cy="548640"/>
          </a:xfrm>
          <a:prstGeom prst="rect">
            <a:avLst/>
          </a:prstGeom>
          <a:noFill/>
          <a:ln/>
        </p:spPr>
        <p:txBody>
          <a:bodyPr wrap="square" rtlCol="0" anchor="ctr"/>
          <a:lstStyle/>
          <a:p>
            <a:pPr marL="0" indent="0">
              <a:buNone/>
            </a:pPr>
            <a:r>
              <a:rPr lang="en-US" sz="1200" dirty="0">
                <a:solidFill>
                  <a:srgbClr val="0D1B2A"/>
                </a:solidFill>
                <a:latin typeface="Calibri" pitchFamily="34" charset="0"/>
                <a:ea typeface="Calibri" pitchFamily="34" charset="-122"/>
                <a:cs typeface="Calibri" pitchFamily="34" charset="-120"/>
              </a:rPr>
              <a:t>Click the + New Item icon in the toolbar</a:t>
            </a:r>
            <a:endParaRPr lang="en-US" sz="1200" dirty="0"/>
          </a:p>
        </p:txBody>
      </p:sp>
      <p:sp>
        <p:nvSpPr>
          <p:cNvPr id="9" name="Shape 7"/>
          <p:cNvSpPr/>
          <p:nvPr/>
        </p:nvSpPr>
        <p:spPr>
          <a:xfrm>
            <a:off x="457200" y="2322576"/>
            <a:ext cx="320040" cy="320040"/>
          </a:xfrm>
          <a:prstGeom prst="ellipse">
            <a:avLst/>
          </a:prstGeom>
          <a:solidFill>
            <a:srgbClr val="1B7FA6"/>
          </a:solidFill>
          <a:ln w="12700">
            <a:solidFill>
              <a:srgbClr val="1B7FA6"/>
            </a:solidFill>
            <a:prstDash val="solid"/>
          </a:ln>
        </p:spPr>
      </p:sp>
      <p:sp>
        <p:nvSpPr>
          <p:cNvPr id="10" name="Text 8"/>
          <p:cNvSpPr/>
          <p:nvPr/>
        </p:nvSpPr>
        <p:spPr>
          <a:xfrm>
            <a:off x="457200" y="2322576"/>
            <a:ext cx="320040" cy="320040"/>
          </a:xfrm>
          <a:prstGeom prst="rect">
            <a:avLst/>
          </a:prstGeom>
          <a:noFill/>
          <a:ln/>
        </p:spPr>
        <p:txBody>
          <a:bodyPr wrap="square" lIns="0" tIns="0" rIns="0" bIns="0" rtlCol="0" anchor="ctr"/>
          <a:lstStyle/>
          <a:p>
            <a:pPr marL="0" indent="0" algn="ctr">
              <a:buNone/>
            </a:pPr>
            <a:r>
              <a:rPr lang="en-US" sz="1100" b="1" dirty="0">
                <a:solidFill>
                  <a:srgbClr val="FFFFFF"/>
                </a:solidFill>
              </a:rPr>
              <a:t>2</a:t>
            </a:r>
            <a:endParaRPr lang="en-US" sz="1100" dirty="0"/>
          </a:p>
        </p:txBody>
      </p:sp>
      <p:sp>
        <p:nvSpPr>
          <p:cNvPr id="11" name="Text 9"/>
          <p:cNvSpPr/>
          <p:nvPr/>
        </p:nvSpPr>
        <p:spPr>
          <a:xfrm>
            <a:off x="914400" y="2322576"/>
            <a:ext cx="3474720" cy="548640"/>
          </a:xfrm>
          <a:prstGeom prst="rect">
            <a:avLst/>
          </a:prstGeom>
          <a:noFill/>
          <a:ln/>
        </p:spPr>
        <p:txBody>
          <a:bodyPr wrap="square" rtlCol="0" anchor="ctr"/>
          <a:lstStyle/>
          <a:p>
            <a:pPr marL="0" indent="0">
              <a:buNone/>
            </a:pPr>
            <a:r>
              <a:rPr lang="en-US" sz="1200" dirty="0">
                <a:solidFill>
                  <a:srgbClr val="0D1B2A"/>
                </a:solidFill>
                <a:latin typeface="Calibri" pitchFamily="34" charset="0"/>
                <a:ea typeface="Calibri" pitchFamily="34" charset="-122"/>
                <a:cs typeface="Calibri" pitchFamily="34" charset="-120"/>
              </a:rPr>
              <a:t>The New Platform List Item wizard opens</a:t>
            </a:r>
            <a:endParaRPr lang="en-US" sz="1200" dirty="0"/>
          </a:p>
        </p:txBody>
      </p:sp>
      <p:sp>
        <p:nvSpPr>
          <p:cNvPr id="12" name="Shape 10"/>
          <p:cNvSpPr/>
          <p:nvPr/>
        </p:nvSpPr>
        <p:spPr>
          <a:xfrm>
            <a:off x="457200" y="3072384"/>
            <a:ext cx="320040" cy="320040"/>
          </a:xfrm>
          <a:prstGeom prst="ellipse">
            <a:avLst/>
          </a:prstGeom>
          <a:solidFill>
            <a:srgbClr val="1B7FA6"/>
          </a:solidFill>
          <a:ln w="12700">
            <a:solidFill>
              <a:srgbClr val="1B7FA6"/>
            </a:solidFill>
            <a:prstDash val="solid"/>
          </a:ln>
        </p:spPr>
      </p:sp>
      <p:sp>
        <p:nvSpPr>
          <p:cNvPr id="13" name="Text 11"/>
          <p:cNvSpPr/>
          <p:nvPr/>
        </p:nvSpPr>
        <p:spPr>
          <a:xfrm>
            <a:off x="457200" y="3072384"/>
            <a:ext cx="320040" cy="320040"/>
          </a:xfrm>
          <a:prstGeom prst="rect">
            <a:avLst/>
          </a:prstGeom>
          <a:noFill/>
          <a:ln/>
        </p:spPr>
        <p:txBody>
          <a:bodyPr wrap="square" lIns="0" tIns="0" rIns="0" bIns="0" rtlCol="0" anchor="ctr"/>
          <a:lstStyle/>
          <a:p>
            <a:pPr marL="0" indent="0" algn="ctr">
              <a:buNone/>
            </a:pPr>
            <a:r>
              <a:rPr lang="en-US" sz="1100" b="1" dirty="0">
                <a:solidFill>
                  <a:srgbClr val="FFFFFF"/>
                </a:solidFill>
              </a:rPr>
              <a:t>3</a:t>
            </a:r>
            <a:endParaRPr lang="en-US" sz="1100" dirty="0"/>
          </a:p>
        </p:txBody>
      </p:sp>
      <p:sp>
        <p:nvSpPr>
          <p:cNvPr id="14" name="Text 12"/>
          <p:cNvSpPr/>
          <p:nvPr/>
        </p:nvSpPr>
        <p:spPr>
          <a:xfrm>
            <a:off x="914400" y="3072384"/>
            <a:ext cx="3474720" cy="548640"/>
          </a:xfrm>
          <a:prstGeom prst="rect">
            <a:avLst/>
          </a:prstGeom>
          <a:noFill/>
          <a:ln/>
        </p:spPr>
        <p:txBody>
          <a:bodyPr wrap="square" rtlCol="0" anchor="ctr"/>
          <a:lstStyle/>
          <a:p>
            <a:pPr marL="0" indent="0">
              <a:buNone/>
            </a:pPr>
            <a:r>
              <a:rPr lang="en-US" sz="1200" dirty="0">
                <a:solidFill>
                  <a:srgbClr val="0D1B2A"/>
                </a:solidFill>
                <a:latin typeface="Calibri" pitchFamily="34" charset="0"/>
                <a:ea typeface="Calibri" pitchFamily="34" charset="-122"/>
                <a:cs typeface="Calibri" pitchFamily="34" charset="-120"/>
              </a:rPr>
              <a:t>Follow the wizard steps to configure the data stream</a:t>
            </a:r>
            <a:endParaRPr lang="en-US" sz="1200" dirty="0"/>
          </a:p>
        </p:txBody>
      </p:sp>
      <p:sp>
        <p:nvSpPr>
          <p:cNvPr id="15" name="Shape 13"/>
          <p:cNvSpPr/>
          <p:nvPr/>
        </p:nvSpPr>
        <p:spPr>
          <a:xfrm>
            <a:off x="4572000" y="1051560"/>
            <a:ext cx="4114800" cy="3749040"/>
          </a:xfrm>
          <a:prstGeom prst="rect">
            <a:avLst/>
          </a:prstGeom>
          <a:solidFill>
            <a:srgbClr val="FFFFFF"/>
          </a:solidFill>
          <a:ln w="19050">
            <a:solidFill>
              <a:srgbClr val="1B7FA6"/>
            </a:solidFill>
            <a:prstDash val="solid"/>
          </a:ln>
          <a:effectLst>
            <a:outerShdw blurRad="101600" dist="38100" dir="8100000" algn="bl" rotWithShape="0">
              <a:srgbClr val="000000">
                <a:alpha val="12000"/>
              </a:srgbClr>
            </a:outerShdw>
          </a:effectLst>
        </p:spPr>
      </p:sp>
      <p:sp>
        <p:nvSpPr>
          <p:cNvPr id="16" name="Shape 14"/>
          <p:cNvSpPr/>
          <p:nvPr/>
        </p:nvSpPr>
        <p:spPr>
          <a:xfrm>
            <a:off x="4572000" y="1051560"/>
            <a:ext cx="4114800" cy="457200"/>
          </a:xfrm>
          <a:prstGeom prst="rect">
            <a:avLst/>
          </a:prstGeom>
          <a:solidFill>
            <a:srgbClr val="1B7FA6"/>
          </a:solidFill>
          <a:ln w="12700">
            <a:solidFill>
              <a:srgbClr val="1B7FA6"/>
            </a:solidFill>
            <a:prstDash val="solid"/>
          </a:ln>
        </p:spPr>
      </p:sp>
      <p:sp>
        <p:nvSpPr>
          <p:cNvPr id="17" name="Text 15"/>
          <p:cNvSpPr/>
          <p:nvPr/>
        </p:nvSpPr>
        <p:spPr>
          <a:xfrm>
            <a:off x="4617720" y="1051560"/>
            <a:ext cx="4023360" cy="457200"/>
          </a:xfrm>
          <a:prstGeom prst="rect">
            <a:avLst/>
          </a:prstGeom>
          <a:noFill/>
          <a:ln/>
        </p:spPr>
        <p:txBody>
          <a:bodyPr wrap="square"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New Platform List Item</a:t>
            </a:r>
            <a:endParaRPr lang="en-US" sz="1300" dirty="0"/>
          </a:p>
        </p:txBody>
      </p:sp>
      <p:sp>
        <p:nvSpPr>
          <p:cNvPr id="18" name="Text 16"/>
          <p:cNvSpPr/>
          <p:nvPr/>
        </p:nvSpPr>
        <p:spPr>
          <a:xfrm>
            <a:off x="4709160" y="1627632"/>
            <a:ext cx="3749040" cy="274320"/>
          </a:xfrm>
          <a:prstGeom prst="rect">
            <a:avLst/>
          </a:prstGeom>
          <a:noFill/>
          <a:ln/>
        </p:spPr>
        <p:txBody>
          <a:bodyPr wrap="square" lIns="0" tIns="0" rIns="0" bIns="0" rtlCol="0" anchor="ctr"/>
          <a:lstStyle/>
          <a:p>
            <a:pPr marL="0" indent="0">
              <a:buNone/>
            </a:pPr>
            <a:r>
              <a:rPr lang="en-US" sz="1100" b="1" dirty="0">
                <a:solidFill>
                  <a:srgbClr val="0D1B2A"/>
                </a:solidFill>
                <a:latin typeface="Calibri" pitchFamily="34" charset="0"/>
                <a:ea typeface="Calibri" pitchFamily="34" charset="-122"/>
                <a:cs typeface="Calibri" pitchFamily="34" charset="-120"/>
              </a:rPr>
              <a:t>Data Stream Identifier *</a:t>
            </a:r>
            <a:endParaRPr lang="en-US" sz="1100" dirty="0"/>
          </a:p>
        </p:txBody>
      </p:sp>
      <p:sp>
        <p:nvSpPr>
          <p:cNvPr id="19" name="Shape 17"/>
          <p:cNvSpPr/>
          <p:nvPr/>
        </p:nvSpPr>
        <p:spPr>
          <a:xfrm>
            <a:off x="4709160" y="1920240"/>
            <a:ext cx="3749040" cy="292608"/>
          </a:xfrm>
          <a:prstGeom prst="rect">
            <a:avLst/>
          </a:prstGeom>
          <a:solidFill>
            <a:srgbClr val="F8FAFC"/>
          </a:solidFill>
          <a:ln w="12700">
            <a:solidFill>
              <a:srgbClr val="CBD5E1"/>
            </a:solidFill>
            <a:prstDash val="solid"/>
          </a:ln>
        </p:spPr>
      </p:sp>
      <p:sp>
        <p:nvSpPr>
          <p:cNvPr id="20" name="Text 18"/>
          <p:cNvSpPr/>
          <p:nvPr/>
        </p:nvSpPr>
        <p:spPr>
          <a:xfrm>
            <a:off x="4709160" y="2450592"/>
            <a:ext cx="3749040" cy="274320"/>
          </a:xfrm>
          <a:prstGeom prst="rect">
            <a:avLst/>
          </a:prstGeom>
          <a:noFill/>
          <a:ln/>
        </p:spPr>
        <p:txBody>
          <a:bodyPr wrap="square" lIns="0" tIns="0" rIns="0" bIns="0" rtlCol="0" anchor="ctr"/>
          <a:lstStyle/>
          <a:p>
            <a:pPr marL="0" indent="0">
              <a:buNone/>
            </a:pPr>
            <a:r>
              <a:rPr lang="en-US" sz="1100" b="1" dirty="0">
                <a:solidFill>
                  <a:srgbClr val="0D1B2A"/>
                </a:solidFill>
                <a:latin typeface="Calibri" pitchFamily="34" charset="0"/>
                <a:ea typeface="Calibri" pitchFamily="34" charset="-122"/>
                <a:cs typeface="Calibri" pitchFamily="34" charset="-120"/>
              </a:rPr>
              <a:t>Data Stream Name *</a:t>
            </a:r>
            <a:endParaRPr lang="en-US" sz="1100" dirty="0"/>
          </a:p>
        </p:txBody>
      </p:sp>
      <p:sp>
        <p:nvSpPr>
          <p:cNvPr id="21" name="Shape 19"/>
          <p:cNvSpPr/>
          <p:nvPr/>
        </p:nvSpPr>
        <p:spPr>
          <a:xfrm>
            <a:off x="4709160" y="2743200"/>
            <a:ext cx="3749040" cy="292608"/>
          </a:xfrm>
          <a:prstGeom prst="rect">
            <a:avLst/>
          </a:prstGeom>
          <a:solidFill>
            <a:srgbClr val="F8FAFC"/>
          </a:solidFill>
          <a:ln w="12700">
            <a:solidFill>
              <a:srgbClr val="CBD5E1"/>
            </a:solidFill>
            <a:prstDash val="solid"/>
          </a:ln>
        </p:spPr>
      </p:sp>
      <p:sp>
        <p:nvSpPr>
          <p:cNvPr id="22" name="Text 20"/>
          <p:cNvSpPr/>
          <p:nvPr/>
        </p:nvSpPr>
        <p:spPr>
          <a:xfrm>
            <a:off x="4709160" y="3273552"/>
            <a:ext cx="3749040" cy="274320"/>
          </a:xfrm>
          <a:prstGeom prst="rect">
            <a:avLst/>
          </a:prstGeom>
          <a:noFill/>
          <a:ln/>
        </p:spPr>
        <p:txBody>
          <a:bodyPr wrap="square" lIns="0" tIns="0" rIns="0" bIns="0" rtlCol="0" anchor="ctr"/>
          <a:lstStyle/>
          <a:p>
            <a:pPr marL="0" indent="0">
              <a:buNone/>
            </a:pPr>
            <a:r>
              <a:rPr lang="en-US" sz="1100" b="1" dirty="0">
                <a:solidFill>
                  <a:srgbClr val="0D1B2A"/>
                </a:solidFill>
                <a:latin typeface="Calibri" pitchFamily="34" charset="0"/>
                <a:ea typeface="Calibri" pitchFamily="34" charset="-122"/>
                <a:cs typeface="Calibri" pitchFamily="34" charset="-120"/>
              </a:rPr>
              <a:t>Description</a:t>
            </a:r>
            <a:endParaRPr lang="en-US" sz="1100" dirty="0"/>
          </a:p>
        </p:txBody>
      </p:sp>
      <p:sp>
        <p:nvSpPr>
          <p:cNvPr id="23" name="Shape 21"/>
          <p:cNvSpPr/>
          <p:nvPr/>
        </p:nvSpPr>
        <p:spPr>
          <a:xfrm>
            <a:off x="4709160" y="3566160"/>
            <a:ext cx="3749040" cy="292608"/>
          </a:xfrm>
          <a:prstGeom prst="rect">
            <a:avLst/>
          </a:prstGeom>
          <a:solidFill>
            <a:srgbClr val="F8FAFC"/>
          </a:solidFill>
          <a:ln w="12700">
            <a:solidFill>
              <a:srgbClr val="CBD5E1"/>
            </a:solidFill>
            <a:prstDash val="solid"/>
          </a:ln>
        </p:spPr>
      </p:sp>
      <p:sp>
        <p:nvSpPr>
          <p:cNvPr id="24" name="Text 22"/>
          <p:cNvSpPr/>
          <p:nvPr/>
        </p:nvSpPr>
        <p:spPr>
          <a:xfrm>
            <a:off x="4709160" y="4297680"/>
            <a:ext cx="3749040" cy="274320"/>
          </a:xfrm>
          <a:prstGeom prst="rect">
            <a:avLst/>
          </a:prstGeom>
          <a:noFill/>
          <a:ln/>
        </p:spPr>
        <p:txBody>
          <a:bodyPr wrap="square" rtlCol="0" anchor="ctr"/>
          <a:lstStyle/>
          <a:p>
            <a:pPr marL="0" indent="0">
              <a:buNone/>
            </a:pPr>
            <a:r>
              <a:rPr lang="en-US" sz="1000" i="1" dirty="0">
                <a:solidFill>
                  <a:srgbClr val="64748B"/>
                </a:solidFill>
                <a:latin typeface="Calibri" pitchFamily="34" charset="0"/>
                <a:ea typeface="Calibri" pitchFamily="34" charset="-122"/>
                <a:cs typeface="Calibri" pitchFamily="34" charset="-120"/>
              </a:rPr>
              <a:t>* Required fields</a:t>
            </a:r>
            <a:endParaRPr lang="en-US" sz="1000" dirty="0"/>
          </a:p>
        </p:txBody>
      </p:sp>
    </p:spTree>
  </p:cSld>
  <p:clrMapOvr>
    <a:masterClrMapping/>
  </p:clrMapOvr>
  <mc:AlternateContent xmlns:mc="http://schemas.openxmlformats.org/markup-compatibility/2006">
    <mc:Choice xmlns:p14="http://schemas.microsoft.com/office/powerpoint/2010/main" Requires="p14">
      <p:transition p14:dur="0" advClick="0" advTm="7080">
        <p:fade/>
      </p:transition>
    </mc:Choice>
    <mc:Fallback>
      <p:transition advClick="0" advTm="7080">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2C39A"/>
          </a:solidFill>
          <a:ln w="12700">
            <a:solidFill>
              <a:srgbClr val="02C39A"/>
            </a:solidFill>
            <a:prstDash val="solid"/>
          </a:ln>
        </p:spPr>
      </p:sp>
      <p:sp>
        <p:nvSpPr>
          <p:cNvPr id="3" name="Shape 1"/>
          <p:cNvSpPr/>
          <p:nvPr/>
        </p:nvSpPr>
        <p:spPr>
          <a:xfrm>
            <a:off x="0" y="73152"/>
            <a:ext cx="9144000" cy="822960"/>
          </a:xfrm>
          <a:prstGeom prst="rect">
            <a:avLst/>
          </a:prstGeom>
          <a:solidFill>
            <a:srgbClr val="0D1B2A"/>
          </a:solidFill>
          <a:ln w="12700">
            <a:solidFill>
              <a:srgbClr val="0D1B2A"/>
            </a:solidFill>
            <a:prstDash val="solid"/>
          </a:ln>
        </p:spPr>
      </p:sp>
      <p:sp>
        <p:nvSpPr>
          <p:cNvPr id="4" name="Text 2"/>
          <p:cNvSpPr/>
          <p:nvPr/>
        </p:nvSpPr>
        <p:spPr>
          <a:xfrm>
            <a:off x="365760" y="91440"/>
            <a:ext cx="8229600" cy="786384"/>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Configuring Data Stream Fields</a:t>
            </a:r>
            <a:endParaRPr lang="en-US" sz="2200" dirty="0"/>
          </a:p>
        </p:txBody>
      </p:sp>
      <p:sp>
        <p:nvSpPr>
          <p:cNvPr id="5" name="Shape 3"/>
          <p:cNvSpPr/>
          <p:nvPr/>
        </p:nvSpPr>
        <p:spPr>
          <a:xfrm>
            <a:off x="365760" y="1051560"/>
            <a:ext cx="8412480" cy="1097280"/>
          </a:xfrm>
          <a:prstGeom prst="rect">
            <a:avLst/>
          </a:prstGeom>
          <a:solidFill>
            <a:srgbClr val="FFFFFF"/>
          </a:solidFill>
          <a:ln w="12700">
            <a:solidFill>
              <a:srgbClr val="CBD5E1"/>
            </a:solidFill>
            <a:prstDash val="solid"/>
          </a:ln>
          <a:effectLst>
            <a:outerShdw blurRad="38100" dist="25400" dir="8100000" algn="bl" rotWithShape="0">
              <a:srgbClr val="000000">
                <a:alpha val="7000"/>
              </a:srgbClr>
            </a:outerShdw>
          </a:effectLst>
        </p:spPr>
      </p:sp>
      <p:sp>
        <p:nvSpPr>
          <p:cNvPr id="6" name="Shape 4"/>
          <p:cNvSpPr/>
          <p:nvPr/>
        </p:nvSpPr>
        <p:spPr>
          <a:xfrm>
            <a:off x="365760" y="1051560"/>
            <a:ext cx="64008" cy="1097280"/>
          </a:xfrm>
          <a:prstGeom prst="rect">
            <a:avLst/>
          </a:prstGeom>
          <a:solidFill>
            <a:srgbClr val="1B7FA6"/>
          </a:solidFill>
          <a:ln w="12700">
            <a:solidFill>
              <a:srgbClr val="1B7FA6"/>
            </a:solidFill>
            <a:prstDash val="solid"/>
          </a:ln>
        </p:spPr>
      </p:sp>
      <p:sp>
        <p:nvSpPr>
          <p:cNvPr id="7" name="Text 5"/>
          <p:cNvSpPr/>
          <p:nvPr/>
        </p:nvSpPr>
        <p:spPr>
          <a:xfrm>
            <a:off x="594360" y="1143000"/>
            <a:ext cx="4572000" cy="365760"/>
          </a:xfrm>
          <a:prstGeom prst="rect">
            <a:avLst/>
          </a:prstGeom>
          <a:noFill/>
          <a:ln/>
        </p:spPr>
        <p:txBody>
          <a:bodyPr wrap="square" lIns="0" tIns="0" rIns="0" bIns="0" rtlCol="0" anchor="ctr"/>
          <a:lstStyle/>
          <a:p>
            <a:pPr marL="0" indent="0">
              <a:buNone/>
            </a:pPr>
            <a:r>
              <a:rPr lang="en-US" sz="1400" b="1" dirty="0">
                <a:solidFill>
                  <a:srgbClr val="0D1B2A"/>
                </a:solidFill>
                <a:latin typeface="Calibri" pitchFamily="34" charset="0"/>
                <a:ea typeface="Calibri" pitchFamily="34" charset="-122"/>
                <a:cs typeface="Calibri" pitchFamily="34" charset="-120"/>
              </a:rPr>
              <a:t>Data Stream Identifier</a:t>
            </a:r>
            <a:endParaRPr lang="en-US" sz="1400" dirty="0"/>
          </a:p>
        </p:txBody>
      </p:sp>
      <p:sp>
        <p:nvSpPr>
          <p:cNvPr id="8" name="Shape 6"/>
          <p:cNvSpPr/>
          <p:nvPr/>
        </p:nvSpPr>
        <p:spPr>
          <a:xfrm>
            <a:off x="5303520" y="1188720"/>
            <a:ext cx="1005840" cy="256032"/>
          </a:xfrm>
          <a:prstGeom prst="roundRect">
            <a:avLst>
              <a:gd name="adj" fmla="val 17857"/>
            </a:avLst>
          </a:prstGeom>
          <a:solidFill>
            <a:srgbClr val="1B7FA6">
              <a:alpha val="30000"/>
            </a:srgbClr>
          </a:solidFill>
          <a:ln w="12700">
            <a:solidFill>
              <a:srgbClr val="1B7FA6"/>
            </a:solidFill>
            <a:prstDash val="solid"/>
          </a:ln>
        </p:spPr>
      </p:sp>
      <p:sp>
        <p:nvSpPr>
          <p:cNvPr id="9" name="Text 7"/>
          <p:cNvSpPr/>
          <p:nvPr/>
        </p:nvSpPr>
        <p:spPr>
          <a:xfrm>
            <a:off x="5303520" y="1188720"/>
            <a:ext cx="1005840" cy="256032"/>
          </a:xfrm>
          <a:prstGeom prst="rect">
            <a:avLst/>
          </a:prstGeom>
          <a:noFill/>
          <a:ln/>
        </p:spPr>
        <p:txBody>
          <a:bodyPr wrap="square" lIns="0" tIns="0" rIns="0" bIns="0" rtlCol="0" anchor="ctr"/>
          <a:lstStyle/>
          <a:p>
            <a:pPr marL="0" indent="0" algn="ctr">
              <a:buNone/>
            </a:pPr>
            <a:r>
              <a:rPr lang="en-US" sz="900" b="1" dirty="0">
                <a:solidFill>
                  <a:srgbClr val="0E5C7A"/>
                </a:solidFill>
              </a:rPr>
              <a:t>REQUIRED</a:t>
            </a:r>
            <a:endParaRPr lang="en-US" sz="900" dirty="0"/>
          </a:p>
        </p:txBody>
      </p:sp>
      <p:sp>
        <p:nvSpPr>
          <p:cNvPr id="10" name="Text 8"/>
          <p:cNvSpPr/>
          <p:nvPr/>
        </p:nvSpPr>
        <p:spPr>
          <a:xfrm>
            <a:off x="594360" y="1554480"/>
            <a:ext cx="7772400" cy="502920"/>
          </a:xfrm>
          <a:prstGeom prst="rect">
            <a:avLst/>
          </a:prstGeom>
          <a:noFill/>
          <a:ln/>
        </p:spPr>
        <p:txBody>
          <a:bodyPr wrap="square" lIns="0" tIns="0" rIns="0" bIns="0" rtlCol="0" anchor="ctr"/>
          <a:lstStyle/>
          <a:p>
            <a:pPr marL="0" indent="0">
              <a:buNone/>
            </a:pPr>
            <a:r>
              <a:rPr lang="en-US" sz="1200" dirty="0">
                <a:solidFill>
                  <a:srgbClr val="64748B"/>
                </a:solidFill>
                <a:latin typeface="Calibri" pitchFamily="34" charset="0"/>
                <a:ea typeface="Calibri" pitchFamily="34" charset="-122"/>
                <a:cs typeface="Calibri" pitchFamily="34" charset="-120"/>
              </a:rPr>
              <a:t>Select from existing data streams. Mandatory and must be unique.</a:t>
            </a:r>
            <a:endParaRPr lang="en-US" sz="1200" dirty="0"/>
          </a:p>
        </p:txBody>
      </p:sp>
      <p:sp>
        <p:nvSpPr>
          <p:cNvPr id="11" name="Shape 9"/>
          <p:cNvSpPr/>
          <p:nvPr/>
        </p:nvSpPr>
        <p:spPr>
          <a:xfrm>
            <a:off x="365760" y="2313432"/>
            <a:ext cx="8412480" cy="1097280"/>
          </a:xfrm>
          <a:prstGeom prst="rect">
            <a:avLst/>
          </a:prstGeom>
          <a:solidFill>
            <a:srgbClr val="FFFFFF"/>
          </a:solidFill>
          <a:ln w="12700">
            <a:solidFill>
              <a:srgbClr val="CBD5E1"/>
            </a:solidFill>
            <a:prstDash val="solid"/>
          </a:ln>
          <a:effectLst>
            <a:outerShdw blurRad="38100" dist="25400" dir="8100000" algn="bl" rotWithShape="0">
              <a:srgbClr val="000000">
                <a:alpha val="7000"/>
              </a:srgbClr>
            </a:outerShdw>
          </a:effectLst>
        </p:spPr>
      </p:sp>
      <p:sp>
        <p:nvSpPr>
          <p:cNvPr id="12" name="Shape 10"/>
          <p:cNvSpPr/>
          <p:nvPr/>
        </p:nvSpPr>
        <p:spPr>
          <a:xfrm>
            <a:off x="365760" y="2313432"/>
            <a:ext cx="64008" cy="1097280"/>
          </a:xfrm>
          <a:prstGeom prst="rect">
            <a:avLst/>
          </a:prstGeom>
          <a:solidFill>
            <a:srgbClr val="1B7FA6"/>
          </a:solidFill>
          <a:ln w="12700">
            <a:solidFill>
              <a:srgbClr val="1B7FA6"/>
            </a:solidFill>
            <a:prstDash val="solid"/>
          </a:ln>
        </p:spPr>
      </p:sp>
      <p:sp>
        <p:nvSpPr>
          <p:cNvPr id="13" name="Text 11"/>
          <p:cNvSpPr/>
          <p:nvPr/>
        </p:nvSpPr>
        <p:spPr>
          <a:xfrm>
            <a:off x="594360" y="2404872"/>
            <a:ext cx="4572000" cy="365760"/>
          </a:xfrm>
          <a:prstGeom prst="rect">
            <a:avLst/>
          </a:prstGeom>
          <a:noFill/>
          <a:ln/>
        </p:spPr>
        <p:txBody>
          <a:bodyPr wrap="square" lIns="0" tIns="0" rIns="0" bIns="0" rtlCol="0" anchor="ctr"/>
          <a:lstStyle/>
          <a:p>
            <a:pPr marL="0" indent="0">
              <a:buNone/>
            </a:pPr>
            <a:r>
              <a:rPr lang="en-US" sz="1400" b="1" dirty="0">
                <a:solidFill>
                  <a:srgbClr val="0D1B2A"/>
                </a:solidFill>
                <a:latin typeface="Calibri" pitchFamily="34" charset="0"/>
                <a:ea typeface="Calibri" pitchFamily="34" charset="-122"/>
                <a:cs typeface="Calibri" pitchFamily="34" charset="-120"/>
              </a:rPr>
              <a:t>Data Stream Name</a:t>
            </a:r>
            <a:endParaRPr lang="en-US" sz="1400" dirty="0"/>
          </a:p>
        </p:txBody>
      </p:sp>
      <p:sp>
        <p:nvSpPr>
          <p:cNvPr id="14" name="Shape 12"/>
          <p:cNvSpPr/>
          <p:nvPr/>
        </p:nvSpPr>
        <p:spPr>
          <a:xfrm>
            <a:off x="5303520" y="2450592"/>
            <a:ext cx="1005840" cy="256032"/>
          </a:xfrm>
          <a:prstGeom prst="roundRect">
            <a:avLst>
              <a:gd name="adj" fmla="val 17857"/>
            </a:avLst>
          </a:prstGeom>
          <a:solidFill>
            <a:srgbClr val="1B7FA6">
              <a:alpha val="30000"/>
            </a:srgbClr>
          </a:solidFill>
          <a:ln w="12700">
            <a:solidFill>
              <a:srgbClr val="1B7FA6"/>
            </a:solidFill>
            <a:prstDash val="solid"/>
          </a:ln>
        </p:spPr>
      </p:sp>
      <p:sp>
        <p:nvSpPr>
          <p:cNvPr id="15" name="Text 13"/>
          <p:cNvSpPr/>
          <p:nvPr/>
        </p:nvSpPr>
        <p:spPr>
          <a:xfrm>
            <a:off x="5303520" y="2450592"/>
            <a:ext cx="1005840" cy="256032"/>
          </a:xfrm>
          <a:prstGeom prst="rect">
            <a:avLst/>
          </a:prstGeom>
          <a:noFill/>
          <a:ln/>
        </p:spPr>
        <p:txBody>
          <a:bodyPr wrap="square" lIns="0" tIns="0" rIns="0" bIns="0" rtlCol="0" anchor="ctr"/>
          <a:lstStyle/>
          <a:p>
            <a:pPr marL="0" indent="0" algn="ctr">
              <a:buNone/>
            </a:pPr>
            <a:r>
              <a:rPr lang="en-US" sz="900" b="1" dirty="0">
                <a:solidFill>
                  <a:srgbClr val="0E5C7A"/>
                </a:solidFill>
              </a:rPr>
              <a:t>REQUIRED</a:t>
            </a:r>
            <a:endParaRPr lang="en-US" sz="900" dirty="0"/>
          </a:p>
        </p:txBody>
      </p:sp>
      <p:sp>
        <p:nvSpPr>
          <p:cNvPr id="16" name="Text 14"/>
          <p:cNvSpPr/>
          <p:nvPr/>
        </p:nvSpPr>
        <p:spPr>
          <a:xfrm>
            <a:off x="594360" y="2816352"/>
            <a:ext cx="7772400" cy="502920"/>
          </a:xfrm>
          <a:prstGeom prst="rect">
            <a:avLst/>
          </a:prstGeom>
          <a:noFill/>
          <a:ln/>
        </p:spPr>
        <p:txBody>
          <a:bodyPr wrap="square" lIns="0" tIns="0" rIns="0" bIns="0" rtlCol="0" anchor="ctr"/>
          <a:lstStyle/>
          <a:p>
            <a:pPr marL="0" indent="0">
              <a:buNone/>
            </a:pPr>
            <a:r>
              <a:rPr lang="en-US" sz="1200" dirty="0">
                <a:solidFill>
                  <a:srgbClr val="64748B"/>
                </a:solidFill>
                <a:latin typeface="Calibri" pitchFamily="34" charset="0"/>
                <a:ea typeface="Calibri" pitchFamily="34" charset="-122"/>
                <a:cs typeface="Calibri" pitchFamily="34" charset="-120"/>
              </a:rPr>
              <a:t>Business display name. Must be unique. Maximum 50 characters.</a:t>
            </a:r>
            <a:endParaRPr lang="en-US" sz="1200" dirty="0"/>
          </a:p>
        </p:txBody>
      </p:sp>
      <p:sp>
        <p:nvSpPr>
          <p:cNvPr id="17" name="Shape 15"/>
          <p:cNvSpPr/>
          <p:nvPr/>
        </p:nvSpPr>
        <p:spPr>
          <a:xfrm>
            <a:off x="365760" y="3575304"/>
            <a:ext cx="8412480" cy="1097280"/>
          </a:xfrm>
          <a:prstGeom prst="rect">
            <a:avLst/>
          </a:prstGeom>
          <a:solidFill>
            <a:srgbClr val="FFFFFF"/>
          </a:solidFill>
          <a:ln w="12700">
            <a:solidFill>
              <a:srgbClr val="CBD5E1"/>
            </a:solidFill>
            <a:prstDash val="solid"/>
          </a:ln>
          <a:effectLst>
            <a:outerShdw blurRad="38100" dist="25400" dir="8100000" algn="bl" rotWithShape="0">
              <a:srgbClr val="000000">
                <a:alpha val="7000"/>
              </a:srgbClr>
            </a:outerShdw>
          </a:effectLst>
        </p:spPr>
      </p:sp>
      <p:sp>
        <p:nvSpPr>
          <p:cNvPr id="18" name="Shape 16"/>
          <p:cNvSpPr/>
          <p:nvPr/>
        </p:nvSpPr>
        <p:spPr>
          <a:xfrm>
            <a:off x="365760" y="3575304"/>
            <a:ext cx="64008" cy="1097280"/>
          </a:xfrm>
          <a:prstGeom prst="rect">
            <a:avLst/>
          </a:prstGeom>
          <a:solidFill>
            <a:srgbClr val="1B7FA6"/>
          </a:solidFill>
          <a:ln w="12700">
            <a:solidFill>
              <a:srgbClr val="1B7FA6"/>
            </a:solidFill>
            <a:prstDash val="solid"/>
          </a:ln>
        </p:spPr>
      </p:sp>
      <p:sp>
        <p:nvSpPr>
          <p:cNvPr id="19" name="Text 17"/>
          <p:cNvSpPr/>
          <p:nvPr/>
        </p:nvSpPr>
        <p:spPr>
          <a:xfrm>
            <a:off x="594360" y="3666744"/>
            <a:ext cx="4572000" cy="365760"/>
          </a:xfrm>
          <a:prstGeom prst="rect">
            <a:avLst/>
          </a:prstGeom>
          <a:noFill/>
          <a:ln/>
        </p:spPr>
        <p:txBody>
          <a:bodyPr wrap="square" lIns="0" tIns="0" rIns="0" bIns="0" rtlCol="0" anchor="ctr"/>
          <a:lstStyle/>
          <a:p>
            <a:pPr marL="0" indent="0">
              <a:buNone/>
            </a:pPr>
            <a:r>
              <a:rPr lang="en-US" sz="1400" b="1" dirty="0">
                <a:solidFill>
                  <a:srgbClr val="0D1B2A"/>
                </a:solidFill>
                <a:latin typeface="Calibri" pitchFamily="34" charset="0"/>
                <a:ea typeface="Calibri" pitchFamily="34" charset="-122"/>
                <a:cs typeface="Calibri" pitchFamily="34" charset="-120"/>
              </a:rPr>
              <a:t>Description</a:t>
            </a:r>
            <a:endParaRPr lang="en-US" sz="1400" dirty="0"/>
          </a:p>
        </p:txBody>
      </p:sp>
      <p:sp>
        <p:nvSpPr>
          <p:cNvPr id="20" name="Text 18"/>
          <p:cNvSpPr/>
          <p:nvPr/>
        </p:nvSpPr>
        <p:spPr>
          <a:xfrm>
            <a:off x="594360" y="4078224"/>
            <a:ext cx="7772400" cy="502920"/>
          </a:xfrm>
          <a:prstGeom prst="rect">
            <a:avLst/>
          </a:prstGeom>
          <a:noFill/>
          <a:ln/>
        </p:spPr>
        <p:txBody>
          <a:bodyPr wrap="square" lIns="0" tIns="0" rIns="0" bIns="0" rtlCol="0" anchor="ctr"/>
          <a:lstStyle/>
          <a:p>
            <a:pPr marL="0" indent="0">
              <a:buNone/>
            </a:pPr>
            <a:r>
              <a:rPr lang="en-US" sz="1200" dirty="0">
                <a:solidFill>
                  <a:srgbClr val="64748B"/>
                </a:solidFill>
                <a:latin typeface="Calibri" pitchFamily="34" charset="0"/>
                <a:ea typeface="Calibri" pitchFamily="34" charset="-122"/>
                <a:cs typeface="Calibri" pitchFamily="34" charset="-120"/>
              </a:rPr>
              <a:t>Additional information related to the data stream.</a:t>
            </a:r>
            <a:endParaRPr lang="en-US" sz="1200" dirty="0"/>
          </a:p>
        </p:txBody>
      </p:sp>
    </p:spTree>
  </p:cSld>
  <p:clrMapOvr>
    <a:masterClrMapping/>
  </p:clrMapOvr>
  <mc:AlternateContent xmlns:mc="http://schemas.openxmlformats.org/markup-compatibility/2006">
    <mc:Choice xmlns:p14="http://schemas.microsoft.com/office/powerpoint/2010/main" Requires="p14">
      <p:transition p14:dur="0" advClick="0" advTm="25128">
        <p:fade/>
      </p:transition>
    </mc:Choice>
    <mc:Fallback>
      <p:transition advClick="0" advTm="25128">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2C39A"/>
          </a:solidFill>
          <a:ln w="12700">
            <a:solidFill>
              <a:srgbClr val="02C39A"/>
            </a:solidFill>
            <a:prstDash val="solid"/>
          </a:ln>
        </p:spPr>
      </p:sp>
      <p:sp>
        <p:nvSpPr>
          <p:cNvPr id="3" name="Shape 1"/>
          <p:cNvSpPr/>
          <p:nvPr/>
        </p:nvSpPr>
        <p:spPr>
          <a:xfrm>
            <a:off x="0" y="73152"/>
            <a:ext cx="9144000" cy="822960"/>
          </a:xfrm>
          <a:prstGeom prst="rect">
            <a:avLst/>
          </a:prstGeom>
          <a:solidFill>
            <a:srgbClr val="0D1B2A"/>
          </a:solidFill>
          <a:ln w="12700">
            <a:solidFill>
              <a:srgbClr val="0D1B2A"/>
            </a:solidFill>
            <a:prstDash val="solid"/>
          </a:ln>
        </p:spPr>
      </p:sp>
      <p:sp>
        <p:nvSpPr>
          <p:cNvPr id="4" name="Text 2"/>
          <p:cNvSpPr/>
          <p:nvPr/>
        </p:nvSpPr>
        <p:spPr>
          <a:xfrm>
            <a:off x="365760" y="91440"/>
            <a:ext cx="8229600" cy="786384"/>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Configuring Fields Further</a:t>
            </a:r>
            <a:endParaRPr lang="en-US" sz="2200" dirty="0"/>
          </a:p>
        </p:txBody>
      </p:sp>
      <p:sp>
        <p:nvSpPr>
          <p:cNvPr id="5" name="Text 3"/>
          <p:cNvSpPr/>
          <p:nvPr/>
        </p:nvSpPr>
        <p:spPr>
          <a:xfrm>
            <a:off x="457200" y="1005840"/>
            <a:ext cx="8229600" cy="640080"/>
          </a:xfrm>
          <a:prstGeom prst="rect">
            <a:avLst/>
          </a:prstGeom>
          <a:noFill/>
          <a:ln/>
        </p:spPr>
        <p:txBody>
          <a:bodyPr wrap="square" rtlCol="0" anchor="ctr"/>
          <a:lstStyle/>
          <a:p>
            <a:pPr marL="0" indent="0">
              <a:buNone/>
            </a:pPr>
            <a:r>
              <a:rPr lang="en-US" sz="1400" dirty="0">
                <a:solidFill>
                  <a:srgbClr val="0D1B2A"/>
                </a:solidFill>
                <a:latin typeface="Calibri" pitchFamily="34" charset="0"/>
                <a:ea typeface="Calibri" pitchFamily="34" charset="-122"/>
                <a:cs typeface="Calibri" pitchFamily="34" charset="-120"/>
              </a:rPr>
              <a:t>Once a data stream is defined, click the arrow icon (→) in the first column to access additional configuration tabs.</a:t>
            </a:r>
            <a:endParaRPr lang="en-US" sz="1400" dirty="0"/>
          </a:p>
        </p:txBody>
      </p:sp>
      <p:sp>
        <p:nvSpPr>
          <p:cNvPr id="6" name="Shape 4"/>
          <p:cNvSpPr/>
          <p:nvPr/>
        </p:nvSpPr>
        <p:spPr>
          <a:xfrm>
            <a:off x="457200" y="1783080"/>
            <a:ext cx="4023360" cy="2926080"/>
          </a:xfrm>
          <a:prstGeom prst="rect">
            <a:avLst/>
          </a:prstGeom>
          <a:solidFill>
            <a:srgbClr val="FFFFFF"/>
          </a:solidFill>
          <a:ln w="12700">
            <a:solidFill>
              <a:srgbClr val="CBD5E1"/>
            </a:solidFill>
            <a:prstDash val="solid"/>
          </a:ln>
          <a:effectLst>
            <a:outerShdw blurRad="63500" dist="25400" dir="8100000" algn="bl" rotWithShape="0">
              <a:srgbClr val="000000">
                <a:alpha val="9000"/>
              </a:srgbClr>
            </a:outerShdw>
          </a:effectLst>
        </p:spPr>
      </p:sp>
      <p:sp>
        <p:nvSpPr>
          <p:cNvPr id="7" name="Shape 5"/>
          <p:cNvSpPr/>
          <p:nvPr/>
        </p:nvSpPr>
        <p:spPr>
          <a:xfrm>
            <a:off x="457200" y="1783080"/>
            <a:ext cx="4023360" cy="502920"/>
          </a:xfrm>
          <a:prstGeom prst="rect">
            <a:avLst/>
          </a:prstGeom>
          <a:solidFill>
            <a:srgbClr val="1B7FA6"/>
          </a:solidFill>
          <a:ln w="12700">
            <a:solidFill>
              <a:srgbClr val="1B7FA6"/>
            </a:solidFill>
            <a:prstDash val="solid"/>
          </a:ln>
        </p:spPr>
      </p:sp>
      <p:sp>
        <p:nvSpPr>
          <p:cNvPr id="8" name="Text 6"/>
          <p:cNvSpPr/>
          <p:nvPr/>
        </p:nvSpPr>
        <p:spPr>
          <a:xfrm>
            <a:off x="594360" y="1783080"/>
            <a:ext cx="3749040" cy="502920"/>
          </a:xfrm>
          <a:prstGeom prst="rect">
            <a:avLst/>
          </a:prstGeom>
          <a:noFill/>
          <a:ln/>
        </p:spPr>
        <p:txBody>
          <a:bodyPr wrap="square"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Data Elements</a:t>
            </a:r>
            <a:endParaRPr lang="en-US" sz="1500" dirty="0"/>
          </a:p>
        </p:txBody>
      </p:sp>
      <p:sp>
        <p:nvSpPr>
          <p:cNvPr id="9" name="Text 7"/>
          <p:cNvSpPr/>
          <p:nvPr/>
        </p:nvSpPr>
        <p:spPr>
          <a:xfrm>
            <a:off x="594360" y="2377440"/>
            <a:ext cx="3749040" cy="2194560"/>
          </a:xfrm>
          <a:prstGeom prst="rect">
            <a:avLst/>
          </a:prstGeom>
          <a:noFill/>
          <a:ln/>
        </p:spPr>
        <p:txBody>
          <a:bodyPr wrap="square" lIns="76200" tIns="76200" rIns="76200" bIns="76200" rtlCol="0" anchor="ctr"/>
          <a:lstStyle/>
          <a:p>
            <a:pPr marL="0" indent="0">
              <a:buNone/>
            </a:pPr>
            <a:r>
              <a:rPr lang="en-US" sz="1200" dirty="0">
                <a:solidFill>
                  <a:srgbClr val="64748B"/>
                </a:solidFill>
                <a:latin typeface="Calibri" pitchFamily="34" charset="0"/>
                <a:ea typeface="Calibri" pitchFamily="34" charset="-122"/>
                <a:cs typeface="Calibri" pitchFamily="34" charset="-120"/>
              </a:rPr>
              <a:t>Configure field-level metadata: key identifiers, business names, data types, and scrambling methods for data persistence.</a:t>
            </a:r>
            <a:endParaRPr lang="en-US" sz="1200" dirty="0"/>
          </a:p>
        </p:txBody>
      </p:sp>
      <p:sp>
        <p:nvSpPr>
          <p:cNvPr id="10" name="Shape 8"/>
          <p:cNvSpPr/>
          <p:nvPr/>
        </p:nvSpPr>
        <p:spPr>
          <a:xfrm>
            <a:off x="4846320" y="1783080"/>
            <a:ext cx="4023360" cy="2926080"/>
          </a:xfrm>
          <a:prstGeom prst="rect">
            <a:avLst/>
          </a:prstGeom>
          <a:solidFill>
            <a:srgbClr val="FFFFFF"/>
          </a:solidFill>
          <a:ln w="12700">
            <a:solidFill>
              <a:srgbClr val="CBD5E1"/>
            </a:solidFill>
            <a:prstDash val="solid"/>
          </a:ln>
          <a:effectLst>
            <a:outerShdw blurRad="63500" dist="25400" dir="8100000" algn="bl" rotWithShape="0">
              <a:srgbClr val="000000">
                <a:alpha val="9000"/>
              </a:srgbClr>
            </a:outerShdw>
          </a:effectLst>
        </p:spPr>
      </p:sp>
      <p:sp>
        <p:nvSpPr>
          <p:cNvPr id="11" name="Shape 9"/>
          <p:cNvSpPr/>
          <p:nvPr/>
        </p:nvSpPr>
        <p:spPr>
          <a:xfrm>
            <a:off x="4846320" y="1783080"/>
            <a:ext cx="4023360" cy="502920"/>
          </a:xfrm>
          <a:prstGeom prst="rect">
            <a:avLst/>
          </a:prstGeom>
          <a:solidFill>
            <a:srgbClr val="02C39A"/>
          </a:solidFill>
          <a:ln w="12700">
            <a:solidFill>
              <a:srgbClr val="02C39A"/>
            </a:solidFill>
            <a:prstDash val="solid"/>
          </a:ln>
        </p:spPr>
      </p:sp>
      <p:sp>
        <p:nvSpPr>
          <p:cNvPr id="12" name="Text 10"/>
          <p:cNvSpPr/>
          <p:nvPr/>
        </p:nvSpPr>
        <p:spPr>
          <a:xfrm>
            <a:off x="4983480" y="1783080"/>
            <a:ext cx="3749040" cy="502920"/>
          </a:xfrm>
          <a:prstGeom prst="rect">
            <a:avLst/>
          </a:prstGeom>
          <a:noFill/>
          <a:ln/>
        </p:spPr>
        <p:txBody>
          <a:bodyPr wrap="square"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Detection Process</a:t>
            </a:r>
            <a:endParaRPr lang="en-US" sz="1500" dirty="0"/>
          </a:p>
        </p:txBody>
      </p:sp>
      <p:sp>
        <p:nvSpPr>
          <p:cNvPr id="13" name="Text 11"/>
          <p:cNvSpPr/>
          <p:nvPr/>
        </p:nvSpPr>
        <p:spPr>
          <a:xfrm>
            <a:off x="4983480" y="2377440"/>
            <a:ext cx="3749040" cy="2194560"/>
          </a:xfrm>
          <a:prstGeom prst="rect">
            <a:avLst/>
          </a:prstGeom>
          <a:noFill/>
          <a:ln/>
        </p:spPr>
        <p:txBody>
          <a:bodyPr wrap="square" lIns="76200" tIns="76200" rIns="76200" bIns="76200" rtlCol="0" anchor="ctr"/>
          <a:lstStyle/>
          <a:p>
            <a:pPr marL="0" indent="0">
              <a:buNone/>
            </a:pPr>
            <a:r>
              <a:rPr lang="en-US" sz="1200" dirty="0">
                <a:solidFill>
                  <a:srgbClr val="64748B"/>
                </a:solidFill>
                <a:latin typeface="Calibri" pitchFamily="34" charset="0"/>
                <a:ea typeface="Calibri" pitchFamily="34" charset="-122"/>
                <a:cs typeface="Calibri" pitchFamily="34" charset="-120"/>
              </a:rPr>
              <a:t>Define detection logic and processing rules applied when the data stream is active in the platform.</a:t>
            </a:r>
            <a:endParaRPr lang="en-US" sz="1200" dirty="0"/>
          </a:p>
        </p:txBody>
      </p:sp>
    </p:spTree>
  </p:cSld>
  <p:clrMapOvr>
    <a:masterClrMapping/>
  </p:clrMapOvr>
  <mc:AlternateContent xmlns:mc="http://schemas.openxmlformats.org/markup-compatibility/2006">
    <mc:Choice xmlns:p14="http://schemas.microsoft.com/office/powerpoint/2010/main" Requires="p14">
      <p:transition p14:dur="0" advClick="0" advTm="11352">
        <p:fade/>
      </p:transition>
    </mc:Choice>
    <mc:Fallback>
      <p:transition advClick="0" advTm="11352">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2C39A"/>
          </a:solidFill>
          <a:ln w="12700">
            <a:solidFill>
              <a:srgbClr val="02C39A"/>
            </a:solidFill>
            <a:prstDash val="solid"/>
          </a:ln>
        </p:spPr>
      </p:sp>
      <p:sp>
        <p:nvSpPr>
          <p:cNvPr id="3" name="Shape 1"/>
          <p:cNvSpPr/>
          <p:nvPr/>
        </p:nvSpPr>
        <p:spPr>
          <a:xfrm>
            <a:off x="0" y="73152"/>
            <a:ext cx="9144000" cy="822960"/>
          </a:xfrm>
          <a:prstGeom prst="rect">
            <a:avLst/>
          </a:prstGeom>
          <a:solidFill>
            <a:srgbClr val="0D1B2A"/>
          </a:solidFill>
          <a:ln w="12700">
            <a:solidFill>
              <a:srgbClr val="0D1B2A"/>
            </a:solidFill>
            <a:prstDash val="solid"/>
          </a:ln>
        </p:spPr>
      </p:sp>
      <p:sp>
        <p:nvSpPr>
          <p:cNvPr id="4" name="Text 2"/>
          <p:cNvSpPr/>
          <p:nvPr/>
        </p:nvSpPr>
        <p:spPr>
          <a:xfrm>
            <a:off x="365760" y="91440"/>
            <a:ext cx="8229600" cy="786384"/>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Data Elements Tab</a:t>
            </a:r>
            <a:endParaRPr lang="en-US" sz="2200" dirty="0"/>
          </a:p>
        </p:txBody>
      </p:sp>
      <p:sp>
        <p:nvSpPr>
          <p:cNvPr id="5" name="Text 3"/>
          <p:cNvSpPr/>
          <p:nvPr/>
        </p:nvSpPr>
        <p:spPr>
          <a:xfrm>
            <a:off x="457200" y="1005840"/>
            <a:ext cx="8229600" cy="365760"/>
          </a:xfrm>
          <a:prstGeom prst="rect">
            <a:avLst/>
          </a:prstGeom>
          <a:noFill/>
          <a:ln/>
        </p:spPr>
        <p:txBody>
          <a:bodyPr wrap="square" rtlCol="0" anchor="ctr"/>
          <a:lstStyle/>
          <a:p>
            <a:pPr marL="0" indent="0">
              <a:buNone/>
            </a:pPr>
            <a:r>
              <a:rPr lang="en-US" sz="1400" dirty="0">
                <a:solidFill>
                  <a:srgbClr val="0D1B2A"/>
                </a:solidFill>
                <a:latin typeface="Calibri" pitchFamily="34" charset="0"/>
                <a:ea typeface="Calibri" pitchFamily="34" charset="-122"/>
                <a:cs typeface="Calibri" pitchFamily="34" charset="-120"/>
              </a:rPr>
              <a:t>Click the Add item (+) icon to specify field information:</a:t>
            </a:r>
            <a:endParaRPr lang="en-US" sz="1400" dirty="0"/>
          </a:p>
        </p:txBody>
      </p:sp>
      <p:sp>
        <p:nvSpPr>
          <p:cNvPr id="6" name="Shape 4"/>
          <p:cNvSpPr/>
          <p:nvPr/>
        </p:nvSpPr>
        <p:spPr>
          <a:xfrm>
            <a:off x="457200" y="1463040"/>
            <a:ext cx="8229600" cy="411480"/>
          </a:xfrm>
          <a:prstGeom prst="rect">
            <a:avLst/>
          </a:prstGeom>
          <a:solidFill>
            <a:srgbClr val="0D1B2A"/>
          </a:solidFill>
          <a:ln w="12700">
            <a:solidFill>
              <a:srgbClr val="0D1B2A"/>
            </a:solidFill>
            <a:prstDash val="solid"/>
          </a:ln>
        </p:spPr>
      </p:sp>
      <p:sp>
        <p:nvSpPr>
          <p:cNvPr id="7" name="Text 5"/>
          <p:cNvSpPr/>
          <p:nvPr/>
        </p:nvSpPr>
        <p:spPr>
          <a:xfrm>
            <a:off x="548640" y="1463040"/>
            <a:ext cx="1828800" cy="411480"/>
          </a:xfrm>
          <a:prstGeom prst="rect">
            <a:avLst/>
          </a:prstGeom>
          <a:noFill/>
          <a:ln/>
        </p:spPr>
        <p:txBody>
          <a:bodyPr wrap="square"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Field</a:t>
            </a:r>
            <a:endParaRPr lang="en-US" sz="1200" dirty="0"/>
          </a:p>
        </p:txBody>
      </p:sp>
      <p:sp>
        <p:nvSpPr>
          <p:cNvPr id="8" name="Text 6"/>
          <p:cNvSpPr/>
          <p:nvPr/>
        </p:nvSpPr>
        <p:spPr>
          <a:xfrm>
            <a:off x="2560320" y="1463040"/>
            <a:ext cx="3474720" cy="411480"/>
          </a:xfrm>
          <a:prstGeom prst="rect">
            <a:avLst/>
          </a:prstGeom>
          <a:noFill/>
          <a:ln/>
        </p:spPr>
        <p:txBody>
          <a:bodyPr wrap="square"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Description</a:t>
            </a:r>
            <a:endParaRPr lang="en-US" sz="1200" dirty="0"/>
          </a:p>
        </p:txBody>
      </p:sp>
      <p:sp>
        <p:nvSpPr>
          <p:cNvPr id="9" name="Text 7"/>
          <p:cNvSpPr/>
          <p:nvPr/>
        </p:nvSpPr>
        <p:spPr>
          <a:xfrm>
            <a:off x="6217920" y="1463040"/>
            <a:ext cx="1828800" cy="411480"/>
          </a:xfrm>
          <a:prstGeom prst="rect">
            <a:avLst/>
          </a:prstGeom>
          <a:noFill/>
          <a:ln/>
        </p:spPr>
        <p:txBody>
          <a:bodyPr wrap="square"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Notes</a:t>
            </a:r>
            <a:endParaRPr lang="en-US" sz="1200" dirty="0"/>
          </a:p>
        </p:txBody>
      </p:sp>
      <p:sp>
        <p:nvSpPr>
          <p:cNvPr id="10" name="Shape 8"/>
          <p:cNvSpPr/>
          <p:nvPr/>
        </p:nvSpPr>
        <p:spPr>
          <a:xfrm>
            <a:off x="457200" y="1874520"/>
            <a:ext cx="8229600" cy="548640"/>
          </a:xfrm>
          <a:prstGeom prst="rect">
            <a:avLst/>
          </a:prstGeom>
          <a:solidFill>
            <a:srgbClr val="F8FAFC"/>
          </a:solidFill>
          <a:ln w="6350">
            <a:solidFill>
              <a:srgbClr val="CBD5E1"/>
            </a:solidFill>
            <a:prstDash val="solid"/>
          </a:ln>
        </p:spPr>
      </p:sp>
      <p:sp>
        <p:nvSpPr>
          <p:cNvPr id="11" name="Text 9"/>
          <p:cNvSpPr/>
          <p:nvPr/>
        </p:nvSpPr>
        <p:spPr>
          <a:xfrm>
            <a:off x="548640" y="1874520"/>
            <a:ext cx="1920240" cy="548640"/>
          </a:xfrm>
          <a:prstGeom prst="rect">
            <a:avLst/>
          </a:prstGeom>
          <a:noFill/>
          <a:ln/>
        </p:spPr>
        <p:txBody>
          <a:bodyPr wrap="square" rtlCol="0" anchor="ctr"/>
          <a:lstStyle/>
          <a:p>
            <a:pPr marL="0" indent="0">
              <a:buNone/>
            </a:pPr>
            <a:r>
              <a:rPr lang="en-US" sz="1100" b="1" dirty="0">
                <a:solidFill>
                  <a:srgbClr val="0E5C7A"/>
                </a:solidFill>
                <a:latin typeface="Calibri" pitchFamily="34" charset="0"/>
                <a:ea typeface="Calibri" pitchFamily="34" charset="-122"/>
                <a:cs typeface="Calibri" pitchFamily="34" charset="-120"/>
              </a:rPr>
              <a:t>Key Identifier</a:t>
            </a:r>
            <a:endParaRPr lang="en-US" sz="1100" dirty="0"/>
          </a:p>
        </p:txBody>
      </p:sp>
      <p:sp>
        <p:nvSpPr>
          <p:cNvPr id="12" name="Text 10"/>
          <p:cNvSpPr/>
          <p:nvPr/>
        </p:nvSpPr>
        <p:spPr>
          <a:xfrm>
            <a:off x="2560320" y="1874520"/>
            <a:ext cx="3474720" cy="548640"/>
          </a:xfrm>
          <a:prstGeom prst="rect">
            <a:avLst/>
          </a:prstGeom>
          <a:noFill/>
          <a:ln/>
        </p:spPr>
        <p:txBody>
          <a:bodyPr wrap="square" rtlCol="0" anchor="ctr"/>
          <a:lstStyle/>
          <a:p>
            <a:pPr marL="0" indent="0">
              <a:buNone/>
            </a:pPr>
            <a:r>
              <a:rPr lang="en-US" sz="1100" dirty="0">
                <a:solidFill>
                  <a:srgbClr val="0D1B2A"/>
                </a:solidFill>
                <a:latin typeface="Calibri" pitchFamily="34" charset="0"/>
                <a:ea typeface="Calibri" pitchFamily="34" charset="-122"/>
                <a:cs typeface="Calibri" pitchFamily="34" charset="-120"/>
              </a:rPr>
              <a:t>The key in the JSON string</a:t>
            </a:r>
            <a:endParaRPr lang="en-US" sz="1100" dirty="0"/>
          </a:p>
        </p:txBody>
      </p:sp>
      <p:sp>
        <p:nvSpPr>
          <p:cNvPr id="13" name="Text 11"/>
          <p:cNvSpPr/>
          <p:nvPr/>
        </p:nvSpPr>
        <p:spPr>
          <a:xfrm>
            <a:off x="6217920" y="1874520"/>
            <a:ext cx="2286000" cy="548640"/>
          </a:xfrm>
          <a:prstGeom prst="rect">
            <a:avLst/>
          </a:prstGeom>
          <a:noFill/>
          <a:ln/>
        </p:spPr>
        <p:txBody>
          <a:bodyPr wrap="square" rtlCol="0" anchor="ctr"/>
          <a:lstStyle/>
          <a:p>
            <a:pPr marL="0" indent="0">
              <a:buNone/>
            </a:pPr>
            <a:r>
              <a:rPr lang="en-US" sz="1000" i="1" dirty="0">
                <a:solidFill>
                  <a:srgbClr val="64748B"/>
                </a:solidFill>
                <a:latin typeface="Calibri" pitchFamily="34" charset="0"/>
                <a:ea typeface="Calibri" pitchFamily="34" charset="-122"/>
                <a:cs typeface="Calibri" pitchFamily="34" charset="-120"/>
              </a:rPr>
              <a:t>Unique per data stream</a:t>
            </a:r>
            <a:endParaRPr lang="en-US" sz="1000" dirty="0"/>
          </a:p>
        </p:txBody>
      </p:sp>
      <p:sp>
        <p:nvSpPr>
          <p:cNvPr id="14" name="Shape 12"/>
          <p:cNvSpPr/>
          <p:nvPr/>
        </p:nvSpPr>
        <p:spPr>
          <a:xfrm>
            <a:off x="457200" y="2441448"/>
            <a:ext cx="8229600" cy="548640"/>
          </a:xfrm>
          <a:prstGeom prst="rect">
            <a:avLst/>
          </a:prstGeom>
          <a:solidFill>
            <a:srgbClr val="FFFFFF"/>
          </a:solidFill>
          <a:ln w="6350">
            <a:solidFill>
              <a:srgbClr val="CBD5E1"/>
            </a:solidFill>
            <a:prstDash val="solid"/>
          </a:ln>
        </p:spPr>
      </p:sp>
      <p:sp>
        <p:nvSpPr>
          <p:cNvPr id="15" name="Text 13"/>
          <p:cNvSpPr/>
          <p:nvPr/>
        </p:nvSpPr>
        <p:spPr>
          <a:xfrm>
            <a:off x="548640" y="2441448"/>
            <a:ext cx="1920240" cy="548640"/>
          </a:xfrm>
          <a:prstGeom prst="rect">
            <a:avLst/>
          </a:prstGeom>
          <a:noFill/>
          <a:ln/>
        </p:spPr>
        <p:txBody>
          <a:bodyPr wrap="square" rtlCol="0" anchor="ctr"/>
          <a:lstStyle/>
          <a:p>
            <a:pPr marL="0" indent="0">
              <a:buNone/>
            </a:pPr>
            <a:r>
              <a:rPr lang="en-US" sz="1100" b="1" dirty="0">
                <a:solidFill>
                  <a:srgbClr val="0E5C7A"/>
                </a:solidFill>
                <a:latin typeface="Calibri" pitchFamily="34" charset="0"/>
                <a:ea typeface="Calibri" pitchFamily="34" charset="-122"/>
                <a:cs typeface="Calibri" pitchFamily="34" charset="-120"/>
              </a:rPr>
              <a:t>Business Name</a:t>
            </a:r>
            <a:endParaRPr lang="en-US" sz="1100" dirty="0"/>
          </a:p>
        </p:txBody>
      </p:sp>
      <p:sp>
        <p:nvSpPr>
          <p:cNvPr id="16" name="Text 14"/>
          <p:cNvSpPr/>
          <p:nvPr/>
        </p:nvSpPr>
        <p:spPr>
          <a:xfrm>
            <a:off x="2560320" y="2441448"/>
            <a:ext cx="3474720" cy="548640"/>
          </a:xfrm>
          <a:prstGeom prst="rect">
            <a:avLst/>
          </a:prstGeom>
          <a:noFill/>
          <a:ln/>
        </p:spPr>
        <p:txBody>
          <a:bodyPr wrap="square" rtlCol="0" anchor="ctr"/>
          <a:lstStyle/>
          <a:p>
            <a:pPr marL="0" indent="0">
              <a:buNone/>
            </a:pPr>
            <a:r>
              <a:rPr lang="en-US" sz="1100" dirty="0">
                <a:solidFill>
                  <a:srgbClr val="0D1B2A"/>
                </a:solidFill>
                <a:latin typeface="Calibri" pitchFamily="34" charset="0"/>
                <a:ea typeface="Calibri" pitchFamily="34" charset="-122"/>
                <a:cs typeface="Calibri" pitchFamily="34" charset="-120"/>
              </a:rPr>
              <a:t>Display name in Policy Manager &amp; Analytics</a:t>
            </a:r>
            <a:endParaRPr lang="en-US" sz="1100" dirty="0"/>
          </a:p>
        </p:txBody>
      </p:sp>
      <p:sp>
        <p:nvSpPr>
          <p:cNvPr id="17" name="Text 15"/>
          <p:cNvSpPr/>
          <p:nvPr/>
        </p:nvSpPr>
        <p:spPr>
          <a:xfrm>
            <a:off x="6217920" y="2441448"/>
            <a:ext cx="2286000" cy="548640"/>
          </a:xfrm>
          <a:prstGeom prst="rect">
            <a:avLst/>
          </a:prstGeom>
          <a:noFill/>
          <a:ln/>
        </p:spPr>
        <p:txBody>
          <a:bodyPr wrap="square" rtlCol="0" anchor="ctr"/>
          <a:lstStyle/>
          <a:p>
            <a:pPr marL="0" indent="0">
              <a:buNone/>
            </a:pPr>
            <a:r>
              <a:rPr lang="en-US" sz="1000" i="1" dirty="0">
                <a:solidFill>
                  <a:srgbClr val="64748B"/>
                </a:solidFill>
                <a:latin typeface="Calibri" pitchFamily="34" charset="0"/>
                <a:ea typeface="Calibri" pitchFamily="34" charset="-122"/>
                <a:cs typeface="Calibri" pitchFamily="34" charset="-120"/>
              </a:rPr>
              <a:t>Shown in authoring environment</a:t>
            </a:r>
            <a:endParaRPr lang="en-US" sz="1000" dirty="0"/>
          </a:p>
        </p:txBody>
      </p:sp>
      <p:sp>
        <p:nvSpPr>
          <p:cNvPr id="18" name="Shape 16"/>
          <p:cNvSpPr/>
          <p:nvPr/>
        </p:nvSpPr>
        <p:spPr>
          <a:xfrm>
            <a:off x="457200" y="3008376"/>
            <a:ext cx="8229600" cy="548640"/>
          </a:xfrm>
          <a:prstGeom prst="rect">
            <a:avLst/>
          </a:prstGeom>
          <a:solidFill>
            <a:srgbClr val="F8FAFC"/>
          </a:solidFill>
          <a:ln w="6350">
            <a:solidFill>
              <a:srgbClr val="CBD5E1"/>
            </a:solidFill>
            <a:prstDash val="solid"/>
          </a:ln>
        </p:spPr>
      </p:sp>
      <p:sp>
        <p:nvSpPr>
          <p:cNvPr id="19" name="Text 17"/>
          <p:cNvSpPr/>
          <p:nvPr/>
        </p:nvSpPr>
        <p:spPr>
          <a:xfrm>
            <a:off x="548640" y="3008376"/>
            <a:ext cx="1920240" cy="548640"/>
          </a:xfrm>
          <a:prstGeom prst="rect">
            <a:avLst/>
          </a:prstGeom>
          <a:noFill/>
          <a:ln/>
        </p:spPr>
        <p:txBody>
          <a:bodyPr wrap="square" rtlCol="0" anchor="ctr"/>
          <a:lstStyle/>
          <a:p>
            <a:pPr marL="0" indent="0">
              <a:buNone/>
            </a:pPr>
            <a:r>
              <a:rPr lang="en-US" sz="1100" b="1" dirty="0">
                <a:solidFill>
                  <a:srgbClr val="0E5C7A"/>
                </a:solidFill>
                <a:latin typeface="Calibri" pitchFamily="34" charset="0"/>
                <a:ea typeface="Calibri" pitchFamily="34" charset="-122"/>
                <a:cs typeface="Calibri" pitchFamily="34" charset="-120"/>
              </a:rPr>
              <a:t>Data Type</a:t>
            </a:r>
            <a:endParaRPr lang="en-US" sz="1100" dirty="0"/>
          </a:p>
        </p:txBody>
      </p:sp>
      <p:sp>
        <p:nvSpPr>
          <p:cNvPr id="20" name="Text 18"/>
          <p:cNvSpPr/>
          <p:nvPr/>
        </p:nvSpPr>
        <p:spPr>
          <a:xfrm>
            <a:off x="2560320" y="3008376"/>
            <a:ext cx="3474720" cy="548640"/>
          </a:xfrm>
          <a:prstGeom prst="rect">
            <a:avLst/>
          </a:prstGeom>
          <a:noFill/>
          <a:ln/>
        </p:spPr>
        <p:txBody>
          <a:bodyPr wrap="square" rtlCol="0" anchor="ctr"/>
          <a:lstStyle/>
          <a:p>
            <a:pPr marL="0" indent="0">
              <a:buNone/>
            </a:pPr>
            <a:r>
              <a:rPr lang="en-US" sz="1100" dirty="0">
                <a:solidFill>
                  <a:srgbClr val="0D1B2A"/>
                </a:solidFill>
                <a:latin typeface="Calibri" pitchFamily="34" charset="0"/>
                <a:ea typeface="Calibri" pitchFamily="34" charset="-122"/>
                <a:cs typeface="Calibri" pitchFamily="34" charset="-120"/>
              </a:rPr>
              <a:t>Type of the field value</a:t>
            </a:r>
            <a:endParaRPr lang="en-US" sz="1100" dirty="0"/>
          </a:p>
        </p:txBody>
      </p:sp>
      <p:sp>
        <p:nvSpPr>
          <p:cNvPr id="21" name="Text 19"/>
          <p:cNvSpPr/>
          <p:nvPr/>
        </p:nvSpPr>
        <p:spPr>
          <a:xfrm>
            <a:off x="6217920" y="3008376"/>
            <a:ext cx="2286000" cy="548640"/>
          </a:xfrm>
          <a:prstGeom prst="rect">
            <a:avLst/>
          </a:prstGeom>
          <a:noFill/>
          <a:ln/>
        </p:spPr>
        <p:txBody>
          <a:bodyPr wrap="square" rtlCol="0" anchor="ctr"/>
          <a:lstStyle/>
          <a:p>
            <a:pPr marL="0" indent="0">
              <a:buNone/>
            </a:pPr>
            <a:r>
              <a:rPr lang="en-US" sz="1000" i="1" dirty="0">
                <a:solidFill>
                  <a:srgbClr val="64748B"/>
                </a:solidFill>
                <a:latin typeface="Calibri" pitchFamily="34" charset="0"/>
                <a:ea typeface="Calibri" pitchFamily="34" charset="-122"/>
                <a:cs typeface="Calibri" pitchFamily="34" charset="-120"/>
              </a:rPr>
              <a:t>String, Integer, Boolean, etc.</a:t>
            </a:r>
            <a:endParaRPr lang="en-US" sz="1000" dirty="0"/>
          </a:p>
        </p:txBody>
      </p:sp>
      <p:sp>
        <p:nvSpPr>
          <p:cNvPr id="22" name="Shape 20"/>
          <p:cNvSpPr/>
          <p:nvPr/>
        </p:nvSpPr>
        <p:spPr>
          <a:xfrm>
            <a:off x="457200" y="3575304"/>
            <a:ext cx="8229600" cy="548640"/>
          </a:xfrm>
          <a:prstGeom prst="rect">
            <a:avLst/>
          </a:prstGeom>
          <a:solidFill>
            <a:srgbClr val="FFFFFF"/>
          </a:solidFill>
          <a:ln w="6350">
            <a:solidFill>
              <a:srgbClr val="CBD5E1"/>
            </a:solidFill>
            <a:prstDash val="solid"/>
          </a:ln>
        </p:spPr>
      </p:sp>
      <p:sp>
        <p:nvSpPr>
          <p:cNvPr id="23" name="Text 21"/>
          <p:cNvSpPr/>
          <p:nvPr/>
        </p:nvSpPr>
        <p:spPr>
          <a:xfrm>
            <a:off x="548640" y="3575304"/>
            <a:ext cx="1920240" cy="548640"/>
          </a:xfrm>
          <a:prstGeom prst="rect">
            <a:avLst/>
          </a:prstGeom>
          <a:noFill/>
          <a:ln/>
        </p:spPr>
        <p:txBody>
          <a:bodyPr wrap="square" rtlCol="0" anchor="ctr"/>
          <a:lstStyle/>
          <a:p>
            <a:pPr marL="0" indent="0">
              <a:buNone/>
            </a:pPr>
            <a:r>
              <a:rPr lang="en-US" sz="1100" b="1" dirty="0">
                <a:solidFill>
                  <a:srgbClr val="0E5C7A"/>
                </a:solidFill>
                <a:latin typeface="Calibri" pitchFamily="34" charset="0"/>
                <a:ea typeface="Calibri" pitchFamily="34" charset="-122"/>
                <a:cs typeface="Calibri" pitchFamily="34" charset="-120"/>
              </a:rPr>
              <a:t>Scrambling Method</a:t>
            </a:r>
            <a:endParaRPr lang="en-US" sz="1100" dirty="0"/>
          </a:p>
        </p:txBody>
      </p:sp>
      <p:sp>
        <p:nvSpPr>
          <p:cNvPr id="24" name="Text 22"/>
          <p:cNvSpPr/>
          <p:nvPr/>
        </p:nvSpPr>
        <p:spPr>
          <a:xfrm>
            <a:off x="2560320" y="3575304"/>
            <a:ext cx="3474720" cy="548640"/>
          </a:xfrm>
          <a:prstGeom prst="rect">
            <a:avLst/>
          </a:prstGeom>
          <a:noFill/>
          <a:ln/>
        </p:spPr>
        <p:txBody>
          <a:bodyPr wrap="square" rtlCol="0" anchor="ctr"/>
          <a:lstStyle/>
          <a:p>
            <a:pPr marL="0" indent="0">
              <a:buNone/>
            </a:pPr>
            <a:r>
              <a:rPr lang="en-US" sz="1100" dirty="0">
                <a:solidFill>
                  <a:srgbClr val="0D1B2A"/>
                </a:solidFill>
                <a:latin typeface="Calibri" pitchFamily="34" charset="0"/>
                <a:ea typeface="Calibri" pitchFamily="34" charset="-122"/>
                <a:cs typeface="Calibri" pitchFamily="34" charset="-120"/>
              </a:rPr>
              <a:t>How data is masked when persisted</a:t>
            </a:r>
            <a:endParaRPr lang="en-US" sz="1100" dirty="0"/>
          </a:p>
        </p:txBody>
      </p:sp>
      <p:sp>
        <p:nvSpPr>
          <p:cNvPr id="25" name="Text 23"/>
          <p:cNvSpPr/>
          <p:nvPr/>
        </p:nvSpPr>
        <p:spPr>
          <a:xfrm>
            <a:off x="6217920" y="3575304"/>
            <a:ext cx="2286000" cy="548640"/>
          </a:xfrm>
          <a:prstGeom prst="rect">
            <a:avLst/>
          </a:prstGeom>
          <a:noFill/>
          <a:ln/>
        </p:spPr>
        <p:txBody>
          <a:bodyPr wrap="square" rtlCol="0" anchor="ctr"/>
          <a:lstStyle/>
          <a:p>
            <a:pPr marL="0" indent="0">
              <a:buNone/>
            </a:pPr>
            <a:r>
              <a:rPr lang="en-US" sz="1000" i="1" dirty="0">
                <a:solidFill>
                  <a:srgbClr val="64748B"/>
                </a:solidFill>
                <a:latin typeface="Calibri" pitchFamily="34" charset="0"/>
                <a:ea typeface="Calibri" pitchFamily="34" charset="-122"/>
                <a:cs typeface="Calibri" pitchFamily="34" charset="-120"/>
              </a:rPr>
              <a:t>Applies to DataLakes storage</a:t>
            </a:r>
            <a:endParaRPr lang="en-US" sz="1000" dirty="0"/>
          </a:p>
        </p:txBody>
      </p:sp>
      <p:sp>
        <p:nvSpPr>
          <p:cNvPr id="26" name="Shape 24"/>
          <p:cNvSpPr/>
          <p:nvPr/>
        </p:nvSpPr>
        <p:spPr>
          <a:xfrm>
            <a:off x="457200" y="4142232"/>
            <a:ext cx="8229600" cy="548640"/>
          </a:xfrm>
          <a:prstGeom prst="rect">
            <a:avLst/>
          </a:prstGeom>
          <a:solidFill>
            <a:srgbClr val="F8FAFC"/>
          </a:solidFill>
          <a:ln w="6350">
            <a:solidFill>
              <a:srgbClr val="CBD5E1"/>
            </a:solidFill>
            <a:prstDash val="solid"/>
          </a:ln>
        </p:spPr>
      </p:sp>
      <p:sp>
        <p:nvSpPr>
          <p:cNvPr id="27" name="Text 25"/>
          <p:cNvSpPr/>
          <p:nvPr/>
        </p:nvSpPr>
        <p:spPr>
          <a:xfrm>
            <a:off x="548640" y="4142232"/>
            <a:ext cx="1920240" cy="548640"/>
          </a:xfrm>
          <a:prstGeom prst="rect">
            <a:avLst/>
          </a:prstGeom>
          <a:noFill/>
          <a:ln/>
        </p:spPr>
        <p:txBody>
          <a:bodyPr wrap="square" rtlCol="0" anchor="ctr"/>
          <a:lstStyle/>
          <a:p>
            <a:pPr marL="0" indent="0">
              <a:buNone/>
            </a:pPr>
            <a:r>
              <a:rPr lang="en-US" sz="1100" b="1" dirty="0">
                <a:solidFill>
                  <a:srgbClr val="0E5C7A"/>
                </a:solidFill>
                <a:latin typeface="Calibri" pitchFamily="34" charset="0"/>
                <a:ea typeface="Calibri" pitchFamily="34" charset="-122"/>
                <a:cs typeface="Calibri" pitchFamily="34" charset="-120"/>
              </a:rPr>
              <a:t>Client Field Mapping</a:t>
            </a:r>
            <a:endParaRPr lang="en-US" sz="1100" dirty="0"/>
          </a:p>
        </p:txBody>
      </p:sp>
      <p:sp>
        <p:nvSpPr>
          <p:cNvPr id="28" name="Text 26"/>
          <p:cNvSpPr/>
          <p:nvPr/>
        </p:nvSpPr>
        <p:spPr>
          <a:xfrm>
            <a:off x="2560320" y="4142232"/>
            <a:ext cx="3474720" cy="548640"/>
          </a:xfrm>
          <a:prstGeom prst="rect">
            <a:avLst/>
          </a:prstGeom>
          <a:noFill/>
          <a:ln/>
        </p:spPr>
        <p:txBody>
          <a:bodyPr wrap="square" rtlCol="0" anchor="ctr"/>
          <a:lstStyle/>
          <a:p>
            <a:pPr marL="0" indent="0">
              <a:buNone/>
            </a:pPr>
            <a:r>
              <a:rPr lang="en-US" sz="1100" dirty="0">
                <a:solidFill>
                  <a:srgbClr val="0D1B2A"/>
                </a:solidFill>
                <a:latin typeface="Calibri" pitchFamily="34" charset="0"/>
                <a:ea typeface="Calibri" pitchFamily="34" charset="-122"/>
                <a:cs typeface="Calibri" pitchFamily="34" charset="-120"/>
              </a:rPr>
              <a:t>Maps stream field to IFM data model field</a:t>
            </a:r>
            <a:endParaRPr lang="en-US" sz="1100" dirty="0"/>
          </a:p>
        </p:txBody>
      </p:sp>
      <p:sp>
        <p:nvSpPr>
          <p:cNvPr id="29" name="Text 27"/>
          <p:cNvSpPr/>
          <p:nvPr/>
        </p:nvSpPr>
        <p:spPr>
          <a:xfrm>
            <a:off x="6217920" y="4142232"/>
            <a:ext cx="2286000" cy="548640"/>
          </a:xfrm>
          <a:prstGeom prst="rect">
            <a:avLst/>
          </a:prstGeom>
          <a:noFill/>
          <a:ln/>
        </p:spPr>
        <p:txBody>
          <a:bodyPr wrap="square" rtlCol="0" anchor="ctr"/>
          <a:lstStyle/>
          <a:p>
            <a:pPr marL="0" indent="0">
              <a:buNone/>
            </a:pPr>
            <a:r>
              <a:rPr lang="en-US" sz="1000" i="1" dirty="0">
                <a:solidFill>
                  <a:srgbClr val="64748B"/>
                </a:solidFill>
                <a:latin typeface="Calibri" pitchFamily="34" charset="0"/>
                <a:ea typeface="Calibri" pitchFamily="34" charset="-122"/>
                <a:cs typeface="Calibri" pitchFamily="34" charset="-120"/>
              </a:rPr>
              <a:t>Based on data type compatibility</a:t>
            </a:r>
            <a:endParaRPr lang="en-US" sz="1000" dirty="0"/>
          </a:p>
        </p:txBody>
      </p:sp>
    </p:spTree>
  </p:cSld>
  <p:clrMapOvr>
    <a:masterClrMapping/>
  </p:clrMapOvr>
  <mc:AlternateContent xmlns:mc="http://schemas.openxmlformats.org/markup-compatibility/2006">
    <mc:Choice xmlns:p14="http://schemas.microsoft.com/office/powerpoint/2010/main" Requires="p14">
      <p:transition p14:dur="0" advClick="0" advTm="27456">
        <p:fade/>
      </p:transition>
    </mc:Choice>
    <mc:Fallback>
      <p:transition advClick="0" advTm="27456">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2C39A"/>
          </a:solidFill>
          <a:ln w="12700">
            <a:solidFill>
              <a:srgbClr val="02C39A"/>
            </a:solidFill>
            <a:prstDash val="solid"/>
          </a:ln>
        </p:spPr>
      </p:sp>
      <p:sp>
        <p:nvSpPr>
          <p:cNvPr id="3" name="Shape 1"/>
          <p:cNvSpPr/>
          <p:nvPr/>
        </p:nvSpPr>
        <p:spPr>
          <a:xfrm>
            <a:off x="0" y="73152"/>
            <a:ext cx="9144000" cy="822960"/>
          </a:xfrm>
          <a:prstGeom prst="rect">
            <a:avLst/>
          </a:prstGeom>
          <a:solidFill>
            <a:srgbClr val="0D1B2A"/>
          </a:solidFill>
          <a:ln w="12700">
            <a:solidFill>
              <a:srgbClr val="0D1B2A"/>
            </a:solidFill>
            <a:prstDash val="solid"/>
          </a:ln>
        </p:spPr>
      </p:sp>
      <p:sp>
        <p:nvSpPr>
          <p:cNvPr id="4" name="Text 2"/>
          <p:cNvSpPr/>
          <p:nvPr/>
        </p:nvSpPr>
        <p:spPr>
          <a:xfrm>
            <a:off x="365760" y="91440"/>
            <a:ext cx="8229600" cy="786384"/>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Detection Process Tab</a:t>
            </a:r>
            <a:endParaRPr lang="en-US" sz="2200" dirty="0"/>
          </a:p>
        </p:txBody>
      </p:sp>
      <p:sp>
        <p:nvSpPr>
          <p:cNvPr id="5" name="Text 3"/>
          <p:cNvSpPr/>
          <p:nvPr/>
        </p:nvSpPr>
        <p:spPr>
          <a:xfrm>
            <a:off x="457200" y="1005840"/>
            <a:ext cx="8229600" cy="457200"/>
          </a:xfrm>
          <a:prstGeom prst="rect">
            <a:avLst/>
          </a:prstGeom>
          <a:noFill/>
          <a:ln/>
        </p:spPr>
        <p:txBody>
          <a:bodyPr wrap="square" rtlCol="0" anchor="ctr"/>
          <a:lstStyle/>
          <a:p>
            <a:pPr marL="0" indent="0">
              <a:buNone/>
            </a:pPr>
            <a:r>
              <a:rPr lang="en-US" sz="1400" dirty="0">
                <a:solidFill>
                  <a:srgbClr val="0D1B2A"/>
                </a:solidFill>
                <a:latin typeface="Calibri" pitchFamily="34" charset="0"/>
                <a:ea typeface="Calibri" pitchFamily="34" charset="-122"/>
                <a:cs typeface="Calibri" pitchFamily="34" charset="-120"/>
              </a:rPr>
              <a:t>Similarly, click the Add item (+) icon to specify the required detection process for the data stream.</a:t>
            </a:r>
            <a:endParaRPr lang="en-US" sz="1400" dirty="0"/>
          </a:p>
        </p:txBody>
      </p:sp>
      <p:sp>
        <p:nvSpPr>
          <p:cNvPr id="6" name="Shape 4"/>
          <p:cNvSpPr/>
          <p:nvPr/>
        </p:nvSpPr>
        <p:spPr>
          <a:xfrm>
            <a:off x="457200" y="1600200"/>
            <a:ext cx="8229600" cy="1097280"/>
          </a:xfrm>
          <a:prstGeom prst="rect">
            <a:avLst/>
          </a:prstGeom>
          <a:solidFill>
            <a:srgbClr val="1B7FA6">
              <a:alpha val="12000"/>
            </a:srgbClr>
          </a:solidFill>
          <a:ln w="19050">
            <a:solidFill>
              <a:srgbClr val="1B7FA6"/>
            </a:solidFill>
            <a:prstDash val="solid"/>
          </a:ln>
        </p:spPr>
      </p:sp>
      <p:sp>
        <p:nvSpPr>
          <p:cNvPr id="7" name="Shape 5"/>
          <p:cNvSpPr/>
          <p:nvPr/>
        </p:nvSpPr>
        <p:spPr>
          <a:xfrm>
            <a:off x="457200" y="1600200"/>
            <a:ext cx="64008" cy="1097280"/>
          </a:xfrm>
          <a:prstGeom prst="rect">
            <a:avLst/>
          </a:prstGeom>
          <a:solidFill>
            <a:srgbClr val="02C39A"/>
          </a:solidFill>
          <a:ln w="12700">
            <a:solidFill>
              <a:srgbClr val="02C39A"/>
            </a:solidFill>
            <a:prstDash val="solid"/>
          </a:ln>
        </p:spPr>
      </p:sp>
      <p:sp>
        <p:nvSpPr>
          <p:cNvPr id="8" name="Text 6"/>
          <p:cNvSpPr/>
          <p:nvPr/>
        </p:nvSpPr>
        <p:spPr>
          <a:xfrm>
            <a:off x="640080" y="1645920"/>
            <a:ext cx="1828800" cy="320040"/>
          </a:xfrm>
          <a:prstGeom prst="rect">
            <a:avLst/>
          </a:prstGeom>
          <a:noFill/>
          <a:ln/>
        </p:spPr>
        <p:txBody>
          <a:bodyPr wrap="square" lIns="0" tIns="0" rIns="0" bIns="0" rtlCol="0" anchor="ctr"/>
          <a:lstStyle/>
          <a:p>
            <a:pPr marL="0" indent="0">
              <a:buNone/>
            </a:pPr>
            <a:r>
              <a:rPr lang="en-US" sz="1200" b="1" dirty="0">
                <a:solidFill>
                  <a:srgbClr val="0E5C7A"/>
                </a:solidFill>
                <a:latin typeface="Calibri" pitchFamily="34" charset="0"/>
                <a:ea typeface="Calibri" pitchFamily="34" charset="-122"/>
                <a:cs typeface="Calibri" pitchFamily="34" charset="-120"/>
              </a:rPr>
              <a:t>Result</a:t>
            </a:r>
            <a:endParaRPr lang="en-US" sz="1200" dirty="0"/>
          </a:p>
        </p:txBody>
      </p:sp>
      <p:sp>
        <p:nvSpPr>
          <p:cNvPr id="9" name="Text 7"/>
          <p:cNvSpPr/>
          <p:nvPr/>
        </p:nvSpPr>
        <p:spPr>
          <a:xfrm>
            <a:off x="640080" y="1965960"/>
            <a:ext cx="7863840" cy="594360"/>
          </a:xfrm>
          <a:prstGeom prst="rect">
            <a:avLst/>
          </a:prstGeom>
          <a:noFill/>
          <a:ln/>
        </p:spPr>
        <p:txBody>
          <a:bodyPr wrap="square" lIns="0" tIns="0" rIns="0" bIns="0" rtlCol="0" anchor="ctr"/>
          <a:lstStyle/>
          <a:p>
            <a:pPr marL="0" indent="0">
              <a:buNone/>
            </a:pPr>
            <a:r>
              <a:rPr lang="en-US" sz="1300" dirty="0">
                <a:solidFill>
                  <a:srgbClr val="0D1B2A"/>
                </a:solidFill>
                <a:latin typeface="Calibri" pitchFamily="34" charset="0"/>
                <a:ea typeface="Calibri" pitchFamily="34" charset="-122"/>
                <a:cs typeface="Calibri" pitchFamily="34" charset="-120"/>
              </a:rPr>
              <a:t>Once a data stream is configured, its fields are displayed in Policy Manager rules, profile and rule contexts — in the same way as out-of-the-box DFM fields.</a:t>
            </a:r>
            <a:endParaRPr lang="en-US" sz="1300" dirty="0"/>
          </a:p>
        </p:txBody>
      </p:sp>
      <p:sp>
        <p:nvSpPr>
          <p:cNvPr id="10" name="Shape 8"/>
          <p:cNvSpPr/>
          <p:nvPr/>
        </p:nvSpPr>
        <p:spPr>
          <a:xfrm>
            <a:off x="365760" y="2926080"/>
            <a:ext cx="1920240" cy="640080"/>
          </a:xfrm>
          <a:prstGeom prst="rect">
            <a:avLst/>
          </a:prstGeom>
          <a:solidFill>
            <a:srgbClr val="0D1B2A"/>
          </a:solidFill>
          <a:ln w="12700">
            <a:solidFill>
              <a:srgbClr val="0D1B2A"/>
            </a:solidFill>
            <a:prstDash val="solid"/>
          </a:ln>
        </p:spPr>
      </p:sp>
      <p:sp>
        <p:nvSpPr>
          <p:cNvPr id="11" name="Text 9"/>
          <p:cNvSpPr/>
          <p:nvPr/>
        </p:nvSpPr>
        <p:spPr>
          <a:xfrm>
            <a:off x="365760" y="2926080"/>
            <a:ext cx="1920240" cy="640080"/>
          </a:xfrm>
          <a:prstGeom prst="rect">
            <a:avLst/>
          </a:prstGeom>
          <a:noFill/>
          <a:ln/>
        </p:spPr>
        <p:txBody>
          <a:bodyPr wrap="square" lIns="50800" tIns="50800" rIns="50800" bIns="5080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Data Stream Configured</a:t>
            </a:r>
            <a:endParaRPr lang="en-US" sz="1000" dirty="0"/>
          </a:p>
        </p:txBody>
      </p:sp>
      <p:sp>
        <p:nvSpPr>
          <p:cNvPr id="12" name="Text 10"/>
          <p:cNvSpPr/>
          <p:nvPr/>
        </p:nvSpPr>
        <p:spPr>
          <a:xfrm>
            <a:off x="2286000" y="2926080"/>
            <a:ext cx="228600" cy="640080"/>
          </a:xfrm>
          <a:prstGeom prst="rect">
            <a:avLst/>
          </a:prstGeom>
          <a:noFill/>
          <a:ln/>
        </p:spPr>
        <p:txBody>
          <a:bodyPr wrap="square" lIns="0" tIns="0" rIns="0" bIns="0" rtlCol="0" anchor="ctr"/>
          <a:lstStyle/>
          <a:p>
            <a:pPr marL="0" indent="0" algn="ctr">
              <a:buNone/>
            </a:pPr>
            <a:r>
              <a:rPr lang="en-US" sz="1600" dirty="0">
                <a:solidFill>
                  <a:srgbClr val="1B7FA6"/>
                </a:solidFill>
              </a:rPr>
              <a:t>→</a:t>
            </a:r>
            <a:endParaRPr lang="en-US" sz="1600" dirty="0"/>
          </a:p>
        </p:txBody>
      </p:sp>
      <p:sp>
        <p:nvSpPr>
          <p:cNvPr id="13" name="Shape 11"/>
          <p:cNvSpPr/>
          <p:nvPr/>
        </p:nvSpPr>
        <p:spPr>
          <a:xfrm>
            <a:off x="2514600" y="2926080"/>
            <a:ext cx="1920240" cy="640080"/>
          </a:xfrm>
          <a:prstGeom prst="rect">
            <a:avLst/>
          </a:prstGeom>
          <a:solidFill>
            <a:srgbClr val="0D1B2A"/>
          </a:solidFill>
          <a:ln w="12700">
            <a:solidFill>
              <a:srgbClr val="0D1B2A"/>
            </a:solidFill>
            <a:prstDash val="solid"/>
          </a:ln>
        </p:spPr>
      </p:sp>
      <p:sp>
        <p:nvSpPr>
          <p:cNvPr id="14" name="Text 12"/>
          <p:cNvSpPr/>
          <p:nvPr/>
        </p:nvSpPr>
        <p:spPr>
          <a:xfrm>
            <a:off x="2514600" y="2926080"/>
            <a:ext cx="1920240" cy="640080"/>
          </a:xfrm>
          <a:prstGeom prst="rect">
            <a:avLst/>
          </a:prstGeom>
          <a:noFill/>
          <a:ln/>
        </p:spPr>
        <p:txBody>
          <a:bodyPr wrap="square" lIns="50800" tIns="50800" rIns="50800" bIns="5080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Fields Registered</a:t>
            </a:r>
            <a:endParaRPr lang="en-US" sz="1000" dirty="0"/>
          </a:p>
        </p:txBody>
      </p:sp>
      <p:sp>
        <p:nvSpPr>
          <p:cNvPr id="15" name="Text 13"/>
          <p:cNvSpPr/>
          <p:nvPr/>
        </p:nvSpPr>
        <p:spPr>
          <a:xfrm>
            <a:off x="4434840" y="2926080"/>
            <a:ext cx="228600" cy="640080"/>
          </a:xfrm>
          <a:prstGeom prst="rect">
            <a:avLst/>
          </a:prstGeom>
          <a:noFill/>
          <a:ln/>
        </p:spPr>
        <p:txBody>
          <a:bodyPr wrap="square" lIns="0" tIns="0" rIns="0" bIns="0" rtlCol="0" anchor="ctr"/>
          <a:lstStyle/>
          <a:p>
            <a:pPr marL="0" indent="0" algn="ctr">
              <a:buNone/>
            </a:pPr>
            <a:r>
              <a:rPr lang="en-US" sz="1600" dirty="0">
                <a:solidFill>
                  <a:srgbClr val="1B7FA6"/>
                </a:solidFill>
              </a:rPr>
              <a:t>→</a:t>
            </a:r>
            <a:endParaRPr lang="en-US" sz="1600" dirty="0"/>
          </a:p>
        </p:txBody>
      </p:sp>
      <p:sp>
        <p:nvSpPr>
          <p:cNvPr id="16" name="Shape 14"/>
          <p:cNvSpPr/>
          <p:nvPr/>
        </p:nvSpPr>
        <p:spPr>
          <a:xfrm>
            <a:off x="4663440" y="2926080"/>
            <a:ext cx="1920240" cy="640080"/>
          </a:xfrm>
          <a:prstGeom prst="rect">
            <a:avLst/>
          </a:prstGeom>
          <a:solidFill>
            <a:srgbClr val="0D1B2A"/>
          </a:solidFill>
          <a:ln w="12700">
            <a:solidFill>
              <a:srgbClr val="0D1B2A"/>
            </a:solidFill>
            <a:prstDash val="solid"/>
          </a:ln>
        </p:spPr>
      </p:sp>
      <p:sp>
        <p:nvSpPr>
          <p:cNvPr id="17" name="Text 15"/>
          <p:cNvSpPr/>
          <p:nvPr/>
        </p:nvSpPr>
        <p:spPr>
          <a:xfrm>
            <a:off x="4663440" y="2926080"/>
            <a:ext cx="1920240" cy="640080"/>
          </a:xfrm>
          <a:prstGeom prst="rect">
            <a:avLst/>
          </a:prstGeom>
          <a:noFill/>
          <a:ln/>
        </p:spPr>
        <p:txBody>
          <a:bodyPr wrap="square" lIns="50800" tIns="50800" rIns="50800" bIns="5080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Available in Policy Manager</a:t>
            </a:r>
            <a:endParaRPr lang="en-US" sz="1000" dirty="0"/>
          </a:p>
        </p:txBody>
      </p:sp>
      <p:sp>
        <p:nvSpPr>
          <p:cNvPr id="18" name="Text 16"/>
          <p:cNvSpPr/>
          <p:nvPr/>
        </p:nvSpPr>
        <p:spPr>
          <a:xfrm>
            <a:off x="6583680" y="2926080"/>
            <a:ext cx="228600" cy="640080"/>
          </a:xfrm>
          <a:prstGeom prst="rect">
            <a:avLst/>
          </a:prstGeom>
          <a:noFill/>
          <a:ln/>
        </p:spPr>
        <p:txBody>
          <a:bodyPr wrap="square" lIns="0" tIns="0" rIns="0" bIns="0" rtlCol="0" anchor="ctr"/>
          <a:lstStyle/>
          <a:p>
            <a:pPr marL="0" indent="0" algn="ctr">
              <a:buNone/>
            </a:pPr>
            <a:r>
              <a:rPr lang="en-US" sz="1600" dirty="0">
                <a:solidFill>
                  <a:srgbClr val="1B7FA6"/>
                </a:solidFill>
              </a:rPr>
              <a:t>→</a:t>
            </a:r>
            <a:endParaRPr lang="en-US" sz="1600" dirty="0"/>
          </a:p>
        </p:txBody>
      </p:sp>
      <p:sp>
        <p:nvSpPr>
          <p:cNvPr id="19" name="Shape 17"/>
          <p:cNvSpPr/>
          <p:nvPr/>
        </p:nvSpPr>
        <p:spPr>
          <a:xfrm>
            <a:off x="6812280" y="2926080"/>
            <a:ext cx="1920240" cy="640080"/>
          </a:xfrm>
          <a:prstGeom prst="rect">
            <a:avLst/>
          </a:prstGeom>
          <a:solidFill>
            <a:srgbClr val="0D1B2A"/>
          </a:solidFill>
          <a:ln w="12700">
            <a:solidFill>
              <a:srgbClr val="0D1B2A"/>
            </a:solidFill>
            <a:prstDash val="solid"/>
          </a:ln>
        </p:spPr>
      </p:sp>
      <p:sp>
        <p:nvSpPr>
          <p:cNvPr id="20" name="Text 18"/>
          <p:cNvSpPr/>
          <p:nvPr/>
        </p:nvSpPr>
        <p:spPr>
          <a:xfrm>
            <a:off x="6812280" y="2926080"/>
            <a:ext cx="1920240" cy="640080"/>
          </a:xfrm>
          <a:prstGeom prst="rect">
            <a:avLst/>
          </a:prstGeom>
          <a:noFill/>
          <a:ln/>
        </p:spPr>
        <p:txBody>
          <a:bodyPr wrap="square" lIns="50800" tIns="50800" rIns="50800" bIns="5080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Use in Rules &amp; Profiles</a:t>
            </a:r>
            <a:endParaRPr lang="en-US" sz="1000" dirty="0"/>
          </a:p>
        </p:txBody>
      </p:sp>
    </p:spTree>
  </p:cSld>
  <p:clrMapOvr>
    <a:masterClrMapping/>
  </p:clrMapOvr>
  <mc:AlternateContent xmlns:mc="http://schemas.openxmlformats.org/markup-compatibility/2006">
    <mc:Choice xmlns:p14="http://schemas.microsoft.com/office/powerpoint/2010/main" Requires="p14">
      <p:transition p14:dur="0" advClick="0" advTm="20256">
        <p:fade/>
      </p:transition>
    </mc:Choice>
    <mc:Fallback>
      <p:transition advClick="0" advTm="20256">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2C39A"/>
          </a:solidFill>
          <a:ln w="12700">
            <a:solidFill>
              <a:srgbClr val="02C39A"/>
            </a:solidFill>
            <a:prstDash val="solid"/>
          </a:ln>
        </p:spPr>
      </p:sp>
      <p:sp>
        <p:nvSpPr>
          <p:cNvPr id="3" name="Shape 1"/>
          <p:cNvSpPr/>
          <p:nvPr/>
        </p:nvSpPr>
        <p:spPr>
          <a:xfrm>
            <a:off x="5943600" y="731520"/>
            <a:ext cx="4114800" cy="4114800"/>
          </a:xfrm>
          <a:prstGeom prst="ellipse">
            <a:avLst/>
          </a:prstGeom>
          <a:solidFill>
            <a:srgbClr val="1B7FA6">
              <a:alpha val="18000"/>
            </a:srgbClr>
          </a:solidFill>
          <a:ln w="12700">
            <a:solidFill>
              <a:srgbClr val="1B7FA6">
                <a:alpha val="25000"/>
              </a:srgbClr>
            </a:solidFill>
            <a:prstDash val="solid"/>
          </a:ln>
        </p:spPr>
      </p:sp>
      <p:sp>
        <p:nvSpPr>
          <p:cNvPr id="4" name="Shape 2"/>
          <p:cNvSpPr/>
          <p:nvPr/>
        </p:nvSpPr>
        <p:spPr>
          <a:xfrm>
            <a:off x="6858000" y="1371600"/>
            <a:ext cx="2743200" cy="2743200"/>
          </a:xfrm>
          <a:prstGeom prst="ellipse">
            <a:avLst/>
          </a:prstGeom>
          <a:solidFill>
            <a:srgbClr val="02C39A">
              <a:alpha val="12000"/>
            </a:srgbClr>
          </a:solidFill>
          <a:ln w="12700">
            <a:solidFill>
              <a:srgbClr val="02C39A">
                <a:alpha val="20000"/>
              </a:srgbClr>
            </a:solidFill>
            <a:prstDash val="solid"/>
          </a:ln>
        </p:spPr>
      </p:sp>
      <p:sp>
        <p:nvSpPr>
          <p:cNvPr id="5" name="Text 3"/>
          <p:cNvSpPr/>
          <p:nvPr/>
        </p:nvSpPr>
        <p:spPr>
          <a:xfrm>
            <a:off x="548640" y="1280160"/>
            <a:ext cx="5486400" cy="914400"/>
          </a:xfrm>
          <a:prstGeom prst="rect">
            <a:avLst/>
          </a:prstGeom>
          <a:noFill/>
          <a:ln/>
        </p:spPr>
        <p:txBody>
          <a:bodyPr wrap="square" lIns="0" tIns="0" rIns="0" bIns="0" rtlCol="0" anchor="ctr"/>
          <a:lstStyle/>
          <a:p>
            <a:pPr marL="0" indent="0">
              <a:buNone/>
            </a:pPr>
            <a:r>
              <a:rPr lang="en-US" sz="4800" b="1" dirty="0">
                <a:solidFill>
                  <a:srgbClr val="FFFFFF"/>
                </a:solidFill>
                <a:latin typeface="Calibri" pitchFamily="34" charset="0"/>
                <a:ea typeface="Calibri" pitchFamily="34" charset="-122"/>
                <a:cs typeface="Calibri" pitchFamily="34" charset="-120"/>
              </a:rPr>
              <a:t>Thank You</a:t>
            </a:r>
            <a:endParaRPr lang="en-US" sz="4800" dirty="0"/>
          </a:p>
        </p:txBody>
      </p:sp>
      <p:sp>
        <p:nvSpPr>
          <p:cNvPr id="6" name="Shape 4"/>
          <p:cNvSpPr/>
          <p:nvPr/>
        </p:nvSpPr>
        <p:spPr>
          <a:xfrm>
            <a:off x="548640" y="2240280"/>
            <a:ext cx="1371600" cy="54864"/>
          </a:xfrm>
          <a:prstGeom prst="rect">
            <a:avLst/>
          </a:prstGeom>
          <a:solidFill>
            <a:srgbClr val="02C39A"/>
          </a:solidFill>
          <a:ln w="12700">
            <a:solidFill>
              <a:srgbClr val="02C39A"/>
            </a:solidFill>
            <a:prstDash val="solid"/>
          </a:ln>
        </p:spPr>
      </p:sp>
      <p:sp>
        <p:nvSpPr>
          <p:cNvPr id="7" name="Text 5"/>
          <p:cNvSpPr/>
          <p:nvPr/>
        </p:nvSpPr>
        <p:spPr>
          <a:xfrm>
            <a:off x="548640" y="2423160"/>
            <a:ext cx="5943600" cy="731520"/>
          </a:xfrm>
          <a:prstGeom prst="rect">
            <a:avLst/>
          </a:prstGeom>
          <a:noFill/>
          <a:ln/>
        </p:spPr>
        <p:txBody>
          <a:bodyPr wrap="square" lIns="0" tIns="0" rIns="0" bIns="0" rtlCol="0" anchor="ctr"/>
          <a:lstStyle/>
          <a:p>
            <a:pPr marL="0" indent="0">
              <a:buNone/>
            </a:pPr>
            <a:r>
              <a:rPr lang="en-US" sz="1600" dirty="0">
                <a:solidFill>
                  <a:srgbClr val="CBD5E1"/>
                </a:solidFill>
                <a:latin typeface="Calibri" pitchFamily="34" charset="0"/>
                <a:ea typeface="Calibri" pitchFamily="34" charset="-122"/>
                <a:cs typeface="Calibri" pitchFamily="34" charset="-120"/>
              </a:rPr>
              <a:t>For more information, visit our</a:t>
            </a:r>
            <a:endParaRPr lang="en-US" sz="1600" dirty="0"/>
          </a:p>
          <a:p>
            <a:pPr marL="0" indent="0">
              <a:buNone/>
            </a:pPr>
            <a:r>
              <a:rPr lang="en-US" sz="1600" dirty="0">
                <a:solidFill>
                  <a:srgbClr val="CBD5E1"/>
                </a:solidFill>
                <a:latin typeface="Calibri" pitchFamily="34" charset="0"/>
                <a:ea typeface="Calibri" pitchFamily="34" charset="-122"/>
                <a:cs typeface="Calibri" pitchFamily="34" charset="-120"/>
              </a:rPr>
              <a:t>Documentation Center.</a:t>
            </a:r>
            <a:endParaRPr lang="en-US" sz="1600" dirty="0"/>
          </a:p>
        </p:txBody>
      </p:sp>
      <p:sp>
        <p:nvSpPr>
          <p:cNvPr id="8" name="Text 6"/>
          <p:cNvSpPr/>
          <p:nvPr/>
        </p:nvSpPr>
        <p:spPr>
          <a:xfrm>
            <a:off x="548640" y="3383280"/>
            <a:ext cx="5486400" cy="822960"/>
          </a:xfrm>
          <a:prstGeom prst="rect">
            <a:avLst/>
          </a:prstGeom>
          <a:noFill/>
          <a:ln/>
        </p:spPr>
        <p:txBody>
          <a:bodyPr wrap="square" lIns="0" tIns="0" rIns="0" bIns="0" rtlCol="0" anchor="ctr"/>
          <a:lstStyle/>
          <a:p>
            <a:pPr marL="0" indent="0">
              <a:buNone/>
            </a:pPr>
            <a:r>
              <a:rPr lang="en-US" sz="1300" i="1" dirty="0">
                <a:solidFill>
                  <a:srgbClr val="64748B"/>
                </a:solidFill>
                <a:latin typeface="Calibri" pitchFamily="34" charset="0"/>
                <a:ea typeface="Calibri" pitchFamily="34" charset="-122"/>
                <a:cs typeface="Calibri" pitchFamily="34" charset="-120"/>
              </a:rPr>
              <a:t>StreamGuard Analytics Platform</a:t>
            </a:r>
            <a:endParaRPr lang="en-US" sz="1300" dirty="0"/>
          </a:p>
          <a:p>
            <a:pPr marL="0" indent="0">
              <a:buNone/>
            </a:pPr>
            <a:r>
              <a:rPr lang="en-US" sz="1300" i="1" dirty="0">
                <a:solidFill>
                  <a:srgbClr val="64748B"/>
                </a:solidFill>
                <a:latin typeface="Calibri" pitchFamily="34" charset="0"/>
                <a:ea typeface="Calibri" pitchFamily="34" charset="-122"/>
                <a:cs typeface="Calibri" pitchFamily="34" charset="-120"/>
              </a:rPr>
              <a:t>Video Documentation Series</a:t>
            </a:r>
            <a:endParaRPr lang="en-US" sz="1300" dirty="0"/>
          </a:p>
        </p:txBody>
      </p:sp>
      <p:sp>
        <p:nvSpPr>
          <p:cNvPr id="9" name="Shape 7"/>
          <p:cNvSpPr/>
          <p:nvPr/>
        </p:nvSpPr>
        <p:spPr>
          <a:xfrm>
            <a:off x="0" y="4754880"/>
            <a:ext cx="9144000" cy="384048"/>
          </a:xfrm>
          <a:prstGeom prst="rect">
            <a:avLst/>
          </a:prstGeom>
          <a:solidFill>
            <a:srgbClr val="0E5C7A"/>
          </a:solidFill>
          <a:ln w="12700">
            <a:solidFill>
              <a:srgbClr val="0E5C7A"/>
            </a:solidFill>
            <a:prstDash val="solid"/>
          </a:ln>
        </p:spPr>
      </p:sp>
      <p:sp>
        <p:nvSpPr>
          <p:cNvPr id="10" name="Text 8"/>
          <p:cNvSpPr/>
          <p:nvPr/>
        </p:nvSpPr>
        <p:spPr>
          <a:xfrm>
            <a:off x="274320" y="4773168"/>
            <a:ext cx="8595360" cy="347472"/>
          </a:xfrm>
          <a:prstGeom prst="rect">
            <a:avLst/>
          </a:prstGeom>
          <a:noFill/>
          <a:ln/>
        </p:spPr>
        <p:txBody>
          <a:bodyPr wrap="square" rtlCol="0" anchor="ctr"/>
          <a:lstStyle/>
          <a:p>
            <a:pPr marL="0" indent="0" algn="ctr">
              <a:buNone/>
            </a:pPr>
            <a:r>
              <a:rPr lang="en-US" sz="1100" dirty="0">
                <a:solidFill>
                  <a:srgbClr val="CBD5E1"/>
                </a:solidFill>
                <a:latin typeface="Calibri" pitchFamily="34" charset="0"/>
                <a:ea typeface="Calibri" pitchFamily="34" charset="-122"/>
                <a:cs typeface="Calibri" pitchFamily="34" charset="-120"/>
              </a:rPr>
              <a:t>StreamGuard Analytics Platform  |  Video Documentation Series</a:t>
            </a:r>
            <a:endParaRPr lang="en-US" sz="1100" dirty="0"/>
          </a:p>
        </p:txBody>
      </p:sp>
    </p:spTree>
  </p:cSld>
  <p:clrMapOvr>
    <a:masterClrMapping/>
  </p:clrMapOvr>
  <mc:AlternateContent xmlns:mc="http://schemas.openxmlformats.org/markup-compatibility/2006">
    <mc:Choice xmlns:p14="http://schemas.microsoft.com/office/powerpoint/2010/main" Requires="p14">
      <p:transition p14:dur="0" advClick="0" advTm="6144">
        <p:fade/>
      </p:transition>
    </mc:Choice>
    <mc:Fallback>
      <p:transition advClick="0" advTm="6144">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1279</Words>
  <Application>Microsoft Office PowerPoint</Application>
  <PresentationFormat>On-screen Show (16:9)</PresentationFormat>
  <Paragraphs>158</Paragraphs>
  <Slides>14</Slides>
  <Notes>14</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14</vt:i4>
      </vt:variant>
    </vt:vector>
  </HeadingPairs>
  <TitlesOfParts>
    <vt:vector size="18" baseType="lpstr">
      <vt:lpstr>Arial</vt:lpstr>
      <vt:lpstr>Calibri</vt:lpstr>
      <vt:lpstr>Consolas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DFM-X Data Stream Integration</dc:title>
  <dc:subject>PptxGenJS Presentation</dc:subject>
  <dc:creator>Documentation Team</dc:creator>
  <cp:lastModifiedBy>Sulagna</cp:lastModifiedBy>
  <cp:revision>3</cp:revision>
  <dcterms:created xsi:type="dcterms:W3CDTF">2026-02-25T09:23:26Z</dcterms:created>
  <dcterms:modified xsi:type="dcterms:W3CDTF">2026-02-28T09:02:02Z</dcterms:modified>
</cp:coreProperties>
</file>