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this Data Stream Integration Documentation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covers: how Data Stream Integration works and the required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enables customers to map semi-structured data stream fields to master feed client fields. The mapped fields can later be used when defining Policy Manager rules, Profiles and Rule components using Platform Lists.
In order to do that, the data streams must be configured either in the Platform Lists or in the SG_dataStreamClientFieldMapping.ini file available in the App Server instance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SG_dataStreamClientFieldMapping.ini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list in AdminOne or SG_dataStreamClientFieldMapping.ini file — that depends on the value set for SG_enableDataStreamClientFieldIniFileMapping parameter.
If FALSE then mapping fields are read from the AdminOne interface.
The SG_enableDataStreamIntegration parameter must be set TRUE to enable the Data Stream Integration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deep dive into the platform lists in AdminOne user interface.
Data Integration Manager, Data Elements, and Detection Process platform lists enable you to configure data streams.
The Data Integration Manager wizard allows you to configure the data stream and the fields flowing through it.
Data Elements and Detection Process platform lists are nested within the Data Integration Manager. These lists can be updated independently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to Configure Platform Lists for Data Streams.
Once you log on to AdminOne, go to the Settings tab and select Platform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Platform List Items, select Data Integration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new item icon to add a new platform list.
It opens the New Platform List Item 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Stream Identifier field, select a data stream field from the existing data streams. This field is mandatory and should be unique.
In the Data Stream Name field, specify the business name to be displayed for the data stream. The value must be unique with maximum length of 50 characters.
In the Description field, specify additional information related to the data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define a data stream, click the arrow icon in the first column to configure fields further for the data streams. The Data Elements and Detection Process tabs are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Elements tab, click the Add item to list Data Elements (+) icon to specify various information like Key Identifier (the key in JSON string), Business Name displayed on Policy Manager and Analytics Authoring Environment, data type and Scrambling method when the data is persisted into DataLakes.
Based on the new Data Stream field's data type, you can map a Data Stream field with a relevant Client field in the DFM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the Data Elements tab, click the Add item to list Data Elements (+) icon and specify the required detection process for the data stream.
Once a data stream is configured, its fields are displayed in policy manager rules, profile and rule contexts in the same way as out-of-the-box DFM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For more information, visit our Documentation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858000" y="457200"/>
            <a:ext cx="3200400" cy="3200400"/>
          </a:xfrm>
          <a:prstGeom prst="ellipse">
            <a:avLst/>
          </a:prstGeom>
          <a:solidFill>
            <a:srgbClr val="1B7FA6">
              <a:alpha val="20000"/>
            </a:srgbClr>
          </a:solidFill>
          <a:ln w="12700">
            <a:solidFill>
              <a:srgbClr val="1B7FA6">
                <a:alpha val="40000"/>
              </a:srgbClr>
            </a:solidFill>
            <a:prstDash val="solid"/>
          </a:ln>
        </p:spPr>
      </p:sp>
      <p:sp>
        <p:nvSpPr>
          <p:cNvPr id="4" name="Shape 2"/>
          <p:cNvSpPr/>
          <p:nvPr/>
        </p:nvSpPr>
        <p:spPr>
          <a:xfrm>
            <a:off x="7315200" y="822960"/>
            <a:ext cx="2286000" cy="2286000"/>
          </a:xfrm>
          <a:prstGeom prst="ellipse">
            <a:avLst/>
          </a:prstGeom>
          <a:solidFill>
            <a:srgbClr val="02C39A">
              <a:alpha val="15000"/>
            </a:srgbClr>
          </a:solidFill>
          <a:ln w="12700">
            <a:solidFill>
              <a:srgbClr val="02C39A">
                <a:alpha val="30000"/>
              </a:srgbClr>
            </a:solidFill>
            <a:prstDash val="solid"/>
          </a:ln>
        </p:spPr>
      </p:sp>
      <p:sp>
        <p:nvSpPr>
          <p:cNvPr id="5" name="Text 3"/>
          <p:cNvSpPr/>
          <p:nvPr/>
        </p:nvSpPr>
        <p:spPr>
          <a:xfrm>
            <a:off x="548640" y="914400"/>
            <a:ext cx="5486400" cy="731520"/>
          </a:xfrm>
          <a:prstGeom prst="rect">
            <a:avLst/>
          </a:prstGeom>
          <a:noFill/>
          <a:ln/>
        </p:spPr>
        <p:txBody>
          <a:bodyPr wrap="square" lIns="0" tIns="0" rIns="0" bIns="0" rtlCol="0" anchor="ctr"/>
          <a:lstStyle/>
          <a:p>
            <a:pPr indent="0" marL="0">
              <a:buNone/>
            </a:pPr>
            <a:r>
              <a:rPr lang="en-US" sz="4400" b="1" dirty="0">
                <a:solidFill>
                  <a:srgbClr val="02C39A"/>
                </a:solidFill>
                <a:latin typeface="Calibri" pitchFamily="34" charset="0"/>
                <a:ea typeface="Calibri" pitchFamily="34" charset="-122"/>
                <a:cs typeface="Calibri" pitchFamily="34" charset="-120"/>
              </a:rPr>
              <a:t>DFM-X</a:t>
            </a:r>
            <a:endParaRPr lang="en-US" sz="4400" dirty="0"/>
          </a:p>
        </p:txBody>
      </p:sp>
      <p:sp>
        <p:nvSpPr>
          <p:cNvPr id="6" name="Text 4"/>
          <p:cNvSpPr/>
          <p:nvPr/>
        </p:nvSpPr>
        <p:spPr>
          <a:xfrm>
            <a:off x="548640" y="1600200"/>
            <a:ext cx="6400800" cy="640080"/>
          </a:xfrm>
          <a:prstGeom prst="rect">
            <a:avLst/>
          </a:prstGeom>
          <a:noFill/>
          <a:ln/>
        </p:spPr>
        <p:txBody>
          <a:bodyPr wrap="square" lIns="0" tIns="0" rIns="0" bIns="0" rtlCol="0" anchor="ctr"/>
          <a:lstStyle/>
          <a:p>
            <a:pPr indent="0" marL="0">
              <a:buNone/>
            </a:pPr>
            <a:r>
              <a:rPr lang="en-US" sz="2800" dirty="0">
                <a:solidFill>
                  <a:srgbClr val="FFFFFF"/>
                </a:solidFill>
                <a:latin typeface="Calibri" pitchFamily="34" charset="0"/>
                <a:ea typeface="Calibri" pitchFamily="34" charset="-122"/>
                <a:cs typeface="Calibri" pitchFamily="34" charset="-120"/>
              </a:rPr>
              <a:t>Data Stream Integration</a:t>
            </a:r>
            <a:endParaRPr lang="en-US" sz="2800" dirty="0"/>
          </a:p>
        </p:txBody>
      </p:sp>
      <p:sp>
        <p:nvSpPr>
          <p:cNvPr id="7" name="Text 5"/>
          <p:cNvSpPr/>
          <p:nvPr/>
        </p:nvSpPr>
        <p:spPr>
          <a:xfrm>
            <a:off x="548640" y="2331720"/>
            <a:ext cx="6858000" cy="8229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Understanding integration of semi-structured data streams</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in the Data Flow Management (DFM) Component</a:t>
            </a:r>
            <a:endParaRPr lang="en-US" sz="1400" dirty="0"/>
          </a:p>
        </p:txBody>
      </p:sp>
      <p:sp>
        <p:nvSpPr>
          <p:cNvPr id="8" name="Shape 6"/>
          <p:cNvSpPr/>
          <p:nvPr/>
        </p:nvSpPr>
        <p:spPr>
          <a:xfrm>
            <a:off x="0" y="4754880"/>
            <a:ext cx="9144000" cy="384048"/>
          </a:xfrm>
          <a:prstGeom prst="rect">
            <a:avLst/>
          </a:prstGeom>
          <a:solidFill>
            <a:srgbClr val="0E5C7A"/>
          </a:solidFill>
          <a:ln w="12700">
            <a:solidFill>
              <a:srgbClr val="0E5C7A"/>
            </a:solidFill>
            <a:prstDash val="solid"/>
          </a:ln>
        </p:spPr>
      </p:sp>
      <p:sp>
        <p:nvSpPr>
          <p:cNvPr id="9" name="Text 7"/>
          <p:cNvSpPr/>
          <p:nvPr/>
        </p:nvSpPr>
        <p:spPr>
          <a:xfrm>
            <a:off x="274320" y="4773168"/>
            <a:ext cx="8595360" cy="34747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DFM-X Data Stream Integration</a:t>
            </a:r>
            <a:endParaRPr lang="en-US" sz="22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indent="0" marL="0">
              <a:buNone/>
            </a:pPr>
            <a:r>
              <a:rPr lang="en-US" sz="1800" b="1" dirty="0">
                <a:solidFill>
                  <a:srgbClr val="0E5C7A"/>
                </a:solidFill>
                <a:latin typeface="Calibri" pitchFamily="34" charset="0"/>
                <a:ea typeface="Calibri" pitchFamily="34" charset="-122"/>
                <a:cs typeface="Calibri" pitchFamily="34" charset="-120"/>
              </a:rPr>
              <a:t>In This Video</a:t>
            </a:r>
            <a:endParaRPr lang="en-US" sz="1800" dirty="0"/>
          </a:p>
        </p:txBody>
      </p:sp>
      <p:sp>
        <p:nvSpPr>
          <p:cNvPr id="6" name="Shape 4"/>
          <p:cNvSpPr/>
          <p:nvPr/>
        </p:nvSpPr>
        <p:spPr>
          <a:xfrm>
            <a:off x="457200" y="1645920"/>
            <a:ext cx="384048" cy="384048"/>
          </a:xfrm>
          <a:prstGeom prst="ellipse">
            <a:avLst/>
          </a:prstGeom>
          <a:solidFill>
            <a:srgbClr val="1B7FA6"/>
          </a:solidFill>
          <a:ln w="12700">
            <a:solidFill>
              <a:srgbClr val="1B7FA6"/>
            </a:solidFill>
            <a:prstDash val="solid"/>
          </a:ln>
        </p:spPr>
      </p:sp>
      <p:sp>
        <p:nvSpPr>
          <p:cNvPr id="7" name="Text 5"/>
          <p:cNvSpPr/>
          <p:nvPr/>
        </p:nvSpPr>
        <p:spPr>
          <a:xfrm>
            <a:off x="4572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664208"/>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How Data Stream Integration works</a:t>
            </a:r>
            <a:endParaRPr lang="en-US" sz="1400" dirty="0"/>
          </a:p>
        </p:txBody>
      </p:sp>
      <p:sp>
        <p:nvSpPr>
          <p:cNvPr id="9" name="Shape 7"/>
          <p:cNvSpPr/>
          <p:nvPr/>
        </p:nvSpPr>
        <p:spPr>
          <a:xfrm>
            <a:off x="457200" y="2258568"/>
            <a:ext cx="384048" cy="384048"/>
          </a:xfrm>
          <a:prstGeom prst="ellipse">
            <a:avLst/>
          </a:prstGeom>
          <a:solidFill>
            <a:srgbClr val="1B7FA6"/>
          </a:solidFill>
          <a:ln w="12700">
            <a:solidFill>
              <a:srgbClr val="1B7FA6"/>
            </a:solidFill>
            <a:prstDash val="solid"/>
          </a:ln>
        </p:spPr>
      </p:sp>
      <p:sp>
        <p:nvSpPr>
          <p:cNvPr id="10" name="Text 8"/>
          <p:cNvSpPr/>
          <p:nvPr/>
        </p:nvSpPr>
        <p:spPr>
          <a:xfrm>
            <a:off x="457200" y="2258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276856"/>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Required configurations</a:t>
            </a:r>
            <a:endParaRPr lang="en-US" sz="1400" dirty="0"/>
          </a:p>
        </p:txBody>
      </p:sp>
      <p:sp>
        <p:nvSpPr>
          <p:cNvPr id="12" name="Shape 10"/>
          <p:cNvSpPr/>
          <p:nvPr/>
        </p:nvSpPr>
        <p:spPr>
          <a:xfrm>
            <a:off x="457200" y="2871216"/>
            <a:ext cx="384048" cy="384048"/>
          </a:xfrm>
          <a:prstGeom prst="ellipse">
            <a:avLst/>
          </a:prstGeom>
          <a:solidFill>
            <a:srgbClr val="1B7FA6"/>
          </a:solidFill>
          <a:ln w="12700">
            <a:solidFill>
              <a:srgbClr val="1B7FA6"/>
            </a:solidFill>
            <a:prstDash val="solid"/>
          </a:ln>
        </p:spPr>
      </p:sp>
      <p:sp>
        <p:nvSpPr>
          <p:cNvPr id="13" name="Text 11"/>
          <p:cNvSpPr/>
          <p:nvPr/>
        </p:nvSpPr>
        <p:spPr>
          <a:xfrm>
            <a:off x="45720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889504"/>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Platform List setup in AdminOne</a:t>
            </a:r>
            <a:endParaRPr lang="en-US" sz="1400" dirty="0"/>
          </a:p>
        </p:txBody>
      </p:sp>
      <p:sp>
        <p:nvSpPr>
          <p:cNvPr id="15" name="Shape 13"/>
          <p:cNvSpPr/>
          <p:nvPr/>
        </p:nvSpPr>
        <p:spPr>
          <a:xfrm>
            <a:off x="457200" y="3483864"/>
            <a:ext cx="384048" cy="384048"/>
          </a:xfrm>
          <a:prstGeom prst="ellipse">
            <a:avLst/>
          </a:prstGeom>
          <a:solidFill>
            <a:srgbClr val="1B7FA6"/>
          </a:solidFill>
          <a:ln w="12700">
            <a:solidFill>
              <a:srgbClr val="1B7FA6"/>
            </a:solidFill>
            <a:prstDash val="solid"/>
          </a:ln>
        </p:spPr>
      </p:sp>
      <p:sp>
        <p:nvSpPr>
          <p:cNvPr id="16" name="Text 14"/>
          <p:cNvSpPr/>
          <p:nvPr/>
        </p:nvSpPr>
        <p:spPr>
          <a:xfrm>
            <a:off x="457200" y="3483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502152"/>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Data Integration Manager walkthrough</a:t>
            </a:r>
            <a:endParaRPr lang="en-US" sz="1400" dirty="0"/>
          </a:p>
        </p:txBody>
      </p:sp>
      <p:sp>
        <p:nvSpPr>
          <p:cNvPr id="18" name="Shape 16"/>
          <p:cNvSpPr/>
          <p:nvPr/>
        </p:nvSpPr>
        <p:spPr>
          <a:xfrm>
            <a:off x="457200" y="4096512"/>
            <a:ext cx="384048" cy="384048"/>
          </a:xfrm>
          <a:prstGeom prst="ellipse">
            <a:avLst/>
          </a:prstGeom>
          <a:solidFill>
            <a:srgbClr val="1B7FA6"/>
          </a:solidFill>
          <a:ln w="12700">
            <a:solidFill>
              <a:srgbClr val="1B7FA6"/>
            </a:solidFill>
            <a:prstDash val="solid"/>
          </a:ln>
        </p:spPr>
      </p:sp>
      <p:sp>
        <p:nvSpPr>
          <p:cNvPr id="19" name="Text 17"/>
          <p:cNvSpPr/>
          <p:nvPr/>
        </p:nvSpPr>
        <p:spPr>
          <a:xfrm>
            <a:off x="457200"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4114800"/>
            <a:ext cx="7315200" cy="347472"/>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Data Elements &amp; Detection Process tabs</a:t>
            </a:r>
            <a:endParaRPr lang="en-US" sz="14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Integration Management</a:t>
            </a:r>
            <a:endParaRPr lang="en-US" sz="2200" dirty="0"/>
          </a:p>
        </p:txBody>
      </p:sp>
      <p:sp>
        <p:nvSpPr>
          <p:cNvPr id="5" name="Shape 3"/>
          <p:cNvSpPr/>
          <p:nvPr/>
        </p:nvSpPr>
        <p:spPr>
          <a:xfrm>
            <a:off x="365760" y="1097280"/>
            <a:ext cx="2560320" cy="640080"/>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6" name="Shape 4"/>
          <p:cNvSpPr/>
          <p:nvPr/>
        </p:nvSpPr>
        <p:spPr>
          <a:xfrm>
            <a:off x="365760" y="1097280"/>
            <a:ext cx="64008" cy="640080"/>
          </a:xfrm>
          <a:prstGeom prst="rect">
            <a:avLst/>
          </a:prstGeom>
          <a:solidFill>
            <a:srgbClr val="1B7FA6"/>
          </a:solidFill>
          <a:ln w="12700">
            <a:solidFill>
              <a:srgbClr val="1B7FA6"/>
            </a:solidFill>
            <a:prstDash val="solid"/>
          </a:ln>
        </p:spPr>
      </p:sp>
      <p:sp>
        <p:nvSpPr>
          <p:cNvPr id="7" name="Text 5"/>
          <p:cNvSpPr/>
          <p:nvPr/>
        </p:nvSpPr>
        <p:spPr>
          <a:xfrm>
            <a:off x="502920" y="1097280"/>
            <a:ext cx="2377440" cy="640080"/>
          </a:xfrm>
          <a:prstGeom prst="rect">
            <a:avLst/>
          </a:prstGeom>
          <a:noFill/>
          <a:ln/>
        </p:spPr>
        <p:txBody>
          <a:bodyPr wrap="square" lIns="76200" tIns="76200" rIns="76200" bIns="76200" rtlCol="0" anchor="ctr"/>
          <a:lstStyle/>
          <a:p>
            <a:pPr algn="l" indent="0" marL="0">
              <a:buNone/>
            </a:pPr>
            <a:r>
              <a:rPr lang="en-US" sz="1400" b="1" dirty="0">
                <a:solidFill>
                  <a:srgbClr val="0D1B2A"/>
                </a:solidFill>
                <a:latin typeface="Calibri" pitchFamily="34" charset="0"/>
                <a:ea typeface="Calibri" pitchFamily="34" charset="-122"/>
                <a:cs typeface="Calibri" pitchFamily="34" charset="-120"/>
              </a:rPr>
              <a:t>Data Availability</a:t>
            </a:r>
            <a:endParaRPr lang="en-US" sz="1400" dirty="0"/>
          </a:p>
        </p:txBody>
      </p:sp>
      <p:sp>
        <p:nvSpPr>
          <p:cNvPr id="8" name="Shape 6"/>
          <p:cNvSpPr/>
          <p:nvPr/>
        </p:nvSpPr>
        <p:spPr>
          <a:xfrm>
            <a:off x="365760" y="1874520"/>
            <a:ext cx="2560320" cy="640080"/>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9" name="Shape 7"/>
          <p:cNvSpPr/>
          <p:nvPr/>
        </p:nvSpPr>
        <p:spPr>
          <a:xfrm>
            <a:off x="365760" y="1874520"/>
            <a:ext cx="64008" cy="640080"/>
          </a:xfrm>
          <a:prstGeom prst="rect">
            <a:avLst/>
          </a:prstGeom>
          <a:solidFill>
            <a:srgbClr val="1B7FA6"/>
          </a:solidFill>
          <a:ln w="12700">
            <a:solidFill>
              <a:srgbClr val="1B7FA6"/>
            </a:solidFill>
            <a:prstDash val="solid"/>
          </a:ln>
        </p:spPr>
      </p:sp>
      <p:sp>
        <p:nvSpPr>
          <p:cNvPr id="10" name="Text 8"/>
          <p:cNvSpPr/>
          <p:nvPr/>
        </p:nvSpPr>
        <p:spPr>
          <a:xfrm>
            <a:off x="502920" y="1874520"/>
            <a:ext cx="2377440" cy="640080"/>
          </a:xfrm>
          <a:prstGeom prst="rect">
            <a:avLst/>
          </a:prstGeom>
          <a:noFill/>
          <a:ln/>
        </p:spPr>
        <p:txBody>
          <a:bodyPr wrap="square" lIns="76200" tIns="76200" rIns="76200" bIns="76200" rtlCol="0" anchor="ctr"/>
          <a:lstStyle/>
          <a:p>
            <a:pPr algn="l" indent="0" marL="0">
              <a:buNone/>
            </a:pPr>
            <a:r>
              <a:rPr lang="en-US" sz="1400" b="1" dirty="0">
                <a:solidFill>
                  <a:srgbClr val="0D1B2A"/>
                </a:solidFill>
                <a:latin typeface="Calibri" pitchFamily="34" charset="0"/>
                <a:ea typeface="Calibri" pitchFamily="34" charset="-122"/>
                <a:cs typeface="Calibri" pitchFamily="34" charset="-120"/>
              </a:rPr>
              <a:t>Data Management</a:t>
            </a:r>
            <a:endParaRPr lang="en-US" sz="1400" dirty="0"/>
          </a:p>
        </p:txBody>
      </p:sp>
      <p:sp>
        <p:nvSpPr>
          <p:cNvPr id="11" name="Shape 9"/>
          <p:cNvSpPr/>
          <p:nvPr/>
        </p:nvSpPr>
        <p:spPr>
          <a:xfrm>
            <a:off x="365760" y="2651760"/>
            <a:ext cx="2560320" cy="640080"/>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12" name="Shape 10"/>
          <p:cNvSpPr/>
          <p:nvPr/>
        </p:nvSpPr>
        <p:spPr>
          <a:xfrm>
            <a:off x="365760" y="2651760"/>
            <a:ext cx="64008" cy="640080"/>
          </a:xfrm>
          <a:prstGeom prst="rect">
            <a:avLst/>
          </a:prstGeom>
          <a:solidFill>
            <a:srgbClr val="1B7FA6"/>
          </a:solidFill>
          <a:ln w="12700">
            <a:solidFill>
              <a:srgbClr val="1B7FA6"/>
            </a:solidFill>
            <a:prstDash val="solid"/>
          </a:ln>
        </p:spPr>
      </p:sp>
      <p:sp>
        <p:nvSpPr>
          <p:cNvPr id="13" name="Text 11"/>
          <p:cNvSpPr/>
          <p:nvPr/>
        </p:nvSpPr>
        <p:spPr>
          <a:xfrm>
            <a:off x="502920" y="2651760"/>
            <a:ext cx="2377440" cy="640080"/>
          </a:xfrm>
          <a:prstGeom prst="rect">
            <a:avLst/>
          </a:prstGeom>
          <a:noFill/>
          <a:ln/>
        </p:spPr>
        <p:txBody>
          <a:bodyPr wrap="square" lIns="76200" tIns="76200" rIns="76200" bIns="76200" rtlCol="0" anchor="ctr"/>
          <a:lstStyle/>
          <a:p>
            <a:pPr algn="l" indent="0" marL="0">
              <a:buNone/>
            </a:pPr>
            <a:r>
              <a:rPr lang="en-US" sz="1400" b="1" dirty="0">
                <a:solidFill>
                  <a:srgbClr val="0D1B2A"/>
                </a:solidFill>
                <a:latin typeface="Calibri" pitchFamily="34" charset="0"/>
                <a:ea typeface="Calibri" pitchFamily="34" charset="-122"/>
                <a:cs typeface="Calibri" pitchFamily="34" charset="-120"/>
              </a:rPr>
              <a:t>Data Integration</a:t>
            </a:r>
            <a:endParaRPr lang="en-US" sz="1400" dirty="0"/>
          </a:p>
        </p:txBody>
      </p:sp>
      <p:sp>
        <p:nvSpPr>
          <p:cNvPr id="14" name="Shape 12"/>
          <p:cNvSpPr/>
          <p:nvPr/>
        </p:nvSpPr>
        <p:spPr>
          <a:xfrm>
            <a:off x="3108960" y="1828800"/>
            <a:ext cx="36576" cy="0"/>
          </a:xfrm>
          <a:prstGeom prst="rect">
            <a:avLst/>
          </a:prstGeom>
          <a:noFill/>
          <a:ln w="25400">
            <a:solidFill>
              <a:srgbClr val="1B7FA6"/>
            </a:solidFill>
            <a:prstDash val="solid"/>
          </a:ln>
        </p:spPr>
      </p:sp>
      <p:sp>
        <p:nvSpPr>
          <p:cNvPr id="15" name="Text 13"/>
          <p:cNvSpPr/>
          <p:nvPr/>
        </p:nvSpPr>
        <p:spPr>
          <a:xfrm>
            <a:off x="2926080" y="1828800"/>
            <a:ext cx="365760" cy="457200"/>
          </a:xfrm>
          <a:prstGeom prst="rect">
            <a:avLst/>
          </a:prstGeom>
          <a:noFill/>
          <a:ln/>
        </p:spPr>
        <p:txBody>
          <a:bodyPr wrap="square" rtlCol="0" anchor="ctr"/>
          <a:lstStyle/>
          <a:p>
            <a:pPr algn="ctr" indent="0" marL="0">
              <a:buNone/>
            </a:pPr>
            <a:r>
              <a:rPr lang="en-US" sz="2000" dirty="0">
                <a:solidFill>
                  <a:srgbClr val="1B7FA6"/>
                </a:solidFill>
              </a:rPr>
              <a:t>→</a:t>
            </a:r>
            <a:endParaRPr lang="en-US" sz="2000" dirty="0"/>
          </a:p>
        </p:txBody>
      </p:sp>
      <p:sp>
        <p:nvSpPr>
          <p:cNvPr id="16" name="Shape 14"/>
          <p:cNvSpPr/>
          <p:nvPr/>
        </p:nvSpPr>
        <p:spPr>
          <a:xfrm>
            <a:off x="3291840" y="1005840"/>
            <a:ext cx="3200400" cy="2377440"/>
          </a:xfrm>
          <a:prstGeom prst="rect">
            <a:avLst/>
          </a:prstGeom>
          <a:solidFill>
            <a:srgbClr val="1E2D3D"/>
          </a:solidFill>
          <a:ln w="12700">
            <a:solidFill>
              <a:srgbClr val="1B7FA6"/>
            </a:solidFill>
            <a:prstDash val="solid"/>
          </a:ln>
        </p:spPr>
      </p:sp>
      <p:sp>
        <p:nvSpPr>
          <p:cNvPr id="17" name="Text 15"/>
          <p:cNvSpPr/>
          <p:nvPr/>
        </p:nvSpPr>
        <p:spPr>
          <a:xfrm>
            <a:off x="3291840" y="1005840"/>
            <a:ext cx="3200400" cy="347472"/>
          </a:xfrm>
          <a:prstGeom prst="rect">
            <a:avLst/>
          </a:prstGeom>
          <a:noFill/>
          <a:ln/>
        </p:spPr>
        <p:txBody>
          <a:bodyPr wrap="square" rtlCol="0" anchor="ctr"/>
          <a:lstStyle/>
          <a:p>
            <a:pPr algn="ctr" indent="0" marL="0">
              <a:buNone/>
            </a:pPr>
            <a:r>
              <a:rPr lang="en-US" sz="1100" b="1" dirty="0">
                <a:solidFill>
                  <a:srgbClr val="02C39A"/>
                </a:solidFill>
                <a:latin typeface="Consolas" pitchFamily="34" charset="0"/>
                <a:ea typeface="Consolas" pitchFamily="34" charset="-122"/>
                <a:cs typeface="Consolas" pitchFamily="34" charset="-120"/>
              </a:rPr>
              <a:t>Policy Manager</a:t>
            </a:r>
            <a:endParaRPr lang="en-US" sz="1100" dirty="0"/>
          </a:p>
        </p:txBody>
      </p:sp>
      <p:sp>
        <p:nvSpPr>
          <p:cNvPr id="18" name="Text 16"/>
          <p:cNvSpPr/>
          <p:nvPr/>
        </p:nvSpPr>
        <p:spPr>
          <a:xfrm>
            <a:off x="3337560" y="1371600"/>
            <a:ext cx="3108960" cy="1920240"/>
          </a:xfrm>
          <a:prstGeom prst="rect">
            <a:avLst/>
          </a:prstGeom>
          <a:noFill/>
          <a:ln/>
        </p:spPr>
        <p:txBody>
          <a:bodyPr wrap="square" lIns="76200" tIns="76200" rIns="76200" bIns="76200" rtlCol="0" anchor="t"/>
          <a:lstStyle/>
          <a:p>
            <a:pPr indent="0" marL="0">
              <a:buNone/>
            </a:pPr>
            <a:r>
              <a:rPr lang="en-US" sz="1000" dirty="0">
                <a:solidFill>
                  <a:srgbClr val="FFFFFF"/>
                </a:solidFill>
                <a:latin typeface="Consolas" pitchFamily="34" charset="0"/>
                <a:ea typeface="Consolas" pitchFamily="34" charset="-122"/>
                <a:cs typeface="Consolas" pitchFamily="34" charset="-120"/>
              </a:rPr>
              <a:t>{
</a:t>
            </a:r>
            <a:pPr indent="0" marL="0">
              <a:buNone/>
            </a:pPr>
            <a:r>
              <a:rPr lang="en-US" sz="1000" dirty="0">
                <a:solidFill>
                  <a:srgbClr val="CBD5E1"/>
                </a:solidFill>
                <a:latin typeface="Consolas" pitchFamily="34" charset="0"/>
                <a:ea typeface="Consolas" pitchFamily="34" charset="-122"/>
                <a:cs typeface="Consolas" pitchFamily="34" charset="-120"/>
              </a:rPr>
              <a:t xml:space="preserve">  rootingIndicator: </a:t>
            </a:r>
            <a:pPr indent="0" marL="0">
              <a:buNone/>
            </a:pPr>
            <a:r>
              <a:rPr lang="en-US" sz="1000" dirty="0">
                <a:solidFill>
                  <a:srgbClr val="02C39A"/>
                </a:solidFill>
                <a:latin typeface="Consolas" pitchFamily="34" charset="0"/>
                <a:ea typeface="Consolas" pitchFamily="34" charset="-122"/>
                <a:cs typeface="Consolas" pitchFamily="34" charset="-120"/>
              </a:rPr>
              <a:t>"True",
</a:t>
            </a:r>
            <a:pPr indent="0" marL="0">
              <a:buNone/>
            </a:pPr>
            <a:r>
              <a:rPr lang="en-US" sz="1000" dirty="0">
                <a:solidFill>
                  <a:srgbClr val="CBD5E1"/>
                </a:solidFill>
                <a:latin typeface="Consolas" pitchFamily="34" charset="0"/>
                <a:ea typeface="Consolas" pitchFamily="34" charset="-122"/>
                <a:cs typeface="Consolas" pitchFamily="34" charset="-120"/>
              </a:rPr>
              <a:t xml:space="preserve">  malwareIndicator: </a:t>
            </a:r>
            <a:pPr indent="0" marL="0">
              <a:buNone/>
            </a:pPr>
            <a:r>
              <a:rPr lang="en-US" sz="1000" dirty="0">
                <a:solidFill>
                  <a:srgbClr val="02C39A"/>
                </a:solidFill>
                <a:latin typeface="Consolas" pitchFamily="34" charset="0"/>
                <a:ea typeface="Consolas" pitchFamily="34" charset="-122"/>
                <a:cs typeface="Consolas" pitchFamily="34" charset="-120"/>
              </a:rPr>
              <a:t>"True",
</a:t>
            </a:r>
            <a:pPr indent="0" marL="0">
              <a:buNone/>
            </a:pPr>
            <a:r>
              <a:rPr lang="en-US" sz="1000" dirty="0">
                <a:solidFill>
                  <a:srgbClr val="CBD5E1"/>
                </a:solidFill>
                <a:latin typeface="Consolas" pitchFamily="34" charset="0"/>
                <a:ea typeface="Consolas" pitchFamily="34" charset="-122"/>
                <a:cs typeface="Consolas" pitchFamily="34" charset="-120"/>
              </a:rPr>
              <a:t xml:space="preserve">  deviceID: </a:t>
            </a:r>
            <a:pPr indent="0" marL="0">
              <a:buNone/>
            </a:pPr>
            <a:r>
              <a:rPr lang="en-US" sz="1000" dirty="0">
                <a:solidFill>
                  <a:srgbClr val="02C39A"/>
                </a:solidFill>
                <a:latin typeface="Consolas" pitchFamily="34" charset="0"/>
                <a:ea typeface="Consolas" pitchFamily="34" charset="-122"/>
                <a:cs typeface="Consolas" pitchFamily="34" charset="-120"/>
              </a:rPr>
              <a:t>"DEMO-DEVICE-001",
</a:t>
            </a:r>
            <a:pPr indent="0" marL="0">
              <a:buNone/>
            </a:pPr>
            <a:r>
              <a:rPr lang="en-US" sz="1000" dirty="0">
                <a:solidFill>
                  <a:srgbClr val="CBD5E1"/>
                </a:solidFill>
                <a:latin typeface="Consolas" pitchFamily="34" charset="0"/>
                <a:ea typeface="Consolas" pitchFamily="34" charset="-122"/>
                <a:cs typeface="Consolas" pitchFamily="34" charset="-120"/>
              </a:rPr>
              <a:t xml:space="preserve">  userID: </a:t>
            </a:r>
            <a:pPr indent="0" marL="0">
              <a:buNone/>
            </a:pPr>
            <a:r>
              <a:rPr lang="en-US" sz="1000" dirty="0">
                <a:solidFill>
                  <a:srgbClr val="02C39A"/>
                </a:solidFill>
                <a:latin typeface="Consolas" pitchFamily="34" charset="0"/>
                <a:ea typeface="Consolas" pitchFamily="34" charset="-122"/>
                <a:cs typeface="Consolas" pitchFamily="34" charset="-120"/>
              </a:rPr>
              <a:t>"DEMO.USER",
</a:t>
            </a:r>
            <a:pPr indent="0" marL="0">
              <a:buNone/>
            </a:pPr>
            <a:r>
              <a:rPr lang="en-US" sz="1000" dirty="0">
                <a:solidFill>
                  <a:srgbClr val="CBD5E1"/>
                </a:solidFill>
                <a:latin typeface="Consolas" pitchFamily="34" charset="0"/>
                <a:ea typeface="Consolas" pitchFamily="34" charset="-122"/>
                <a:cs typeface="Consolas" pitchFamily="34" charset="-120"/>
              </a:rPr>
              <a:t xml:space="preserve">  sessionID: </a:t>
            </a:r>
            <a:pPr indent="0" marL="0">
              <a:buNone/>
            </a:pPr>
            <a:r>
              <a:rPr lang="en-US" sz="1000" dirty="0">
                <a:solidFill>
                  <a:srgbClr val="02C39A"/>
                </a:solidFill>
                <a:latin typeface="Consolas" pitchFamily="34" charset="0"/>
                <a:ea typeface="Consolas" pitchFamily="34" charset="-122"/>
                <a:cs typeface="Consolas" pitchFamily="34" charset="-120"/>
              </a:rPr>
              <a:t>"SESSION-DEMO-001"
</a:t>
            </a:r>
            <a:pPr indent="0" marL="0">
              <a:buNone/>
            </a:pP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9" name="Shape 17"/>
          <p:cNvSpPr/>
          <p:nvPr/>
        </p:nvSpPr>
        <p:spPr>
          <a:xfrm>
            <a:off x="6766560" y="1188720"/>
            <a:ext cx="1920240" cy="566928"/>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20" name="Shape 18"/>
          <p:cNvSpPr/>
          <p:nvPr/>
        </p:nvSpPr>
        <p:spPr>
          <a:xfrm>
            <a:off x="6766560" y="1188720"/>
            <a:ext cx="64008" cy="566928"/>
          </a:xfrm>
          <a:prstGeom prst="rect">
            <a:avLst/>
          </a:prstGeom>
          <a:solidFill>
            <a:srgbClr val="02C39A"/>
          </a:solidFill>
          <a:ln w="12700">
            <a:solidFill>
              <a:srgbClr val="02C39A"/>
            </a:solidFill>
            <a:prstDash val="solid"/>
          </a:ln>
        </p:spPr>
      </p:sp>
      <p:sp>
        <p:nvSpPr>
          <p:cNvPr id="21" name="Text 19"/>
          <p:cNvSpPr/>
          <p:nvPr/>
        </p:nvSpPr>
        <p:spPr>
          <a:xfrm>
            <a:off x="6903720" y="1188720"/>
            <a:ext cx="1737360" cy="566928"/>
          </a:xfrm>
          <a:prstGeom prst="rect">
            <a:avLst/>
          </a:prstGeom>
          <a:noFill/>
          <a:ln/>
        </p:spPr>
        <p:txBody>
          <a:bodyPr wrap="square" lIns="76200" tIns="76200" rIns="76200" bIns="76200" rtlCol="0" anchor="ctr"/>
          <a:lstStyle/>
          <a:p>
            <a:pPr algn="l" indent="0" marL="0">
              <a:buNone/>
            </a:pPr>
            <a:r>
              <a:rPr lang="en-US" sz="1300" b="1" dirty="0">
                <a:solidFill>
                  <a:srgbClr val="0D1B2A"/>
                </a:solidFill>
                <a:latin typeface="Calibri" pitchFamily="34" charset="0"/>
                <a:ea typeface="Calibri" pitchFamily="34" charset="-122"/>
                <a:cs typeface="Calibri" pitchFamily="34" charset="-120"/>
              </a:rPr>
              <a:t>Alerts</a:t>
            </a:r>
            <a:endParaRPr lang="en-US" sz="1300" dirty="0"/>
          </a:p>
        </p:txBody>
      </p:sp>
      <p:sp>
        <p:nvSpPr>
          <p:cNvPr id="22" name="Shape 20"/>
          <p:cNvSpPr/>
          <p:nvPr/>
        </p:nvSpPr>
        <p:spPr>
          <a:xfrm>
            <a:off x="6766560" y="1938528"/>
            <a:ext cx="1920240" cy="566928"/>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23" name="Shape 21"/>
          <p:cNvSpPr/>
          <p:nvPr/>
        </p:nvSpPr>
        <p:spPr>
          <a:xfrm>
            <a:off x="6766560" y="1938528"/>
            <a:ext cx="64008" cy="566928"/>
          </a:xfrm>
          <a:prstGeom prst="rect">
            <a:avLst/>
          </a:prstGeom>
          <a:solidFill>
            <a:srgbClr val="02C39A"/>
          </a:solidFill>
          <a:ln w="12700">
            <a:solidFill>
              <a:srgbClr val="02C39A"/>
            </a:solidFill>
            <a:prstDash val="solid"/>
          </a:ln>
        </p:spPr>
      </p:sp>
      <p:sp>
        <p:nvSpPr>
          <p:cNvPr id="24" name="Text 22"/>
          <p:cNvSpPr/>
          <p:nvPr/>
        </p:nvSpPr>
        <p:spPr>
          <a:xfrm>
            <a:off x="6903720" y="1938528"/>
            <a:ext cx="1737360" cy="566928"/>
          </a:xfrm>
          <a:prstGeom prst="rect">
            <a:avLst/>
          </a:prstGeom>
          <a:noFill/>
          <a:ln/>
        </p:spPr>
        <p:txBody>
          <a:bodyPr wrap="square" lIns="76200" tIns="76200" rIns="76200" bIns="76200" rtlCol="0" anchor="ctr"/>
          <a:lstStyle/>
          <a:p>
            <a:pPr algn="l" indent="0" marL="0">
              <a:buNone/>
            </a:pPr>
            <a:r>
              <a:rPr lang="en-US" sz="1300" b="1" dirty="0">
                <a:solidFill>
                  <a:srgbClr val="0D1B2A"/>
                </a:solidFill>
                <a:latin typeface="Calibri" pitchFamily="34" charset="0"/>
                <a:ea typeface="Calibri" pitchFamily="34" charset="-122"/>
                <a:cs typeface="Calibri" pitchFamily="34" charset="-120"/>
              </a:rPr>
              <a:t>Analytics</a:t>
            </a:r>
            <a:endParaRPr lang="en-US" sz="1300" dirty="0"/>
          </a:p>
        </p:txBody>
      </p:sp>
      <p:sp>
        <p:nvSpPr>
          <p:cNvPr id="25" name="Shape 23"/>
          <p:cNvSpPr/>
          <p:nvPr/>
        </p:nvSpPr>
        <p:spPr>
          <a:xfrm>
            <a:off x="6766560" y="2688336"/>
            <a:ext cx="1920240" cy="566928"/>
          </a:xfrm>
          <a:prstGeom prst="rect">
            <a:avLst/>
          </a:prstGeom>
          <a:solidFill>
            <a:srgbClr val="F0F4F8"/>
          </a:solidFill>
          <a:ln w="12700">
            <a:solidFill>
              <a:srgbClr val="CBD5E1"/>
            </a:solidFill>
            <a:prstDash val="solid"/>
          </a:ln>
          <a:effectLst>
            <a:outerShdw sx="100000" sy="100000" kx="0" ky="0" algn="bl" rotWithShape="0" blurRad="50800" dist="25400" dir="8100000">
              <a:srgbClr val="000000">
                <a:alpha val="8000"/>
              </a:srgbClr>
            </a:outerShdw>
          </a:effectLst>
        </p:spPr>
      </p:sp>
      <p:sp>
        <p:nvSpPr>
          <p:cNvPr id="26" name="Shape 24"/>
          <p:cNvSpPr/>
          <p:nvPr/>
        </p:nvSpPr>
        <p:spPr>
          <a:xfrm>
            <a:off x="6766560" y="2688336"/>
            <a:ext cx="64008" cy="566928"/>
          </a:xfrm>
          <a:prstGeom prst="rect">
            <a:avLst/>
          </a:prstGeom>
          <a:solidFill>
            <a:srgbClr val="02C39A"/>
          </a:solidFill>
          <a:ln w="12700">
            <a:solidFill>
              <a:srgbClr val="02C39A"/>
            </a:solidFill>
            <a:prstDash val="solid"/>
          </a:ln>
        </p:spPr>
      </p:sp>
      <p:sp>
        <p:nvSpPr>
          <p:cNvPr id="27" name="Text 25"/>
          <p:cNvSpPr/>
          <p:nvPr/>
        </p:nvSpPr>
        <p:spPr>
          <a:xfrm>
            <a:off x="6903720" y="2688336"/>
            <a:ext cx="1737360" cy="566928"/>
          </a:xfrm>
          <a:prstGeom prst="rect">
            <a:avLst/>
          </a:prstGeom>
          <a:noFill/>
          <a:ln/>
        </p:spPr>
        <p:txBody>
          <a:bodyPr wrap="square" lIns="76200" tIns="76200" rIns="76200" bIns="76200" rtlCol="0" anchor="ctr"/>
          <a:lstStyle/>
          <a:p>
            <a:pPr algn="l" indent="0" marL="0">
              <a:buNone/>
            </a:pPr>
            <a:r>
              <a:rPr lang="en-US" sz="1300" b="1" dirty="0">
                <a:solidFill>
                  <a:srgbClr val="0D1B2A"/>
                </a:solidFill>
                <a:latin typeface="Calibri" pitchFamily="34" charset="0"/>
                <a:ea typeface="Calibri" pitchFamily="34" charset="-122"/>
                <a:cs typeface="Calibri" pitchFamily="34" charset="-120"/>
              </a:rPr>
              <a:t>IDB</a:t>
            </a:r>
            <a:endParaRPr lang="en-US" sz="13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Configuration: INI File Example</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indent="0" marL="0">
              <a:buNone/>
            </a:pPr>
            <a:r>
              <a:rPr lang="en-US" sz="1500" b="1" dirty="0">
                <a:solidFill>
                  <a:srgbClr val="0E5C7A"/>
                </a:solidFill>
                <a:latin typeface="Calibri" pitchFamily="34" charset="0"/>
                <a:ea typeface="Calibri" pitchFamily="34" charset="-122"/>
                <a:cs typeface="Calibri" pitchFamily="34" charset="-120"/>
              </a:rPr>
              <a:t>SG_dataStreamClientFieldMapping.ini</a:t>
            </a:r>
            <a:endParaRPr lang="en-US" sz="1500" dirty="0"/>
          </a:p>
        </p:txBody>
      </p:sp>
      <p:sp>
        <p:nvSpPr>
          <p:cNvPr id="6" name="Shape 4"/>
          <p:cNvSpPr/>
          <p:nvPr/>
        </p:nvSpPr>
        <p:spPr>
          <a:xfrm>
            <a:off x="457200" y="1417320"/>
            <a:ext cx="8229600" cy="3017520"/>
          </a:xfrm>
          <a:prstGeom prst="rect">
            <a:avLst/>
          </a:prstGeom>
          <a:solidFill>
            <a:srgbClr val="1E2D3D"/>
          </a:solidFill>
          <a:ln w="12700">
            <a:solidFill>
              <a:srgbClr val="1B7FA6"/>
            </a:solidFill>
            <a:prstDash val="solid"/>
          </a:ln>
        </p:spPr>
      </p:sp>
      <p:sp>
        <p:nvSpPr>
          <p:cNvPr id="7" name="Text 5"/>
          <p:cNvSpPr/>
          <p:nvPr/>
        </p:nvSpPr>
        <p:spPr>
          <a:xfrm>
            <a:off x="640080" y="1508760"/>
            <a:ext cx="7863840" cy="2834640"/>
          </a:xfrm>
          <a:prstGeom prst="rect">
            <a:avLst/>
          </a:prstGeom>
          <a:noFill/>
          <a:ln/>
        </p:spPr>
        <p:txBody>
          <a:bodyPr wrap="square" lIns="101600" tIns="101600" rIns="101600" bIns="101600" rtlCol="0" anchor="t"/>
          <a:lstStyle/>
          <a:p>
            <a:pPr indent="0" marL="0">
              <a:buNone/>
            </a:pPr>
            <a:r>
              <a:rPr lang="en-US" sz="1200" i="1" dirty="0">
                <a:solidFill>
                  <a:srgbClr val="64748B"/>
                </a:solidFill>
                <a:latin typeface="Consolas" pitchFamily="34" charset="0"/>
                <a:ea typeface="Consolas" pitchFamily="34" charset="-122"/>
                <a:cs typeface="Consolas" pitchFamily="34" charset="-120"/>
              </a:rPr>
              <a:t># Data Stream Client Field Mapping Configuration
</a:t>
            </a:r>
            <a:pPr indent="0" marL="0">
              <a:buNone/>
            </a:pPr>
            <a:r>
              <a:rPr lang="en-US" sz="1200" b="1" dirty="0">
                <a:solidFill>
                  <a:srgbClr val="02C39A"/>
                </a:solidFill>
                <a:latin typeface="Consolas" pitchFamily="34" charset="0"/>
                <a:ea typeface="Consolas" pitchFamily="34" charset="-122"/>
                <a:cs typeface="Consolas" pitchFamily="34" charset="-120"/>
              </a:rPr>
              <a:t>[DataStream_Demo]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clientField_1 = </a:t>
            </a:r>
            <a:pPr indent="0" marL="0">
              <a:buNone/>
            </a:pPr>
            <a:r>
              <a:rPr lang="en-US" sz="1200" dirty="0">
                <a:solidFill>
                  <a:srgbClr val="FFFFFF"/>
                </a:solidFill>
                <a:latin typeface="Consolas" pitchFamily="34" charset="0"/>
                <a:ea typeface="Consolas" pitchFamily="34" charset="-122"/>
                <a:cs typeface="Consolas" pitchFamily="34" charset="-120"/>
              </a:rPr>
              <a:t>rootingIndicator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clientField_2 = </a:t>
            </a:r>
            <a:pPr indent="0" marL="0">
              <a:buNone/>
            </a:pPr>
            <a:r>
              <a:rPr lang="en-US" sz="1200" dirty="0">
                <a:solidFill>
                  <a:srgbClr val="FFFFFF"/>
                </a:solidFill>
                <a:latin typeface="Consolas" pitchFamily="34" charset="0"/>
                <a:ea typeface="Consolas" pitchFamily="34" charset="-122"/>
                <a:cs typeface="Consolas" pitchFamily="34" charset="-120"/>
              </a:rPr>
              <a:t>malwareIndicator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clientField_3 = </a:t>
            </a:r>
            <a:pPr indent="0" marL="0">
              <a:buNone/>
            </a:pPr>
            <a:r>
              <a:rPr lang="en-US" sz="1200" dirty="0">
                <a:solidFill>
                  <a:srgbClr val="FFFFFF"/>
                </a:solidFill>
                <a:latin typeface="Consolas" pitchFamily="34" charset="0"/>
                <a:ea typeface="Consolas" pitchFamily="34" charset="-122"/>
                <a:cs typeface="Consolas" pitchFamily="34" charset="-120"/>
              </a:rPr>
              <a:t>deviceID
</a:t>
            </a:r>
            <a:pPr indent="0" marL="0">
              <a:buNone/>
            </a:pPr>
            <a:r>
              <a:rPr lang="en-US" sz="1200" b="1" dirty="0">
                <a:solidFill>
                  <a:srgbClr val="02C39A"/>
                </a:solidFill>
                <a:latin typeface="Consolas" pitchFamily="34" charset="0"/>
                <a:ea typeface="Consolas" pitchFamily="34" charset="-122"/>
                <a:cs typeface="Consolas" pitchFamily="34" charset="-120"/>
              </a:rPr>
              <a:t>[DataStream_Auth]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clientField_1 = </a:t>
            </a:r>
            <a:pPr indent="0" marL="0">
              <a:buNone/>
            </a:pPr>
            <a:r>
              <a:rPr lang="en-US" sz="1200" dirty="0">
                <a:solidFill>
                  <a:srgbClr val="FFFFFF"/>
                </a:solidFill>
                <a:latin typeface="Consolas" pitchFamily="34" charset="0"/>
                <a:ea typeface="Consolas" pitchFamily="34" charset="-122"/>
                <a:cs typeface="Consolas" pitchFamily="34" charset="-120"/>
              </a:rPr>
              <a:t>userID
</a:t>
            </a:r>
            <a:pPr indent="0" marL="0">
              <a:buNone/>
            </a:pPr>
            <a:r>
              <a:rPr lang="en-US" sz="1200" dirty="0">
                <a:solidFill>
                  <a:srgbClr val="CBD5E1"/>
                </a:solidFill>
                <a:latin typeface="Consolas" pitchFamily="34" charset="0"/>
                <a:ea typeface="Consolas" pitchFamily="34" charset="-122"/>
                <a:cs typeface="Consolas" pitchFamily="34" charset="-120"/>
              </a:rPr>
              <a:t xml:space="preserve">clientField_2 = </a:t>
            </a:r>
            <a:pPr indent="0" marL="0">
              <a:buNone/>
            </a:pPr>
            <a:r>
              <a:rPr lang="en-US" sz="1200" dirty="0">
                <a:solidFill>
                  <a:srgbClr val="FFFFFF"/>
                </a:solidFill>
                <a:latin typeface="Consolas" pitchFamily="34" charset="0"/>
                <a:ea typeface="Consolas" pitchFamily="34" charset="-122"/>
                <a:cs typeface="Consolas" pitchFamily="34" charset="-120"/>
              </a:rPr>
              <a:t>sessionID
</a:t>
            </a:r>
            <a:endParaRPr lang="en-US" sz="12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Configuration Parameters</a:t>
            </a:r>
            <a:endParaRPr lang="en-US" sz="2200" dirty="0"/>
          </a:p>
        </p:txBody>
      </p:sp>
      <p:sp>
        <p:nvSpPr>
          <p:cNvPr id="5" name="Shape 3"/>
          <p:cNvSpPr/>
          <p:nvPr/>
        </p:nvSpPr>
        <p:spPr>
          <a:xfrm>
            <a:off x="365760" y="1051560"/>
            <a:ext cx="8412480" cy="13258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7000"/>
              </a:srgbClr>
            </a:outerShdw>
          </a:effectLst>
        </p:spPr>
      </p:sp>
      <p:sp>
        <p:nvSpPr>
          <p:cNvPr id="6" name="Shape 4"/>
          <p:cNvSpPr/>
          <p:nvPr/>
        </p:nvSpPr>
        <p:spPr>
          <a:xfrm>
            <a:off x="365760" y="1051560"/>
            <a:ext cx="64008" cy="1325880"/>
          </a:xfrm>
          <a:prstGeom prst="rect">
            <a:avLst/>
          </a:prstGeom>
          <a:solidFill>
            <a:srgbClr val="02C39A"/>
          </a:solidFill>
          <a:ln w="12700">
            <a:solidFill>
              <a:srgbClr val="02C39A"/>
            </a:solidFill>
            <a:prstDash val="solid"/>
          </a:ln>
        </p:spPr>
      </p:sp>
      <p:sp>
        <p:nvSpPr>
          <p:cNvPr id="7" name="Text 5"/>
          <p:cNvSpPr/>
          <p:nvPr/>
        </p:nvSpPr>
        <p:spPr>
          <a:xfrm>
            <a:off x="594360" y="1124712"/>
            <a:ext cx="7955280" cy="347472"/>
          </a:xfrm>
          <a:prstGeom prst="rect">
            <a:avLst/>
          </a:prstGeom>
          <a:noFill/>
          <a:ln/>
        </p:spPr>
        <p:txBody>
          <a:bodyPr wrap="square" lIns="0" tIns="0" rIns="0" bIns="0"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SG_enableDataStreamIntegration</a:t>
            </a:r>
            <a:endParaRPr lang="en-US" sz="1300" dirty="0"/>
          </a:p>
        </p:txBody>
      </p:sp>
      <p:sp>
        <p:nvSpPr>
          <p:cNvPr id="8" name="Shape 6"/>
          <p:cNvSpPr/>
          <p:nvPr/>
        </p:nvSpPr>
        <p:spPr>
          <a:xfrm>
            <a:off x="594360" y="1508760"/>
            <a:ext cx="1188720" cy="256032"/>
          </a:xfrm>
          <a:prstGeom prst="roundRect">
            <a:avLst>
              <a:gd name="adj" fmla="val 17857"/>
            </a:avLst>
          </a:prstGeom>
          <a:solidFill>
            <a:srgbClr val="02C39A">
              <a:alpha val="20000"/>
            </a:srgbClr>
          </a:solidFill>
          <a:ln w="12700">
            <a:solidFill>
              <a:srgbClr val="02C39A"/>
            </a:solidFill>
            <a:prstDash val="solid"/>
          </a:ln>
        </p:spPr>
      </p:sp>
      <p:sp>
        <p:nvSpPr>
          <p:cNvPr id="9" name="Text 7"/>
          <p:cNvSpPr/>
          <p:nvPr/>
        </p:nvSpPr>
        <p:spPr>
          <a:xfrm>
            <a:off x="594360" y="1508760"/>
            <a:ext cx="1188720" cy="256032"/>
          </a:xfrm>
          <a:prstGeom prst="rect">
            <a:avLst/>
          </a:prstGeom>
          <a:noFill/>
          <a:ln/>
        </p:spPr>
        <p:txBody>
          <a:bodyPr wrap="square" lIns="0" tIns="0" rIns="0" bIns="0" rtlCol="0" anchor="ctr"/>
          <a:lstStyle/>
          <a:p>
            <a:pPr algn="ctr" indent="0" marL="0">
              <a:buNone/>
            </a:pPr>
            <a:r>
              <a:rPr lang="en-US" sz="1000" b="1" dirty="0">
                <a:solidFill>
                  <a:srgbClr val="0E5C7A"/>
                </a:solidFill>
              </a:rPr>
              <a:t>TRUE / FALSE</a:t>
            </a:r>
            <a:endParaRPr lang="en-US" sz="1000" dirty="0"/>
          </a:p>
        </p:txBody>
      </p:sp>
      <p:sp>
        <p:nvSpPr>
          <p:cNvPr id="10" name="Text 8"/>
          <p:cNvSpPr/>
          <p:nvPr/>
        </p:nvSpPr>
        <p:spPr>
          <a:xfrm>
            <a:off x="594360" y="1828800"/>
            <a:ext cx="77724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Must be set to TRUE to enable the Data Stream Integration feature.</a:t>
            </a:r>
            <a:endParaRPr lang="en-US" sz="1200" dirty="0"/>
          </a:p>
        </p:txBody>
      </p:sp>
      <p:sp>
        <p:nvSpPr>
          <p:cNvPr id="11" name="Shape 9"/>
          <p:cNvSpPr/>
          <p:nvPr/>
        </p:nvSpPr>
        <p:spPr>
          <a:xfrm>
            <a:off x="365760" y="2606040"/>
            <a:ext cx="8412480" cy="1325880"/>
          </a:xfrm>
          <a:prstGeom prst="rect">
            <a:avLst/>
          </a:prstGeom>
          <a:solidFill>
            <a:srgbClr val="FFFFFF"/>
          </a:solidFill>
          <a:ln w="12700">
            <a:solidFill>
              <a:srgbClr val="CBD5E1"/>
            </a:solidFill>
            <a:prstDash val="solid"/>
          </a:ln>
          <a:effectLst>
            <a:outerShdw sx="100000" sy="100000" kx="0" ky="0" algn="bl" rotWithShape="0" blurRad="50800" dist="25400" dir="8100000">
              <a:srgbClr val="000000">
                <a:alpha val="7000"/>
              </a:srgbClr>
            </a:outerShdw>
          </a:effectLst>
        </p:spPr>
      </p:sp>
      <p:sp>
        <p:nvSpPr>
          <p:cNvPr id="12" name="Shape 10"/>
          <p:cNvSpPr/>
          <p:nvPr/>
        </p:nvSpPr>
        <p:spPr>
          <a:xfrm>
            <a:off x="365760" y="2606040"/>
            <a:ext cx="64008" cy="1325880"/>
          </a:xfrm>
          <a:prstGeom prst="rect">
            <a:avLst/>
          </a:prstGeom>
          <a:solidFill>
            <a:srgbClr val="1B7FA6"/>
          </a:solidFill>
          <a:ln w="12700">
            <a:solidFill>
              <a:srgbClr val="1B7FA6"/>
            </a:solidFill>
            <a:prstDash val="solid"/>
          </a:ln>
        </p:spPr>
      </p:sp>
      <p:sp>
        <p:nvSpPr>
          <p:cNvPr id="13" name="Text 11"/>
          <p:cNvSpPr/>
          <p:nvPr/>
        </p:nvSpPr>
        <p:spPr>
          <a:xfrm>
            <a:off x="594360" y="2679192"/>
            <a:ext cx="7955280" cy="347472"/>
          </a:xfrm>
          <a:prstGeom prst="rect">
            <a:avLst/>
          </a:prstGeom>
          <a:noFill/>
          <a:ln/>
        </p:spPr>
        <p:txBody>
          <a:bodyPr wrap="square" lIns="0" tIns="0" rIns="0" bIns="0" rtlCol="0" anchor="ctr"/>
          <a:lstStyle/>
          <a:p>
            <a:pPr indent="0" marL="0">
              <a:buNone/>
            </a:pPr>
            <a:r>
              <a:rPr lang="en-US" sz="1300" b="1" dirty="0">
                <a:solidFill>
                  <a:srgbClr val="0D1B2A"/>
                </a:solidFill>
                <a:latin typeface="Consolas" pitchFamily="34" charset="0"/>
                <a:ea typeface="Consolas" pitchFamily="34" charset="-122"/>
                <a:cs typeface="Consolas" pitchFamily="34" charset="-120"/>
              </a:rPr>
              <a:t>SG_enableDataStreamClientFieldIniFileMapping</a:t>
            </a:r>
            <a:endParaRPr lang="en-US" sz="1300" dirty="0"/>
          </a:p>
        </p:txBody>
      </p:sp>
      <p:sp>
        <p:nvSpPr>
          <p:cNvPr id="14" name="Shape 12"/>
          <p:cNvSpPr/>
          <p:nvPr/>
        </p:nvSpPr>
        <p:spPr>
          <a:xfrm>
            <a:off x="594360" y="3063240"/>
            <a:ext cx="1188720" cy="256032"/>
          </a:xfrm>
          <a:prstGeom prst="roundRect">
            <a:avLst>
              <a:gd name="adj" fmla="val 17857"/>
            </a:avLst>
          </a:prstGeom>
          <a:solidFill>
            <a:srgbClr val="1B7FA6">
              <a:alpha val="20000"/>
            </a:srgbClr>
          </a:solidFill>
          <a:ln w="12700">
            <a:solidFill>
              <a:srgbClr val="1B7FA6"/>
            </a:solidFill>
            <a:prstDash val="solid"/>
          </a:ln>
        </p:spPr>
      </p:sp>
      <p:sp>
        <p:nvSpPr>
          <p:cNvPr id="15" name="Text 13"/>
          <p:cNvSpPr/>
          <p:nvPr/>
        </p:nvSpPr>
        <p:spPr>
          <a:xfrm>
            <a:off x="594360" y="3063240"/>
            <a:ext cx="1188720" cy="256032"/>
          </a:xfrm>
          <a:prstGeom prst="rect">
            <a:avLst/>
          </a:prstGeom>
          <a:noFill/>
          <a:ln/>
        </p:spPr>
        <p:txBody>
          <a:bodyPr wrap="square" lIns="0" tIns="0" rIns="0" bIns="0" rtlCol="0" anchor="ctr"/>
          <a:lstStyle/>
          <a:p>
            <a:pPr algn="ctr" indent="0" marL="0">
              <a:buNone/>
            </a:pPr>
            <a:r>
              <a:rPr lang="en-US" sz="1000" b="1" dirty="0">
                <a:solidFill>
                  <a:srgbClr val="0E5C7A"/>
                </a:solidFill>
              </a:rPr>
              <a:t>TRUE / FALSE</a:t>
            </a:r>
            <a:endParaRPr lang="en-US" sz="1000" dirty="0"/>
          </a:p>
        </p:txBody>
      </p:sp>
      <p:sp>
        <p:nvSpPr>
          <p:cNvPr id="16" name="Text 14"/>
          <p:cNvSpPr/>
          <p:nvPr/>
        </p:nvSpPr>
        <p:spPr>
          <a:xfrm>
            <a:off x="594360" y="3383280"/>
            <a:ext cx="77724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If FALSE, mapping fields are read from AdminOne interface. If TRUE, the INI file is used.</a:t>
            </a:r>
            <a:endParaRPr lang="en-US" sz="1200" dirty="0"/>
          </a:p>
        </p:txBody>
      </p:sp>
      <p:sp>
        <p:nvSpPr>
          <p:cNvPr id="17" name="Text 15"/>
          <p:cNvSpPr/>
          <p:nvPr/>
        </p:nvSpPr>
        <p:spPr>
          <a:xfrm>
            <a:off x="457200" y="4480560"/>
            <a:ext cx="8229600" cy="32004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Refer to the Implementer Guide for additional parameters.</a:t>
            </a:r>
            <a:endParaRPr lang="en-US" sz="11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Platform Lists in AdminOne</a:t>
            </a:r>
            <a:endParaRPr lang="en-US" sz="2200" dirty="0"/>
          </a:p>
        </p:txBody>
      </p:sp>
      <p:sp>
        <p:nvSpPr>
          <p:cNvPr id="5" name="Shape 3"/>
          <p:cNvSpPr/>
          <p:nvPr/>
        </p:nvSpPr>
        <p:spPr>
          <a:xfrm>
            <a:off x="365760" y="1051560"/>
            <a:ext cx="2697480" cy="3474720"/>
          </a:xfrm>
          <a:prstGeom prst="rect">
            <a:avLst/>
          </a:prstGeom>
          <a:solidFill>
            <a:srgbClr val="FFFFFF"/>
          </a:solidFill>
          <a:ln w="12700">
            <a:solidFill>
              <a:srgbClr val="CBD5E1"/>
            </a:solidFill>
            <a:prstDash val="solid"/>
          </a:ln>
          <a:effectLst>
            <a:outerShdw sx="100000" sy="100000" kx="0" ky="0" algn="bl" rotWithShape="0" blurRad="76200" dist="38100" dir="8100000">
              <a:srgbClr val="000000">
                <a:alpha val="9000"/>
              </a:srgbClr>
            </a:outerShdw>
          </a:effectLst>
        </p:spPr>
      </p:sp>
      <p:sp>
        <p:nvSpPr>
          <p:cNvPr id="6" name="Shape 4"/>
          <p:cNvSpPr/>
          <p:nvPr/>
        </p:nvSpPr>
        <p:spPr>
          <a:xfrm>
            <a:off x="365760" y="1051560"/>
            <a:ext cx="2697480" cy="64008"/>
          </a:xfrm>
          <a:prstGeom prst="rect">
            <a:avLst/>
          </a:prstGeom>
          <a:solidFill>
            <a:srgbClr val="1B7FA6"/>
          </a:solidFill>
          <a:ln w="12700">
            <a:solidFill>
              <a:srgbClr val="1B7FA6"/>
            </a:solidFill>
            <a:prstDash val="solid"/>
          </a:ln>
        </p:spPr>
      </p:sp>
      <p:sp>
        <p:nvSpPr>
          <p:cNvPr id="7" name="Shape 5"/>
          <p:cNvSpPr/>
          <p:nvPr/>
        </p:nvSpPr>
        <p:spPr>
          <a:xfrm>
            <a:off x="1371600" y="1234440"/>
            <a:ext cx="685800" cy="685800"/>
          </a:xfrm>
          <a:prstGeom prst="ellipse">
            <a:avLst/>
          </a:prstGeom>
          <a:solidFill>
            <a:srgbClr val="1B7FA6">
              <a:alpha val="85000"/>
            </a:srgbClr>
          </a:solidFill>
          <a:ln w="12700">
            <a:solidFill>
              <a:srgbClr val="1B7FA6"/>
            </a:solidFill>
            <a:prstDash val="solid"/>
          </a:ln>
        </p:spPr>
      </p:sp>
      <p:sp>
        <p:nvSpPr>
          <p:cNvPr id="8" name="Text 6"/>
          <p:cNvSpPr/>
          <p:nvPr/>
        </p:nvSpPr>
        <p:spPr>
          <a:xfrm>
            <a:off x="1371600" y="123444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502920" y="2057400"/>
            <a:ext cx="2423160" cy="548640"/>
          </a:xfrm>
          <a:prstGeom prst="rect">
            <a:avLst/>
          </a:prstGeom>
          <a:noFill/>
          <a:ln/>
        </p:spPr>
        <p:txBody>
          <a:bodyPr wrap="square" lIns="50800" tIns="50800" rIns="50800" bIns="5080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Data Integration Manager</a:t>
            </a:r>
            <a:endParaRPr lang="en-US" sz="1300" dirty="0"/>
          </a:p>
        </p:txBody>
      </p:sp>
      <p:sp>
        <p:nvSpPr>
          <p:cNvPr id="10" name="Text 8"/>
          <p:cNvSpPr/>
          <p:nvPr/>
        </p:nvSpPr>
        <p:spPr>
          <a:xfrm>
            <a:off x="502920" y="2651760"/>
            <a:ext cx="2423160" cy="1645920"/>
          </a:xfrm>
          <a:prstGeom prst="rect">
            <a:avLst/>
          </a:prstGeom>
          <a:noFill/>
          <a:ln/>
        </p:spPr>
        <p:txBody>
          <a:bodyPr wrap="square" lIns="76200" tIns="76200" rIns="76200" bIns="7620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Wizard-based configuration. Define the data stream and the fields flowing through it.</a:t>
            </a:r>
            <a:endParaRPr lang="en-US" sz="1200" dirty="0"/>
          </a:p>
        </p:txBody>
      </p:sp>
      <p:sp>
        <p:nvSpPr>
          <p:cNvPr id="11" name="Shape 9"/>
          <p:cNvSpPr/>
          <p:nvPr/>
        </p:nvSpPr>
        <p:spPr>
          <a:xfrm>
            <a:off x="3246120" y="1051560"/>
            <a:ext cx="2697480" cy="3474720"/>
          </a:xfrm>
          <a:prstGeom prst="rect">
            <a:avLst/>
          </a:prstGeom>
          <a:solidFill>
            <a:srgbClr val="FFFFFF"/>
          </a:solidFill>
          <a:ln w="12700">
            <a:solidFill>
              <a:srgbClr val="CBD5E1"/>
            </a:solidFill>
            <a:prstDash val="solid"/>
          </a:ln>
          <a:effectLst>
            <a:outerShdw sx="100000" sy="100000" kx="0" ky="0" algn="bl" rotWithShape="0" blurRad="76200" dist="38100" dir="8100000">
              <a:srgbClr val="000000">
                <a:alpha val="9000"/>
              </a:srgbClr>
            </a:outerShdw>
          </a:effectLst>
        </p:spPr>
      </p:sp>
      <p:sp>
        <p:nvSpPr>
          <p:cNvPr id="12" name="Shape 10"/>
          <p:cNvSpPr/>
          <p:nvPr/>
        </p:nvSpPr>
        <p:spPr>
          <a:xfrm>
            <a:off x="3246120" y="1051560"/>
            <a:ext cx="2697480" cy="64008"/>
          </a:xfrm>
          <a:prstGeom prst="rect">
            <a:avLst/>
          </a:prstGeom>
          <a:solidFill>
            <a:srgbClr val="1B7FA6"/>
          </a:solidFill>
          <a:ln w="12700">
            <a:solidFill>
              <a:srgbClr val="1B7FA6"/>
            </a:solidFill>
            <a:prstDash val="solid"/>
          </a:ln>
        </p:spPr>
      </p:sp>
      <p:sp>
        <p:nvSpPr>
          <p:cNvPr id="13" name="Shape 11"/>
          <p:cNvSpPr/>
          <p:nvPr/>
        </p:nvSpPr>
        <p:spPr>
          <a:xfrm>
            <a:off x="4251960" y="1234440"/>
            <a:ext cx="685800" cy="685800"/>
          </a:xfrm>
          <a:prstGeom prst="ellipse">
            <a:avLst/>
          </a:prstGeom>
          <a:solidFill>
            <a:srgbClr val="1B7FA6">
              <a:alpha val="85000"/>
            </a:srgbClr>
          </a:solidFill>
          <a:ln w="12700">
            <a:solidFill>
              <a:srgbClr val="1B7FA6"/>
            </a:solidFill>
            <a:prstDash val="solid"/>
          </a:ln>
        </p:spPr>
      </p:sp>
      <p:sp>
        <p:nvSpPr>
          <p:cNvPr id="14" name="Text 12"/>
          <p:cNvSpPr/>
          <p:nvPr/>
        </p:nvSpPr>
        <p:spPr>
          <a:xfrm>
            <a:off x="4251960" y="123444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3383280" y="2057400"/>
            <a:ext cx="2423160" cy="548640"/>
          </a:xfrm>
          <a:prstGeom prst="rect">
            <a:avLst/>
          </a:prstGeom>
          <a:noFill/>
          <a:ln/>
        </p:spPr>
        <p:txBody>
          <a:bodyPr wrap="square" lIns="50800" tIns="50800" rIns="50800" bIns="5080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6" name="Text 14"/>
          <p:cNvSpPr/>
          <p:nvPr/>
        </p:nvSpPr>
        <p:spPr>
          <a:xfrm>
            <a:off x="3383280" y="2651760"/>
            <a:ext cx="2423160" cy="1645920"/>
          </a:xfrm>
          <a:prstGeom prst="rect">
            <a:avLst/>
          </a:prstGeom>
          <a:noFill/>
          <a:ln/>
        </p:spPr>
        <p:txBody>
          <a:bodyPr wrap="square" lIns="76200" tIns="76200" rIns="76200" bIns="7620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Nested within Data Integration Manager. Can be updated independently.</a:t>
            </a:r>
            <a:endParaRPr lang="en-US" sz="1200" dirty="0"/>
          </a:p>
        </p:txBody>
      </p:sp>
      <p:sp>
        <p:nvSpPr>
          <p:cNvPr id="17" name="Shape 15"/>
          <p:cNvSpPr/>
          <p:nvPr/>
        </p:nvSpPr>
        <p:spPr>
          <a:xfrm>
            <a:off x="6126480" y="1051560"/>
            <a:ext cx="2697480" cy="3474720"/>
          </a:xfrm>
          <a:prstGeom prst="rect">
            <a:avLst/>
          </a:prstGeom>
          <a:solidFill>
            <a:srgbClr val="FFFFFF"/>
          </a:solidFill>
          <a:ln w="12700">
            <a:solidFill>
              <a:srgbClr val="CBD5E1"/>
            </a:solidFill>
            <a:prstDash val="solid"/>
          </a:ln>
          <a:effectLst>
            <a:outerShdw sx="100000" sy="100000" kx="0" ky="0" algn="bl" rotWithShape="0" blurRad="76200" dist="38100" dir="8100000">
              <a:srgbClr val="000000">
                <a:alpha val="9000"/>
              </a:srgbClr>
            </a:outerShdw>
          </a:effectLst>
        </p:spPr>
      </p:sp>
      <p:sp>
        <p:nvSpPr>
          <p:cNvPr id="18" name="Shape 16"/>
          <p:cNvSpPr/>
          <p:nvPr/>
        </p:nvSpPr>
        <p:spPr>
          <a:xfrm>
            <a:off x="6126480" y="1051560"/>
            <a:ext cx="2697480" cy="64008"/>
          </a:xfrm>
          <a:prstGeom prst="rect">
            <a:avLst/>
          </a:prstGeom>
          <a:solidFill>
            <a:srgbClr val="1B7FA6"/>
          </a:solidFill>
          <a:ln w="12700">
            <a:solidFill>
              <a:srgbClr val="1B7FA6"/>
            </a:solidFill>
            <a:prstDash val="solid"/>
          </a:ln>
        </p:spPr>
      </p:sp>
      <p:sp>
        <p:nvSpPr>
          <p:cNvPr id="19" name="Shape 17"/>
          <p:cNvSpPr/>
          <p:nvPr/>
        </p:nvSpPr>
        <p:spPr>
          <a:xfrm>
            <a:off x="7132320" y="1234440"/>
            <a:ext cx="685800" cy="685800"/>
          </a:xfrm>
          <a:prstGeom prst="ellipse">
            <a:avLst/>
          </a:prstGeom>
          <a:solidFill>
            <a:srgbClr val="1B7FA6">
              <a:alpha val="85000"/>
            </a:srgbClr>
          </a:solidFill>
          <a:ln w="12700">
            <a:solidFill>
              <a:srgbClr val="1B7FA6"/>
            </a:solidFill>
            <a:prstDash val="solid"/>
          </a:ln>
        </p:spPr>
      </p:sp>
      <p:sp>
        <p:nvSpPr>
          <p:cNvPr id="20" name="Text 18"/>
          <p:cNvSpPr/>
          <p:nvPr/>
        </p:nvSpPr>
        <p:spPr>
          <a:xfrm>
            <a:off x="7132320" y="1234440"/>
            <a:ext cx="685800" cy="6858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1" name="Text 19"/>
          <p:cNvSpPr/>
          <p:nvPr/>
        </p:nvSpPr>
        <p:spPr>
          <a:xfrm>
            <a:off x="6263640" y="2057400"/>
            <a:ext cx="2423160" cy="548640"/>
          </a:xfrm>
          <a:prstGeom prst="rect">
            <a:avLst/>
          </a:prstGeom>
          <a:noFill/>
          <a:ln/>
        </p:spPr>
        <p:txBody>
          <a:bodyPr wrap="square" lIns="50800" tIns="50800" rIns="50800" bIns="5080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22" name="Text 20"/>
          <p:cNvSpPr/>
          <p:nvPr/>
        </p:nvSpPr>
        <p:spPr>
          <a:xfrm>
            <a:off x="6263640" y="2651760"/>
            <a:ext cx="2423160" cy="1645920"/>
          </a:xfrm>
          <a:prstGeom prst="rect">
            <a:avLst/>
          </a:prstGeom>
          <a:noFill/>
          <a:ln/>
        </p:spPr>
        <p:txBody>
          <a:bodyPr wrap="square" lIns="76200" tIns="76200" rIns="76200" bIns="7620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Nested within Data Integration Manager. Configure detection logic per data stream.</a:t>
            </a:r>
            <a:endParaRPr lang="en-US" sz="12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Configure Platform Lists for Data Streams</a:t>
            </a:r>
            <a:endParaRPr lang="en-US" sz="2200" dirty="0"/>
          </a:p>
        </p:txBody>
      </p:sp>
      <p:sp>
        <p:nvSpPr>
          <p:cNvPr id="5" name="Shape 3"/>
          <p:cNvSpPr/>
          <p:nvPr/>
        </p:nvSpPr>
        <p:spPr>
          <a:xfrm>
            <a:off x="457200" y="1097280"/>
            <a:ext cx="502920" cy="502920"/>
          </a:xfrm>
          <a:prstGeom prst="rect">
            <a:avLst/>
          </a:prstGeom>
          <a:solidFill>
            <a:srgbClr val="1B7FA6"/>
          </a:solidFill>
          <a:ln w="12700">
            <a:solidFill>
              <a:srgbClr val="1B7FA6"/>
            </a:solidFill>
            <a:prstDash val="solid"/>
          </a:ln>
        </p:spPr>
      </p:sp>
      <p:sp>
        <p:nvSpPr>
          <p:cNvPr id="6" name="Text 4"/>
          <p:cNvSpPr/>
          <p:nvPr/>
        </p:nvSpPr>
        <p:spPr>
          <a:xfrm>
            <a:off x="457200" y="1097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Shape 5"/>
          <p:cNvSpPr/>
          <p:nvPr/>
        </p:nvSpPr>
        <p:spPr>
          <a:xfrm>
            <a:off x="1097280" y="1115568"/>
            <a:ext cx="7498080" cy="457200"/>
          </a:xfrm>
          <a:prstGeom prst="rect">
            <a:avLst/>
          </a:prstGeom>
          <a:solidFill>
            <a:srgbClr val="FFFFFF"/>
          </a:solidFill>
          <a:ln w="12700">
            <a:solidFill>
              <a:srgbClr val="CBD5E1"/>
            </a:solidFill>
            <a:prstDash val="solid"/>
          </a:ln>
        </p:spPr>
      </p:sp>
      <p:sp>
        <p:nvSpPr>
          <p:cNvPr id="8" name="Text 6"/>
          <p:cNvSpPr/>
          <p:nvPr/>
        </p:nvSpPr>
        <p:spPr>
          <a:xfrm>
            <a:off x="1234440" y="111556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Log on to AdminOne</a:t>
            </a:r>
            <a:endParaRPr lang="en-US" sz="1400" dirty="0"/>
          </a:p>
        </p:txBody>
      </p:sp>
      <p:sp>
        <p:nvSpPr>
          <p:cNvPr id="9" name="Shape 7"/>
          <p:cNvSpPr/>
          <p:nvPr/>
        </p:nvSpPr>
        <p:spPr>
          <a:xfrm>
            <a:off x="457200" y="1965960"/>
            <a:ext cx="502920" cy="502920"/>
          </a:xfrm>
          <a:prstGeom prst="rect">
            <a:avLst/>
          </a:prstGeom>
          <a:solidFill>
            <a:srgbClr val="1B7FA6"/>
          </a:solidFill>
          <a:ln w="12700">
            <a:solidFill>
              <a:srgbClr val="1B7FA6"/>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Shape 9"/>
          <p:cNvSpPr/>
          <p:nvPr/>
        </p:nvSpPr>
        <p:spPr>
          <a:xfrm>
            <a:off x="1097280" y="1984248"/>
            <a:ext cx="7498080" cy="457200"/>
          </a:xfrm>
          <a:prstGeom prst="rect">
            <a:avLst/>
          </a:prstGeom>
          <a:solidFill>
            <a:srgbClr val="FFFFFF"/>
          </a:solidFill>
          <a:ln w="12700">
            <a:solidFill>
              <a:srgbClr val="CBD5E1"/>
            </a:solidFill>
            <a:prstDash val="solid"/>
          </a:ln>
        </p:spPr>
      </p:sp>
      <p:sp>
        <p:nvSpPr>
          <p:cNvPr id="12" name="Text 10"/>
          <p:cNvSpPr/>
          <p:nvPr/>
        </p:nvSpPr>
        <p:spPr>
          <a:xfrm>
            <a:off x="1234440" y="198424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Navigate to the Settings tab</a:t>
            </a:r>
            <a:endParaRPr lang="en-US" sz="1400" dirty="0"/>
          </a:p>
        </p:txBody>
      </p:sp>
      <p:sp>
        <p:nvSpPr>
          <p:cNvPr id="13" name="Shape 11"/>
          <p:cNvSpPr/>
          <p:nvPr/>
        </p:nvSpPr>
        <p:spPr>
          <a:xfrm>
            <a:off x="457200" y="2834640"/>
            <a:ext cx="502920" cy="502920"/>
          </a:xfrm>
          <a:prstGeom prst="rect">
            <a:avLst/>
          </a:prstGeom>
          <a:solidFill>
            <a:srgbClr val="1B7FA6"/>
          </a:solidFill>
          <a:ln w="12700">
            <a:solidFill>
              <a:srgbClr val="1B7FA6"/>
            </a:solidFill>
            <a:prstDash val="solid"/>
          </a:ln>
        </p:spPr>
      </p:sp>
      <p:sp>
        <p:nvSpPr>
          <p:cNvPr id="14" name="Text 12"/>
          <p:cNvSpPr/>
          <p:nvPr/>
        </p:nvSpPr>
        <p:spPr>
          <a:xfrm>
            <a:off x="457200" y="2834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Shape 13"/>
          <p:cNvSpPr/>
          <p:nvPr/>
        </p:nvSpPr>
        <p:spPr>
          <a:xfrm>
            <a:off x="1097280" y="2852928"/>
            <a:ext cx="7498080" cy="457200"/>
          </a:xfrm>
          <a:prstGeom prst="rect">
            <a:avLst/>
          </a:prstGeom>
          <a:solidFill>
            <a:srgbClr val="FFFFFF"/>
          </a:solidFill>
          <a:ln w="12700">
            <a:solidFill>
              <a:srgbClr val="CBD5E1"/>
            </a:solidFill>
            <a:prstDash val="solid"/>
          </a:ln>
        </p:spPr>
      </p:sp>
      <p:sp>
        <p:nvSpPr>
          <p:cNvPr id="16" name="Text 14"/>
          <p:cNvSpPr/>
          <p:nvPr/>
        </p:nvSpPr>
        <p:spPr>
          <a:xfrm>
            <a:off x="1234440" y="285292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Select Platform Lists from the menu</a:t>
            </a:r>
            <a:endParaRPr lang="en-US" sz="1400" dirty="0"/>
          </a:p>
        </p:txBody>
      </p:sp>
      <p:sp>
        <p:nvSpPr>
          <p:cNvPr id="17" name="Shape 15"/>
          <p:cNvSpPr/>
          <p:nvPr/>
        </p:nvSpPr>
        <p:spPr>
          <a:xfrm>
            <a:off x="457200" y="3703320"/>
            <a:ext cx="502920" cy="502920"/>
          </a:xfrm>
          <a:prstGeom prst="rect">
            <a:avLst/>
          </a:prstGeom>
          <a:solidFill>
            <a:srgbClr val="1B7FA6"/>
          </a:solidFill>
          <a:ln w="12700">
            <a:solidFill>
              <a:srgbClr val="1B7FA6"/>
            </a:solidFill>
            <a:prstDash val="solid"/>
          </a:ln>
        </p:spPr>
      </p:sp>
      <p:sp>
        <p:nvSpPr>
          <p:cNvPr id="18" name="Text 16"/>
          <p:cNvSpPr/>
          <p:nvPr/>
        </p:nvSpPr>
        <p:spPr>
          <a:xfrm>
            <a:off x="457200" y="3703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9" name="Shape 17"/>
          <p:cNvSpPr/>
          <p:nvPr/>
        </p:nvSpPr>
        <p:spPr>
          <a:xfrm>
            <a:off x="1097280" y="3721608"/>
            <a:ext cx="7498080" cy="457200"/>
          </a:xfrm>
          <a:prstGeom prst="rect">
            <a:avLst/>
          </a:prstGeom>
          <a:solidFill>
            <a:srgbClr val="FFFFFF"/>
          </a:solidFill>
          <a:ln w="12700">
            <a:solidFill>
              <a:srgbClr val="CBD5E1"/>
            </a:solidFill>
            <a:prstDash val="solid"/>
          </a:ln>
        </p:spPr>
      </p:sp>
      <p:sp>
        <p:nvSpPr>
          <p:cNvPr id="20" name="Text 18"/>
          <p:cNvSpPr/>
          <p:nvPr/>
        </p:nvSpPr>
        <p:spPr>
          <a:xfrm>
            <a:off x="1234440" y="3721608"/>
            <a:ext cx="73152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You will see the Platform List Items screen</a:t>
            </a:r>
            <a:endParaRPr lang="en-US" sz="14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Select Data Integration Manager</a:t>
            </a:r>
            <a:endParaRPr lang="en-US" sz="2200" dirty="0"/>
          </a:p>
        </p:txBody>
      </p:sp>
      <p:sp>
        <p:nvSpPr>
          <p:cNvPr id="5" name="Shape 3"/>
          <p:cNvSpPr/>
          <p:nvPr/>
        </p:nvSpPr>
        <p:spPr>
          <a:xfrm>
            <a:off x="457200" y="1051560"/>
            <a:ext cx="8229600" cy="3566160"/>
          </a:xfrm>
          <a:prstGeom prst="rect">
            <a:avLst/>
          </a:prstGeom>
          <a:solidFill>
            <a:srgbClr val="FFFFFF"/>
          </a:solidFill>
          <a:ln w="12700">
            <a:solidFill>
              <a:srgbClr val="CBD5E1"/>
            </a:solidFill>
            <a:prstDash val="solid"/>
          </a:ln>
        </p:spPr>
      </p:sp>
      <p:sp>
        <p:nvSpPr>
          <p:cNvPr id="6" name="Shape 4"/>
          <p:cNvSpPr/>
          <p:nvPr/>
        </p:nvSpPr>
        <p:spPr>
          <a:xfrm>
            <a:off x="457200" y="1051560"/>
            <a:ext cx="8229600" cy="411480"/>
          </a:xfrm>
          <a:prstGeom prst="rect">
            <a:avLst/>
          </a:prstGeom>
          <a:solidFill>
            <a:srgbClr val="0D1B2A"/>
          </a:solidFill>
          <a:ln w="12700">
            <a:solidFill>
              <a:srgbClr val="0D1B2A"/>
            </a:solidFill>
            <a:prstDash val="solid"/>
          </a:ln>
        </p:spPr>
      </p:sp>
      <p:sp>
        <p:nvSpPr>
          <p:cNvPr id="7" name="Text 5"/>
          <p:cNvSpPr/>
          <p:nvPr/>
        </p:nvSpPr>
        <p:spPr>
          <a:xfrm>
            <a:off x="640080" y="1051560"/>
            <a:ext cx="73152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Platform List Items</a:t>
            </a:r>
            <a:endParaRPr lang="en-US" sz="1300" dirty="0"/>
          </a:p>
        </p:txBody>
      </p:sp>
      <p:sp>
        <p:nvSpPr>
          <p:cNvPr id="8" name="Shape 6"/>
          <p:cNvSpPr/>
          <p:nvPr/>
        </p:nvSpPr>
        <p:spPr>
          <a:xfrm>
            <a:off x="457200" y="1463040"/>
            <a:ext cx="8229600" cy="457200"/>
          </a:xfrm>
          <a:prstGeom prst="rect">
            <a:avLst/>
          </a:prstGeom>
          <a:solidFill>
            <a:srgbClr val="1B7FA6"/>
          </a:solidFill>
          <a:ln w="6350">
            <a:solidFill>
              <a:srgbClr val="CBD5E1"/>
            </a:solidFill>
            <a:prstDash val="solid"/>
          </a:ln>
        </p:spPr>
      </p:sp>
      <p:sp>
        <p:nvSpPr>
          <p:cNvPr id="9" name="Shape 7"/>
          <p:cNvSpPr/>
          <p:nvPr/>
        </p:nvSpPr>
        <p:spPr>
          <a:xfrm>
            <a:off x="457200" y="1463040"/>
            <a:ext cx="54864" cy="457200"/>
          </a:xfrm>
          <a:prstGeom prst="rect">
            <a:avLst/>
          </a:prstGeom>
          <a:solidFill>
            <a:srgbClr val="02C39A"/>
          </a:solidFill>
          <a:ln w="12700">
            <a:solidFill>
              <a:srgbClr val="02C39A"/>
            </a:solidFill>
            <a:prstDash val="solid"/>
          </a:ln>
        </p:spPr>
      </p:sp>
      <p:sp>
        <p:nvSpPr>
          <p:cNvPr id="10" name="Text 8"/>
          <p:cNvSpPr/>
          <p:nvPr/>
        </p:nvSpPr>
        <p:spPr>
          <a:xfrm>
            <a:off x="640080" y="1463040"/>
            <a:ext cx="64008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Integration Manager</a:t>
            </a:r>
            <a:endParaRPr lang="en-US" sz="1300" dirty="0"/>
          </a:p>
        </p:txBody>
      </p:sp>
      <p:sp>
        <p:nvSpPr>
          <p:cNvPr id="11" name="Text 9"/>
          <p:cNvSpPr/>
          <p:nvPr/>
        </p:nvSpPr>
        <p:spPr>
          <a:xfrm>
            <a:off x="6858000" y="1463040"/>
            <a:ext cx="1645920" cy="457200"/>
          </a:xfrm>
          <a:prstGeom prst="rect">
            <a:avLst/>
          </a:prstGeom>
          <a:noFill/>
          <a:ln/>
        </p:spPr>
        <p:txBody>
          <a:bodyPr wrap="square" rtlCol="0" anchor="ctr"/>
          <a:lstStyle/>
          <a:p>
            <a:pPr algn="r" indent="0" marL="0">
              <a:buNone/>
            </a:pPr>
            <a:r>
              <a:rPr lang="en-US" sz="1100" i="1" dirty="0">
                <a:solidFill>
                  <a:srgbClr val="02C39A"/>
                </a:solidFill>
                <a:latin typeface="Calibri" pitchFamily="34" charset="0"/>
                <a:ea typeface="Calibri" pitchFamily="34" charset="-122"/>
                <a:cs typeface="Calibri" pitchFamily="34" charset="-120"/>
              </a:rPr>
              <a:t>← Select this</a:t>
            </a:r>
            <a:endParaRPr lang="en-US" sz="1100" dirty="0"/>
          </a:p>
        </p:txBody>
      </p:sp>
      <p:sp>
        <p:nvSpPr>
          <p:cNvPr id="12" name="Shape 10"/>
          <p:cNvSpPr/>
          <p:nvPr/>
        </p:nvSpPr>
        <p:spPr>
          <a:xfrm>
            <a:off x="457200" y="1938528"/>
            <a:ext cx="8229600" cy="457200"/>
          </a:xfrm>
          <a:prstGeom prst="rect">
            <a:avLst/>
          </a:prstGeom>
          <a:solidFill>
            <a:srgbClr val="FFFFFF"/>
          </a:solidFill>
          <a:ln w="6350">
            <a:solidFill>
              <a:srgbClr val="CBD5E1"/>
            </a:solidFill>
            <a:prstDash val="solid"/>
          </a:ln>
        </p:spPr>
      </p:sp>
      <p:sp>
        <p:nvSpPr>
          <p:cNvPr id="13" name="Text 11"/>
          <p:cNvSpPr/>
          <p:nvPr/>
        </p:nvSpPr>
        <p:spPr>
          <a:xfrm>
            <a:off x="640080" y="1938528"/>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4" name="Shape 12"/>
          <p:cNvSpPr/>
          <p:nvPr/>
        </p:nvSpPr>
        <p:spPr>
          <a:xfrm>
            <a:off x="457200" y="2414016"/>
            <a:ext cx="8229600" cy="457200"/>
          </a:xfrm>
          <a:prstGeom prst="rect">
            <a:avLst/>
          </a:prstGeom>
          <a:solidFill>
            <a:srgbClr val="F8FAFC"/>
          </a:solidFill>
          <a:ln w="6350">
            <a:solidFill>
              <a:srgbClr val="CBD5E1"/>
            </a:solidFill>
            <a:prstDash val="solid"/>
          </a:ln>
        </p:spPr>
      </p:sp>
      <p:sp>
        <p:nvSpPr>
          <p:cNvPr id="15" name="Text 13"/>
          <p:cNvSpPr/>
          <p:nvPr/>
        </p:nvSpPr>
        <p:spPr>
          <a:xfrm>
            <a:off x="640080" y="2414016"/>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16" name="Shape 14"/>
          <p:cNvSpPr/>
          <p:nvPr/>
        </p:nvSpPr>
        <p:spPr>
          <a:xfrm>
            <a:off x="457200" y="2889504"/>
            <a:ext cx="8229600" cy="457200"/>
          </a:xfrm>
          <a:prstGeom prst="rect">
            <a:avLst/>
          </a:prstGeom>
          <a:solidFill>
            <a:srgbClr val="FFFFFF"/>
          </a:solidFill>
          <a:ln w="6350">
            <a:solidFill>
              <a:srgbClr val="CBD5E1"/>
            </a:solidFill>
            <a:prstDash val="solid"/>
          </a:ln>
        </p:spPr>
      </p:sp>
      <p:sp>
        <p:nvSpPr>
          <p:cNvPr id="17" name="Text 15"/>
          <p:cNvSpPr/>
          <p:nvPr/>
        </p:nvSpPr>
        <p:spPr>
          <a:xfrm>
            <a:off x="640080" y="2889504"/>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System Configuration</a:t>
            </a:r>
            <a:endParaRPr lang="en-US" sz="1300" dirty="0"/>
          </a:p>
        </p:txBody>
      </p:sp>
      <p:sp>
        <p:nvSpPr>
          <p:cNvPr id="18" name="Shape 16"/>
          <p:cNvSpPr/>
          <p:nvPr/>
        </p:nvSpPr>
        <p:spPr>
          <a:xfrm>
            <a:off x="457200" y="3364992"/>
            <a:ext cx="8229600" cy="457200"/>
          </a:xfrm>
          <a:prstGeom prst="rect">
            <a:avLst/>
          </a:prstGeom>
          <a:solidFill>
            <a:srgbClr val="F8FAFC"/>
          </a:solidFill>
          <a:ln w="6350">
            <a:solidFill>
              <a:srgbClr val="CBD5E1"/>
            </a:solidFill>
            <a:prstDash val="solid"/>
          </a:ln>
        </p:spPr>
      </p:sp>
      <p:sp>
        <p:nvSpPr>
          <p:cNvPr id="19" name="Text 17"/>
          <p:cNvSpPr/>
          <p:nvPr/>
        </p:nvSpPr>
        <p:spPr>
          <a:xfrm>
            <a:off x="640080" y="3364992"/>
            <a:ext cx="6400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Alert Rules</a:t>
            </a:r>
            <a:endParaRPr lang="en-US" sz="13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Add a New Platform List Item</a:t>
            </a:r>
            <a:endParaRPr lang="en-US" sz="2200" dirty="0"/>
          </a:p>
        </p:txBody>
      </p:sp>
      <p:sp>
        <p:nvSpPr>
          <p:cNvPr id="5" name="Text 3"/>
          <p:cNvSpPr/>
          <p:nvPr/>
        </p:nvSpPr>
        <p:spPr>
          <a:xfrm>
            <a:off x="457200" y="1097280"/>
            <a:ext cx="3931920" cy="365760"/>
          </a:xfrm>
          <a:prstGeom prst="rect">
            <a:avLst/>
          </a:prstGeom>
          <a:noFill/>
          <a:ln/>
        </p:spPr>
        <p:txBody>
          <a:bodyPr wrap="square" rtlCol="0" anchor="ctr"/>
          <a:lstStyle/>
          <a:p>
            <a:pPr indent="0" marL="0">
              <a:buNone/>
            </a:pPr>
            <a:r>
              <a:rPr lang="en-US" sz="1400" b="1" dirty="0">
                <a:solidFill>
                  <a:srgbClr val="0E5C7A"/>
                </a:solidFill>
                <a:latin typeface="Calibri" pitchFamily="34" charset="0"/>
                <a:ea typeface="Calibri" pitchFamily="34" charset="-122"/>
                <a:cs typeface="Calibri" pitchFamily="34" charset="-120"/>
              </a:rPr>
              <a:t>How to add a new item:</a:t>
            </a:r>
            <a:endParaRPr lang="en-US" sz="1400" dirty="0"/>
          </a:p>
        </p:txBody>
      </p:sp>
      <p:sp>
        <p:nvSpPr>
          <p:cNvPr id="6" name="Shape 4"/>
          <p:cNvSpPr/>
          <p:nvPr/>
        </p:nvSpPr>
        <p:spPr>
          <a:xfrm>
            <a:off x="457200" y="1572768"/>
            <a:ext cx="320040" cy="320040"/>
          </a:xfrm>
          <a:prstGeom prst="ellipse">
            <a:avLst/>
          </a:prstGeom>
          <a:solidFill>
            <a:srgbClr val="1B7FA6"/>
          </a:solidFill>
          <a:ln w="12700">
            <a:solidFill>
              <a:srgbClr val="1B7FA6"/>
            </a:solidFill>
            <a:prstDash val="solid"/>
          </a:ln>
        </p:spPr>
      </p:sp>
      <p:sp>
        <p:nvSpPr>
          <p:cNvPr id="7" name="Text 5"/>
          <p:cNvSpPr/>
          <p:nvPr/>
        </p:nvSpPr>
        <p:spPr>
          <a:xfrm>
            <a:off x="457200" y="157276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914400" y="1572768"/>
            <a:ext cx="3474720" cy="54864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Click the + New Item icon in the toolbar</a:t>
            </a:r>
            <a:endParaRPr lang="en-US" sz="1200" dirty="0"/>
          </a:p>
        </p:txBody>
      </p:sp>
      <p:sp>
        <p:nvSpPr>
          <p:cNvPr id="9" name="Shape 7"/>
          <p:cNvSpPr/>
          <p:nvPr/>
        </p:nvSpPr>
        <p:spPr>
          <a:xfrm>
            <a:off x="457200" y="2322576"/>
            <a:ext cx="320040" cy="320040"/>
          </a:xfrm>
          <a:prstGeom prst="ellipse">
            <a:avLst/>
          </a:prstGeom>
          <a:solidFill>
            <a:srgbClr val="1B7FA6"/>
          </a:solidFill>
          <a:ln w="12700">
            <a:solidFill>
              <a:srgbClr val="1B7FA6"/>
            </a:solidFill>
            <a:prstDash val="solid"/>
          </a:ln>
        </p:spPr>
      </p:sp>
      <p:sp>
        <p:nvSpPr>
          <p:cNvPr id="10" name="Text 8"/>
          <p:cNvSpPr/>
          <p:nvPr/>
        </p:nvSpPr>
        <p:spPr>
          <a:xfrm>
            <a:off x="457200" y="232257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Text 9"/>
          <p:cNvSpPr/>
          <p:nvPr/>
        </p:nvSpPr>
        <p:spPr>
          <a:xfrm>
            <a:off x="914400" y="2322576"/>
            <a:ext cx="3474720" cy="54864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The New Platform List Item wizard opens</a:t>
            </a:r>
            <a:endParaRPr lang="en-US" sz="1200" dirty="0"/>
          </a:p>
        </p:txBody>
      </p:sp>
      <p:sp>
        <p:nvSpPr>
          <p:cNvPr id="12" name="Shape 10"/>
          <p:cNvSpPr/>
          <p:nvPr/>
        </p:nvSpPr>
        <p:spPr>
          <a:xfrm>
            <a:off x="457200" y="3072384"/>
            <a:ext cx="320040" cy="320040"/>
          </a:xfrm>
          <a:prstGeom prst="ellipse">
            <a:avLst/>
          </a:prstGeom>
          <a:solidFill>
            <a:srgbClr val="1B7FA6"/>
          </a:solidFill>
          <a:ln w="12700">
            <a:solidFill>
              <a:srgbClr val="1B7FA6"/>
            </a:solidFill>
            <a:prstDash val="solid"/>
          </a:ln>
        </p:spPr>
      </p:sp>
      <p:sp>
        <p:nvSpPr>
          <p:cNvPr id="13" name="Text 11"/>
          <p:cNvSpPr/>
          <p:nvPr/>
        </p:nvSpPr>
        <p:spPr>
          <a:xfrm>
            <a:off x="457200" y="307238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Text 12"/>
          <p:cNvSpPr/>
          <p:nvPr/>
        </p:nvSpPr>
        <p:spPr>
          <a:xfrm>
            <a:off x="914400" y="3072384"/>
            <a:ext cx="3474720" cy="54864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Follow the wizard steps to configure the data stream</a:t>
            </a:r>
            <a:endParaRPr lang="en-US" sz="1200" dirty="0"/>
          </a:p>
        </p:txBody>
      </p:sp>
      <p:sp>
        <p:nvSpPr>
          <p:cNvPr id="15" name="Shape 13"/>
          <p:cNvSpPr/>
          <p:nvPr/>
        </p:nvSpPr>
        <p:spPr>
          <a:xfrm>
            <a:off x="4572000" y="1051560"/>
            <a:ext cx="4114800" cy="3749040"/>
          </a:xfrm>
          <a:prstGeom prst="rect">
            <a:avLst/>
          </a:prstGeom>
          <a:solidFill>
            <a:srgbClr val="FFFFFF"/>
          </a:solidFill>
          <a:ln w="19050">
            <a:solidFill>
              <a:srgbClr val="1B7FA6"/>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572000" y="1051560"/>
            <a:ext cx="4114800" cy="457200"/>
          </a:xfrm>
          <a:prstGeom prst="rect">
            <a:avLst/>
          </a:prstGeom>
          <a:solidFill>
            <a:srgbClr val="1B7FA6"/>
          </a:solidFill>
          <a:ln w="12700">
            <a:solidFill>
              <a:srgbClr val="1B7FA6"/>
            </a:solidFill>
            <a:prstDash val="solid"/>
          </a:ln>
        </p:spPr>
      </p:sp>
      <p:sp>
        <p:nvSpPr>
          <p:cNvPr id="17" name="Text 15"/>
          <p:cNvSpPr/>
          <p:nvPr/>
        </p:nvSpPr>
        <p:spPr>
          <a:xfrm>
            <a:off x="4617720" y="1051560"/>
            <a:ext cx="40233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New Platform List Item</a:t>
            </a:r>
            <a:endParaRPr lang="en-US" sz="1300" dirty="0"/>
          </a:p>
        </p:txBody>
      </p:sp>
      <p:sp>
        <p:nvSpPr>
          <p:cNvPr id="18" name="Text 16"/>
          <p:cNvSpPr/>
          <p:nvPr/>
        </p:nvSpPr>
        <p:spPr>
          <a:xfrm>
            <a:off x="4709160" y="1627632"/>
            <a:ext cx="37490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Data Stream Identifier *</a:t>
            </a:r>
            <a:endParaRPr lang="en-US" sz="1100" dirty="0"/>
          </a:p>
        </p:txBody>
      </p:sp>
      <p:sp>
        <p:nvSpPr>
          <p:cNvPr id="19" name="Shape 17"/>
          <p:cNvSpPr/>
          <p:nvPr/>
        </p:nvSpPr>
        <p:spPr>
          <a:xfrm>
            <a:off x="4709160" y="1920240"/>
            <a:ext cx="3749040" cy="292608"/>
          </a:xfrm>
          <a:prstGeom prst="rect">
            <a:avLst/>
          </a:prstGeom>
          <a:solidFill>
            <a:srgbClr val="F8FAFC"/>
          </a:solidFill>
          <a:ln w="12700">
            <a:solidFill>
              <a:srgbClr val="CBD5E1"/>
            </a:solidFill>
            <a:prstDash val="solid"/>
          </a:ln>
        </p:spPr>
      </p:sp>
      <p:sp>
        <p:nvSpPr>
          <p:cNvPr id="20" name="Text 18"/>
          <p:cNvSpPr/>
          <p:nvPr/>
        </p:nvSpPr>
        <p:spPr>
          <a:xfrm>
            <a:off x="4709160" y="2450592"/>
            <a:ext cx="37490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Data Stream Name *</a:t>
            </a:r>
            <a:endParaRPr lang="en-US" sz="1100" dirty="0"/>
          </a:p>
        </p:txBody>
      </p:sp>
      <p:sp>
        <p:nvSpPr>
          <p:cNvPr id="21" name="Shape 19"/>
          <p:cNvSpPr/>
          <p:nvPr/>
        </p:nvSpPr>
        <p:spPr>
          <a:xfrm>
            <a:off x="4709160" y="2743200"/>
            <a:ext cx="3749040" cy="292608"/>
          </a:xfrm>
          <a:prstGeom prst="rect">
            <a:avLst/>
          </a:prstGeom>
          <a:solidFill>
            <a:srgbClr val="F8FAFC"/>
          </a:solidFill>
          <a:ln w="12700">
            <a:solidFill>
              <a:srgbClr val="CBD5E1"/>
            </a:solidFill>
            <a:prstDash val="solid"/>
          </a:ln>
        </p:spPr>
      </p:sp>
      <p:sp>
        <p:nvSpPr>
          <p:cNvPr id="22" name="Text 20"/>
          <p:cNvSpPr/>
          <p:nvPr/>
        </p:nvSpPr>
        <p:spPr>
          <a:xfrm>
            <a:off x="4709160" y="3273552"/>
            <a:ext cx="37490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Description</a:t>
            </a:r>
            <a:endParaRPr lang="en-US" sz="1100" dirty="0"/>
          </a:p>
        </p:txBody>
      </p:sp>
      <p:sp>
        <p:nvSpPr>
          <p:cNvPr id="23" name="Shape 21"/>
          <p:cNvSpPr/>
          <p:nvPr/>
        </p:nvSpPr>
        <p:spPr>
          <a:xfrm>
            <a:off x="4709160" y="3566160"/>
            <a:ext cx="3749040" cy="292608"/>
          </a:xfrm>
          <a:prstGeom prst="rect">
            <a:avLst/>
          </a:prstGeom>
          <a:solidFill>
            <a:srgbClr val="F8FAFC"/>
          </a:solidFill>
          <a:ln w="12700">
            <a:solidFill>
              <a:srgbClr val="CBD5E1"/>
            </a:solidFill>
            <a:prstDash val="solid"/>
          </a:ln>
        </p:spPr>
      </p:sp>
      <p:sp>
        <p:nvSpPr>
          <p:cNvPr id="24" name="Text 22"/>
          <p:cNvSpPr/>
          <p:nvPr/>
        </p:nvSpPr>
        <p:spPr>
          <a:xfrm>
            <a:off x="4709160" y="4297680"/>
            <a:ext cx="374904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 Required fields</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Configuring Data Stream Fields</a:t>
            </a:r>
            <a:endParaRPr lang="en-US" sz="2200" dirty="0"/>
          </a:p>
        </p:txBody>
      </p:sp>
      <p:sp>
        <p:nvSpPr>
          <p:cNvPr id="5" name="Shape 3"/>
          <p:cNvSpPr/>
          <p:nvPr/>
        </p:nvSpPr>
        <p:spPr>
          <a:xfrm>
            <a:off x="365760" y="1051560"/>
            <a:ext cx="8412480" cy="1097280"/>
          </a:xfrm>
          <a:prstGeom prst="rect">
            <a:avLst/>
          </a:prstGeom>
          <a:solidFill>
            <a:srgbClr val="FFFFFF"/>
          </a:solidFill>
          <a:ln w="12700">
            <a:solidFill>
              <a:srgbClr val="CBD5E1"/>
            </a:solidFill>
            <a:prstDash val="solid"/>
          </a:ln>
          <a:effectLst>
            <a:outerShdw sx="100000" sy="100000" kx="0" ky="0" algn="bl" rotWithShape="0" blurRad="38100" dist="25400" dir="8100000">
              <a:srgbClr val="000000">
                <a:alpha val="7000"/>
              </a:srgbClr>
            </a:outerShdw>
          </a:effectLst>
        </p:spPr>
      </p:sp>
      <p:sp>
        <p:nvSpPr>
          <p:cNvPr id="6" name="Shape 4"/>
          <p:cNvSpPr/>
          <p:nvPr/>
        </p:nvSpPr>
        <p:spPr>
          <a:xfrm>
            <a:off x="365760" y="1051560"/>
            <a:ext cx="64008" cy="1097280"/>
          </a:xfrm>
          <a:prstGeom prst="rect">
            <a:avLst/>
          </a:prstGeom>
          <a:solidFill>
            <a:srgbClr val="1B7FA6"/>
          </a:solidFill>
          <a:ln w="12700">
            <a:solidFill>
              <a:srgbClr val="1B7FA6"/>
            </a:solidFill>
            <a:prstDash val="solid"/>
          </a:ln>
        </p:spPr>
      </p:sp>
      <p:sp>
        <p:nvSpPr>
          <p:cNvPr id="7" name="Text 5"/>
          <p:cNvSpPr/>
          <p:nvPr/>
        </p:nvSpPr>
        <p:spPr>
          <a:xfrm>
            <a:off x="594360" y="1143000"/>
            <a:ext cx="4572000"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Data Stream Identifier</a:t>
            </a:r>
            <a:endParaRPr lang="en-US" sz="1400" dirty="0"/>
          </a:p>
        </p:txBody>
      </p:sp>
      <p:sp>
        <p:nvSpPr>
          <p:cNvPr id="8" name="Shape 6"/>
          <p:cNvSpPr/>
          <p:nvPr/>
        </p:nvSpPr>
        <p:spPr>
          <a:xfrm>
            <a:off x="5303520" y="1188720"/>
            <a:ext cx="1005840" cy="256032"/>
          </a:xfrm>
          <a:prstGeom prst="roundRect">
            <a:avLst>
              <a:gd name="adj" fmla="val 17857"/>
            </a:avLst>
          </a:prstGeom>
          <a:solidFill>
            <a:srgbClr val="1B7FA6">
              <a:alpha val="30000"/>
            </a:srgbClr>
          </a:solidFill>
          <a:ln w="12700">
            <a:solidFill>
              <a:srgbClr val="1B7FA6"/>
            </a:solidFill>
            <a:prstDash val="solid"/>
          </a:ln>
        </p:spPr>
      </p:sp>
      <p:sp>
        <p:nvSpPr>
          <p:cNvPr id="9" name="Text 7"/>
          <p:cNvSpPr/>
          <p:nvPr/>
        </p:nvSpPr>
        <p:spPr>
          <a:xfrm>
            <a:off x="5303520" y="1188720"/>
            <a:ext cx="1005840" cy="256032"/>
          </a:xfrm>
          <a:prstGeom prst="rect">
            <a:avLst/>
          </a:prstGeom>
          <a:noFill/>
          <a:ln/>
        </p:spPr>
        <p:txBody>
          <a:bodyPr wrap="square" lIns="0" tIns="0" rIns="0" bIns="0" rtlCol="0" anchor="ctr"/>
          <a:lstStyle/>
          <a:p>
            <a:pPr algn="ctr" indent="0" marL="0">
              <a:buNone/>
            </a:pPr>
            <a:r>
              <a:rPr lang="en-US" sz="900" b="1" dirty="0">
                <a:solidFill>
                  <a:srgbClr val="0E5C7A"/>
                </a:solidFill>
              </a:rPr>
              <a:t>REQUIRED</a:t>
            </a:r>
            <a:endParaRPr lang="en-US" sz="900" dirty="0"/>
          </a:p>
        </p:txBody>
      </p:sp>
      <p:sp>
        <p:nvSpPr>
          <p:cNvPr id="10" name="Text 8"/>
          <p:cNvSpPr/>
          <p:nvPr/>
        </p:nvSpPr>
        <p:spPr>
          <a:xfrm>
            <a:off x="594360" y="1554480"/>
            <a:ext cx="777240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Select from existing data streams. Mandatory and must be unique.</a:t>
            </a:r>
            <a:endParaRPr lang="en-US" sz="1200" dirty="0"/>
          </a:p>
        </p:txBody>
      </p:sp>
      <p:sp>
        <p:nvSpPr>
          <p:cNvPr id="11" name="Shape 9"/>
          <p:cNvSpPr/>
          <p:nvPr/>
        </p:nvSpPr>
        <p:spPr>
          <a:xfrm>
            <a:off x="365760" y="2313432"/>
            <a:ext cx="8412480" cy="1097280"/>
          </a:xfrm>
          <a:prstGeom prst="rect">
            <a:avLst/>
          </a:prstGeom>
          <a:solidFill>
            <a:srgbClr val="FFFFFF"/>
          </a:solidFill>
          <a:ln w="12700">
            <a:solidFill>
              <a:srgbClr val="CBD5E1"/>
            </a:solidFill>
            <a:prstDash val="solid"/>
          </a:ln>
          <a:effectLst>
            <a:outerShdw sx="100000" sy="100000" kx="0" ky="0" algn="bl" rotWithShape="0" blurRad="38100" dist="25400" dir="8100000">
              <a:srgbClr val="000000">
                <a:alpha val="7000"/>
              </a:srgbClr>
            </a:outerShdw>
          </a:effectLst>
        </p:spPr>
      </p:sp>
      <p:sp>
        <p:nvSpPr>
          <p:cNvPr id="12" name="Shape 10"/>
          <p:cNvSpPr/>
          <p:nvPr/>
        </p:nvSpPr>
        <p:spPr>
          <a:xfrm>
            <a:off x="365760" y="2313432"/>
            <a:ext cx="64008" cy="1097280"/>
          </a:xfrm>
          <a:prstGeom prst="rect">
            <a:avLst/>
          </a:prstGeom>
          <a:solidFill>
            <a:srgbClr val="1B7FA6"/>
          </a:solidFill>
          <a:ln w="12700">
            <a:solidFill>
              <a:srgbClr val="1B7FA6"/>
            </a:solidFill>
            <a:prstDash val="solid"/>
          </a:ln>
        </p:spPr>
      </p:sp>
      <p:sp>
        <p:nvSpPr>
          <p:cNvPr id="13" name="Text 11"/>
          <p:cNvSpPr/>
          <p:nvPr/>
        </p:nvSpPr>
        <p:spPr>
          <a:xfrm>
            <a:off x="594360" y="2404872"/>
            <a:ext cx="4572000"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Data Stream Name</a:t>
            </a:r>
            <a:endParaRPr lang="en-US" sz="1400" dirty="0"/>
          </a:p>
        </p:txBody>
      </p:sp>
      <p:sp>
        <p:nvSpPr>
          <p:cNvPr id="14" name="Shape 12"/>
          <p:cNvSpPr/>
          <p:nvPr/>
        </p:nvSpPr>
        <p:spPr>
          <a:xfrm>
            <a:off x="5303520" y="2450592"/>
            <a:ext cx="1005840" cy="256032"/>
          </a:xfrm>
          <a:prstGeom prst="roundRect">
            <a:avLst>
              <a:gd name="adj" fmla="val 17857"/>
            </a:avLst>
          </a:prstGeom>
          <a:solidFill>
            <a:srgbClr val="1B7FA6">
              <a:alpha val="30000"/>
            </a:srgbClr>
          </a:solidFill>
          <a:ln w="12700">
            <a:solidFill>
              <a:srgbClr val="1B7FA6"/>
            </a:solidFill>
            <a:prstDash val="solid"/>
          </a:ln>
        </p:spPr>
      </p:sp>
      <p:sp>
        <p:nvSpPr>
          <p:cNvPr id="15" name="Text 13"/>
          <p:cNvSpPr/>
          <p:nvPr/>
        </p:nvSpPr>
        <p:spPr>
          <a:xfrm>
            <a:off x="5303520" y="2450592"/>
            <a:ext cx="1005840" cy="256032"/>
          </a:xfrm>
          <a:prstGeom prst="rect">
            <a:avLst/>
          </a:prstGeom>
          <a:noFill/>
          <a:ln/>
        </p:spPr>
        <p:txBody>
          <a:bodyPr wrap="square" lIns="0" tIns="0" rIns="0" bIns="0" rtlCol="0" anchor="ctr"/>
          <a:lstStyle/>
          <a:p>
            <a:pPr algn="ctr" indent="0" marL="0">
              <a:buNone/>
            </a:pPr>
            <a:r>
              <a:rPr lang="en-US" sz="900" b="1" dirty="0">
                <a:solidFill>
                  <a:srgbClr val="0E5C7A"/>
                </a:solidFill>
              </a:rPr>
              <a:t>REQUIRED</a:t>
            </a:r>
            <a:endParaRPr lang="en-US" sz="900" dirty="0"/>
          </a:p>
        </p:txBody>
      </p:sp>
      <p:sp>
        <p:nvSpPr>
          <p:cNvPr id="16" name="Text 14"/>
          <p:cNvSpPr/>
          <p:nvPr/>
        </p:nvSpPr>
        <p:spPr>
          <a:xfrm>
            <a:off x="594360" y="2816352"/>
            <a:ext cx="777240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Business display name. Must be unique. Maximum 50 characters.</a:t>
            </a:r>
            <a:endParaRPr lang="en-US" sz="1200" dirty="0"/>
          </a:p>
        </p:txBody>
      </p:sp>
      <p:sp>
        <p:nvSpPr>
          <p:cNvPr id="17" name="Shape 15"/>
          <p:cNvSpPr/>
          <p:nvPr/>
        </p:nvSpPr>
        <p:spPr>
          <a:xfrm>
            <a:off x="365760" y="3575304"/>
            <a:ext cx="8412480" cy="1097280"/>
          </a:xfrm>
          <a:prstGeom prst="rect">
            <a:avLst/>
          </a:prstGeom>
          <a:solidFill>
            <a:srgbClr val="FFFFFF"/>
          </a:solidFill>
          <a:ln w="12700">
            <a:solidFill>
              <a:srgbClr val="CBD5E1"/>
            </a:solidFill>
            <a:prstDash val="solid"/>
          </a:ln>
          <a:effectLst>
            <a:outerShdw sx="100000" sy="100000" kx="0" ky="0" algn="bl" rotWithShape="0" blurRad="38100" dist="25400" dir="8100000">
              <a:srgbClr val="000000">
                <a:alpha val="7000"/>
              </a:srgbClr>
            </a:outerShdw>
          </a:effectLst>
        </p:spPr>
      </p:sp>
      <p:sp>
        <p:nvSpPr>
          <p:cNvPr id="18" name="Shape 16"/>
          <p:cNvSpPr/>
          <p:nvPr/>
        </p:nvSpPr>
        <p:spPr>
          <a:xfrm>
            <a:off x="365760" y="3575304"/>
            <a:ext cx="64008" cy="1097280"/>
          </a:xfrm>
          <a:prstGeom prst="rect">
            <a:avLst/>
          </a:prstGeom>
          <a:solidFill>
            <a:srgbClr val="1B7FA6"/>
          </a:solidFill>
          <a:ln w="12700">
            <a:solidFill>
              <a:srgbClr val="1B7FA6"/>
            </a:solidFill>
            <a:prstDash val="solid"/>
          </a:ln>
        </p:spPr>
      </p:sp>
      <p:sp>
        <p:nvSpPr>
          <p:cNvPr id="19" name="Text 17"/>
          <p:cNvSpPr/>
          <p:nvPr/>
        </p:nvSpPr>
        <p:spPr>
          <a:xfrm>
            <a:off x="594360" y="3666744"/>
            <a:ext cx="4572000" cy="36576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Description</a:t>
            </a:r>
            <a:endParaRPr lang="en-US" sz="1400" dirty="0"/>
          </a:p>
        </p:txBody>
      </p:sp>
      <p:sp>
        <p:nvSpPr>
          <p:cNvPr id="20" name="Text 18"/>
          <p:cNvSpPr/>
          <p:nvPr/>
        </p:nvSpPr>
        <p:spPr>
          <a:xfrm>
            <a:off x="594360" y="4078224"/>
            <a:ext cx="777240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Additional information related to the data stream.</a:t>
            </a:r>
            <a:endParaRPr lang="en-US" sz="12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Configuring Fields Further</a:t>
            </a:r>
            <a:endParaRPr lang="en-US" sz="2200" dirty="0"/>
          </a:p>
        </p:txBody>
      </p:sp>
      <p:sp>
        <p:nvSpPr>
          <p:cNvPr id="5" name="Text 3"/>
          <p:cNvSpPr/>
          <p:nvPr/>
        </p:nvSpPr>
        <p:spPr>
          <a:xfrm>
            <a:off x="457200" y="1005840"/>
            <a:ext cx="8229600" cy="64008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Once a data stream is defined, click the arrow icon (→) in the first column to access additional configuration tabs.</a:t>
            </a:r>
            <a:endParaRPr lang="en-US" sz="1400" dirty="0"/>
          </a:p>
        </p:txBody>
      </p:sp>
      <p:sp>
        <p:nvSpPr>
          <p:cNvPr id="6" name="Shape 4"/>
          <p:cNvSpPr/>
          <p:nvPr/>
        </p:nvSpPr>
        <p:spPr>
          <a:xfrm>
            <a:off x="457200" y="1783080"/>
            <a:ext cx="4023360" cy="292608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9000"/>
              </a:srgbClr>
            </a:outerShdw>
          </a:effectLst>
        </p:spPr>
      </p:sp>
      <p:sp>
        <p:nvSpPr>
          <p:cNvPr id="7" name="Shape 5"/>
          <p:cNvSpPr/>
          <p:nvPr/>
        </p:nvSpPr>
        <p:spPr>
          <a:xfrm>
            <a:off x="457200" y="1783080"/>
            <a:ext cx="4023360" cy="502920"/>
          </a:xfrm>
          <a:prstGeom prst="rect">
            <a:avLst/>
          </a:prstGeom>
          <a:solidFill>
            <a:srgbClr val="1B7FA6"/>
          </a:solidFill>
          <a:ln w="12700">
            <a:solidFill>
              <a:srgbClr val="1B7FA6"/>
            </a:solidFill>
            <a:prstDash val="solid"/>
          </a:ln>
        </p:spPr>
      </p:sp>
      <p:sp>
        <p:nvSpPr>
          <p:cNvPr id="8" name="Text 6"/>
          <p:cNvSpPr/>
          <p:nvPr/>
        </p:nvSpPr>
        <p:spPr>
          <a:xfrm>
            <a:off x="594360" y="1783080"/>
            <a:ext cx="3749040"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 Elements</a:t>
            </a:r>
            <a:endParaRPr lang="en-US" sz="1500" dirty="0"/>
          </a:p>
        </p:txBody>
      </p:sp>
      <p:sp>
        <p:nvSpPr>
          <p:cNvPr id="9" name="Text 7"/>
          <p:cNvSpPr/>
          <p:nvPr/>
        </p:nvSpPr>
        <p:spPr>
          <a:xfrm>
            <a:off x="594360" y="2377440"/>
            <a:ext cx="3749040" cy="2194560"/>
          </a:xfrm>
          <a:prstGeom prst="rect">
            <a:avLst/>
          </a:prstGeom>
          <a:noFill/>
          <a:ln/>
        </p:spPr>
        <p:txBody>
          <a:bodyPr wrap="square" lIns="76200" tIns="76200" rIns="76200" bIns="7620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Configure field-level metadata: key identifiers, business names, data types, and scrambling methods for data persistence.</a:t>
            </a:r>
            <a:endParaRPr lang="en-US" sz="1200" dirty="0"/>
          </a:p>
        </p:txBody>
      </p:sp>
      <p:sp>
        <p:nvSpPr>
          <p:cNvPr id="10" name="Shape 8"/>
          <p:cNvSpPr/>
          <p:nvPr/>
        </p:nvSpPr>
        <p:spPr>
          <a:xfrm>
            <a:off x="4846320" y="1783080"/>
            <a:ext cx="4023360" cy="292608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9000"/>
              </a:srgbClr>
            </a:outerShdw>
          </a:effectLst>
        </p:spPr>
      </p:sp>
      <p:sp>
        <p:nvSpPr>
          <p:cNvPr id="11" name="Shape 9"/>
          <p:cNvSpPr/>
          <p:nvPr/>
        </p:nvSpPr>
        <p:spPr>
          <a:xfrm>
            <a:off x="4846320" y="1783080"/>
            <a:ext cx="4023360" cy="502920"/>
          </a:xfrm>
          <a:prstGeom prst="rect">
            <a:avLst/>
          </a:prstGeom>
          <a:solidFill>
            <a:srgbClr val="02C39A"/>
          </a:solidFill>
          <a:ln w="12700">
            <a:solidFill>
              <a:srgbClr val="02C39A"/>
            </a:solidFill>
            <a:prstDash val="solid"/>
          </a:ln>
        </p:spPr>
      </p:sp>
      <p:sp>
        <p:nvSpPr>
          <p:cNvPr id="12" name="Text 10"/>
          <p:cNvSpPr/>
          <p:nvPr/>
        </p:nvSpPr>
        <p:spPr>
          <a:xfrm>
            <a:off x="4983480" y="1783080"/>
            <a:ext cx="3749040"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Detection Process</a:t>
            </a:r>
            <a:endParaRPr lang="en-US" sz="1500" dirty="0"/>
          </a:p>
        </p:txBody>
      </p:sp>
      <p:sp>
        <p:nvSpPr>
          <p:cNvPr id="13" name="Text 11"/>
          <p:cNvSpPr/>
          <p:nvPr/>
        </p:nvSpPr>
        <p:spPr>
          <a:xfrm>
            <a:off x="4983480" y="2377440"/>
            <a:ext cx="3749040" cy="2194560"/>
          </a:xfrm>
          <a:prstGeom prst="rect">
            <a:avLst/>
          </a:prstGeom>
          <a:noFill/>
          <a:ln/>
        </p:spPr>
        <p:txBody>
          <a:bodyPr wrap="square" lIns="76200" tIns="76200" rIns="76200" bIns="7620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Define detection logic and processing rules applied when the data stream is active in the platform.</a:t>
            </a:r>
            <a:endParaRPr lang="en-US" sz="12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Elements Tab</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Click the Add item (+) icon to specify field information:</a:t>
            </a:r>
            <a:endParaRPr lang="en-US" sz="1400" dirty="0"/>
          </a:p>
        </p:txBody>
      </p:sp>
      <p:sp>
        <p:nvSpPr>
          <p:cNvPr id="6" name="Shape 4"/>
          <p:cNvSpPr/>
          <p:nvPr/>
        </p:nvSpPr>
        <p:spPr>
          <a:xfrm>
            <a:off x="457200" y="1463040"/>
            <a:ext cx="8229600" cy="411480"/>
          </a:xfrm>
          <a:prstGeom prst="rect">
            <a:avLst/>
          </a:prstGeom>
          <a:solidFill>
            <a:srgbClr val="0D1B2A"/>
          </a:solidFill>
          <a:ln w="12700">
            <a:solidFill>
              <a:srgbClr val="0D1B2A"/>
            </a:solidFill>
            <a:prstDash val="solid"/>
          </a:ln>
        </p:spPr>
      </p:sp>
      <p:sp>
        <p:nvSpPr>
          <p:cNvPr id="7" name="Text 5"/>
          <p:cNvSpPr/>
          <p:nvPr/>
        </p:nvSpPr>
        <p:spPr>
          <a:xfrm>
            <a:off x="548640" y="1463040"/>
            <a:ext cx="18288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8" name="Text 6"/>
          <p:cNvSpPr/>
          <p:nvPr/>
        </p:nvSpPr>
        <p:spPr>
          <a:xfrm>
            <a:off x="2560320" y="1463040"/>
            <a:ext cx="347472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9" name="Text 7"/>
          <p:cNvSpPr/>
          <p:nvPr/>
        </p:nvSpPr>
        <p:spPr>
          <a:xfrm>
            <a:off x="6217920" y="1463040"/>
            <a:ext cx="18288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457200" y="1874520"/>
            <a:ext cx="8229600" cy="548640"/>
          </a:xfrm>
          <a:prstGeom prst="rect">
            <a:avLst/>
          </a:prstGeom>
          <a:solidFill>
            <a:srgbClr val="F8FAFC"/>
          </a:solidFill>
          <a:ln w="6350">
            <a:solidFill>
              <a:srgbClr val="CBD5E1"/>
            </a:solidFill>
            <a:prstDash val="solid"/>
          </a:ln>
        </p:spPr>
      </p:sp>
      <p:sp>
        <p:nvSpPr>
          <p:cNvPr id="11" name="Text 9"/>
          <p:cNvSpPr/>
          <p:nvPr/>
        </p:nvSpPr>
        <p:spPr>
          <a:xfrm>
            <a:off x="548640" y="1874520"/>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Key Identifier</a:t>
            </a:r>
            <a:endParaRPr lang="en-US" sz="1100" dirty="0"/>
          </a:p>
        </p:txBody>
      </p:sp>
      <p:sp>
        <p:nvSpPr>
          <p:cNvPr id="12" name="Text 10"/>
          <p:cNvSpPr/>
          <p:nvPr/>
        </p:nvSpPr>
        <p:spPr>
          <a:xfrm>
            <a:off x="2560320" y="1874520"/>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The key in the JSON string</a:t>
            </a:r>
            <a:endParaRPr lang="en-US" sz="1100" dirty="0"/>
          </a:p>
        </p:txBody>
      </p:sp>
      <p:sp>
        <p:nvSpPr>
          <p:cNvPr id="13" name="Text 11"/>
          <p:cNvSpPr/>
          <p:nvPr/>
        </p:nvSpPr>
        <p:spPr>
          <a:xfrm>
            <a:off x="6217920" y="1874520"/>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Unique per data stream</a:t>
            </a:r>
            <a:endParaRPr lang="en-US" sz="1000" dirty="0"/>
          </a:p>
        </p:txBody>
      </p:sp>
      <p:sp>
        <p:nvSpPr>
          <p:cNvPr id="14" name="Shape 12"/>
          <p:cNvSpPr/>
          <p:nvPr/>
        </p:nvSpPr>
        <p:spPr>
          <a:xfrm>
            <a:off x="457200" y="2441448"/>
            <a:ext cx="8229600" cy="548640"/>
          </a:xfrm>
          <a:prstGeom prst="rect">
            <a:avLst/>
          </a:prstGeom>
          <a:solidFill>
            <a:srgbClr val="FFFFFF"/>
          </a:solidFill>
          <a:ln w="6350">
            <a:solidFill>
              <a:srgbClr val="CBD5E1"/>
            </a:solidFill>
            <a:prstDash val="solid"/>
          </a:ln>
        </p:spPr>
      </p:sp>
      <p:sp>
        <p:nvSpPr>
          <p:cNvPr id="15" name="Text 13"/>
          <p:cNvSpPr/>
          <p:nvPr/>
        </p:nvSpPr>
        <p:spPr>
          <a:xfrm>
            <a:off x="548640" y="2441448"/>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Business Name</a:t>
            </a:r>
            <a:endParaRPr lang="en-US" sz="1100" dirty="0"/>
          </a:p>
        </p:txBody>
      </p:sp>
      <p:sp>
        <p:nvSpPr>
          <p:cNvPr id="16" name="Text 14"/>
          <p:cNvSpPr/>
          <p:nvPr/>
        </p:nvSpPr>
        <p:spPr>
          <a:xfrm>
            <a:off x="2560320" y="2441448"/>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Display name in Policy Manager &amp; Analytics</a:t>
            </a:r>
            <a:endParaRPr lang="en-US" sz="1100" dirty="0"/>
          </a:p>
        </p:txBody>
      </p:sp>
      <p:sp>
        <p:nvSpPr>
          <p:cNvPr id="17" name="Text 15"/>
          <p:cNvSpPr/>
          <p:nvPr/>
        </p:nvSpPr>
        <p:spPr>
          <a:xfrm>
            <a:off x="6217920" y="2441448"/>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Shown in authoring environment</a:t>
            </a:r>
            <a:endParaRPr lang="en-US" sz="1000" dirty="0"/>
          </a:p>
        </p:txBody>
      </p:sp>
      <p:sp>
        <p:nvSpPr>
          <p:cNvPr id="18" name="Shape 16"/>
          <p:cNvSpPr/>
          <p:nvPr/>
        </p:nvSpPr>
        <p:spPr>
          <a:xfrm>
            <a:off x="457200" y="3008376"/>
            <a:ext cx="8229600" cy="548640"/>
          </a:xfrm>
          <a:prstGeom prst="rect">
            <a:avLst/>
          </a:prstGeom>
          <a:solidFill>
            <a:srgbClr val="F8FAFC"/>
          </a:solidFill>
          <a:ln w="6350">
            <a:solidFill>
              <a:srgbClr val="CBD5E1"/>
            </a:solidFill>
            <a:prstDash val="solid"/>
          </a:ln>
        </p:spPr>
      </p:sp>
      <p:sp>
        <p:nvSpPr>
          <p:cNvPr id="19" name="Text 17"/>
          <p:cNvSpPr/>
          <p:nvPr/>
        </p:nvSpPr>
        <p:spPr>
          <a:xfrm>
            <a:off x="548640" y="3008376"/>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560320" y="3008376"/>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Type of the field value</a:t>
            </a:r>
            <a:endParaRPr lang="en-US" sz="1100" dirty="0"/>
          </a:p>
        </p:txBody>
      </p:sp>
      <p:sp>
        <p:nvSpPr>
          <p:cNvPr id="21" name="Text 19"/>
          <p:cNvSpPr/>
          <p:nvPr/>
        </p:nvSpPr>
        <p:spPr>
          <a:xfrm>
            <a:off x="6217920" y="3008376"/>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String, Integer, Boolean, etc.</a:t>
            </a:r>
            <a:endParaRPr lang="en-US" sz="1000" dirty="0"/>
          </a:p>
        </p:txBody>
      </p:sp>
      <p:sp>
        <p:nvSpPr>
          <p:cNvPr id="22" name="Shape 20"/>
          <p:cNvSpPr/>
          <p:nvPr/>
        </p:nvSpPr>
        <p:spPr>
          <a:xfrm>
            <a:off x="457200" y="3575304"/>
            <a:ext cx="8229600" cy="548640"/>
          </a:xfrm>
          <a:prstGeom prst="rect">
            <a:avLst/>
          </a:prstGeom>
          <a:solidFill>
            <a:srgbClr val="FFFFFF"/>
          </a:solidFill>
          <a:ln w="6350">
            <a:solidFill>
              <a:srgbClr val="CBD5E1"/>
            </a:solidFill>
            <a:prstDash val="solid"/>
          </a:ln>
        </p:spPr>
      </p:sp>
      <p:sp>
        <p:nvSpPr>
          <p:cNvPr id="23" name="Text 21"/>
          <p:cNvSpPr/>
          <p:nvPr/>
        </p:nvSpPr>
        <p:spPr>
          <a:xfrm>
            <a:off x="548640" y="3575304"/>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Scrambling Method</a:t>
            </a:r>
            <a:endParaRPr lang="en-US" sz="1100" dirty="0"/>
          </a:p>
        </p:txBody>
      </p:sp>
      <p:sp>
        <p:nvSpPr>
          <p:cNvPr id="24" name="Text 22"/>
          <p:cNvSpPr/>
          <p:nvPr/>
        </p:nvSpPr>
        <p:spPr>
          <a:xfrm>
            <a:off x="2560320" y="3575304"/>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How data is masked when persisted</a:t>
            </a:r>
            <a:endParaRPr lang="en-US" sz="1100" dirty="0"/>
          </a:p>
        </p:txBody>
      </p:sp>
      <p:sp>
        <p:nvSpPr>
          <p:cNvPr id="25" name="Text 23"/>
          <p:cNvSpPr/>
          <p:nvPr/>
        </p:nvSpPr>
        <p:spPr>
          <a:xfrm>
            <a:off x="6217920" y="3575304"/>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Applies to DataLakes storage</a:t>
            </a:r>
            <a:endParaRPr lang="en-US" sz="1000" dirty="0"/>
          </a:p>
        </p:txBody>
      </p:sp>
      <p:sp>
        <p:nvSpPr>
          <p:cNvPr id="26" name="Shape 24"/>
          <p:cNvSpPr/>
          <p:nvPr/>
        </p:nvSpPr>
        <p:spPr>
          <a:xfrm>
            <a:off x="457200" y="4142232"/>
            <a:ext cx="8229600" cy="548640"/>
          </a:xfrm>
          <a:prstGeom prst="rect">
            <a:avLst/>
          </a:prstGeom>
          <a:solidFill>
            <a:srgbClr val="F8FAFC"/>
          </a:solidFill>
          <a:ln w="6350">
            <a:solidFill>
              <a:srgbClr val="CBD5E1"/>
            </a:solidFill>
            <a:prstDash val="solid"/>
          </a:ln>
        </p:spPr>
      </p:sp>
      <p:sp>
        <p:nvSpPr>
          <p:cNvPr id="27" name="Text 25"/>
          <p:cNvSpPr/>
          <p:nvPr/>
        </p:nvSpPr>
        <p:spPr>
          <a:xfrm>
            <a:off x="548640" y="4142232"/>
            <a:ext cx="1920240" cy="548640"/>
          </a:xfrm>
          <a:prstGeom prst="rect">
            <a:avLst/>
          </a:prstGeom>
          <a:noFill/>
          <a:ln/>
        </p:spPr>
        <p:txBody>
          <a:bodyPr wrap="square" rtlCol="0" anchor="ctr"/>
          <a:lstStyle/>
          <a:p>
            <a:pPr indent="0" marL="0">
              <a:buNone/>
            </a:pPr>
            <a:r>
              <a:rPr lang="en-US" sz="1100" b="1" dirty="0">
                <a:solidFill>
                  <a:srgbClr val="0E5C7A"/>
                </a:solidFill>
                <a:latin typeface="Calibri" pitchFamily="34" charset="0"/>
                <a:ea typeface="Calibri" pitchFamily="34" charset="-122"/>
                <a:cs typeface="Calibri" pitchFamily="34" charset="-120"/>
              </a:rPr>
              <a:t>Client Field Mapping</a:t>
            </a:r>
            <a:endParaRPr lang="en-US" sz="1100" dirty="0"/>
          </a:p>
        </p:txBody>
      </p:sp>
      <p:sp>
        <p:nvSpPr>
          <p:cNvPr id="28" name="Text 26"/>
          <p:cNvSpPr/>
          <p:nvPr/>
        </p:nvSpPr>
        <p:spPr>
          <a:xfrm>
            <a:off x="2560320" y="4142232"/>
            <a:ext cx="3474720" cy="54864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Maps stream field to IFM data model field</a:t>
            </a:r>
            <a:endParaRPr lang="en-US" sz="1100" dirty="0"/>
          </a:p>
        </p:txBody>
      </p:sp>
      <p:sp>
        <p:nvSpPr>
          <p:cNvPr id="29" name="Text 27"/>
          <p:cNvSpPr/>
          <p:nvPr/>
        </p:nvSpPr>
        <p:spPr>
          <a:xfrm>
            <a:off x="6217920" y="4142232"/>
            <a:ext cx="2286000" cy="54864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Based on data type compatibility</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Detection Process Tab</a:t>
            </a:r>
            <a:endParaRPr lang="en-US" sz="2200" dirty="0"/>
          </a:p>
        </p:txBody>
      </p:sp>
      <p:sp>
        <p:nvSpPr>
          <p:cNvPr id="5" name="Text 3"/>
          <p:cNvSpPr/>
          <p:nvPr/>
        </p:nvSpPr>
        <p:spPr>
          <a:xfrm>
            <a:off x="457200" y="1005840"/>
            <a:ext cx="82296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Similarly, click the Add item (+) icon to specify the required detection process for the data stream.</a:t>
            </a:r>
            <a:endParaRPr lang="en-US" sz="1400" dirty="0"/>
          </a:p>
        </p:txBody>
      </p:sp>
      <p:sp>
        <p:nvSpPr>
          <p:cNvPr id="6" name="Shape 4"/>
          <p:cNvSpPr/>
          <p:nvPr/>
        </p:nvSpPr>
        <p:spPr>
          <a:xfrm>
            <a:off x="457200" y="1600200"/>
            <a:ext cx="8229600" cy="1097280"/>
          </a:xfrm>
          <a:prstGeom prst="rect">
            <a:avLst/>
          </a:prstGeom>
          <a:solidFill>
            <a:srgbClr val="1B7FA6">
              <a:alpha val="12000"/>
            </a:srgbClr>
          </a:solidFill>
          <a:ln w="19050">
            <a:solidFill>
              <a:srgbClr val="1B7FA6"/>
            </a:solidFill>
            <a:prstDash val="solid"/>
          </a:ln>
        </p:spPr>
      </p:sp>
      <p:sp>
        <p:nvSpPr>
          <p:cNvPr id="7" name="Shape 5"/>
          <p:cNvSpPr/>
          <p:nvPr/>
        </p:nvSpPr>
        <p:spPr>
          <a:xfrm>
            <a:off x="457200" y="1600200"/>
            <a:ext cx="64008" cy="1097280"/>
          </a:xfrm>
          <a:prstGeom prst="rect">
            <a:avLst/>
          </a:prstGeom>
          <a:solidFill>
            <a:srgbClr val="02C39A"/>
          </a:solidFill>
          <a:ln w="12700">
            <a:solidFill>
              <a:srgbClr val="02C39A"/>
            </a:solidFill>
            <a:prstDash val="solid"/>
          </a:ln>
        </p:spPr>
      </p:sp>
      <p:sp>
        <p:nvSpPr>
          <p:cNvPr id="8" name="Text 6"/>
          <p:cNvSpPr/>
          <p:nvPr/>
        </p:nvSpPr>
        <p:spPr>
          <a:xfrm>
            <a:off x="640080" y="1645920"/>
            <a:ext cx="1828800" cy="320040"/>
          </a:xfrm>
          <a:prstGeom prst="rect">
            <a:avLst/>
          </a:prstGeom>
          <a:noFill/>
          <a:ln/>
        </p:spPr>
        <p:txBody>
          <a:bodyPr wrap="square" lIns="0" tIns="0" rIns="0" bIns="0" rtlCol="0" anchor="ctr"/>
          <a:lstStyle/>
          <a:p>
            <a:pPr indent="0" marL="0">
              <a:buNone/>
            </a:pPr>
            <a:r>
              <a:rPr lang="en-US" sz="1200" b="1" dirty="0">
                <a:solidFill>
                  <a:srgbClr val="0E5C7A"/>
                </a:solidFill>
                <a:latin typeface="Calibri" pitchFamily="34" charset="0"/>
                <a:ea typeface="Calibri" pitchFamily="34" charset="-122"/>
                <a:cs typeface="Calibri" pitchFamily="34" charset="-120"/>
              </a:rPr>
              <a:t>Result</a:t>
            </a:r>
            <a:endParaRPr lang="en-US" sz="1200" dirty="0"/>
          </a:p>
        </p:txBody>
      </p:sp>
      <p:sp>
        <p:nvSpPr>
          <p:cNvPr id="9" name="Text 7"/>
          <p:cNvSpPr/>
          <p:nvPr/>
        </p:nvSpPr>
        <p:spPr>
          <a:xfrm>
            <a:off x="640080" y="1965960"/>
            <a:ext cx="7863840" cy="594360"/>
          </a:xfrm>
          <a:prstGeom prst="rect">
            <a:avLst/>
          </a:prstGeom>
          <a:noFill/>
          <a:ln/>
        </p:spPr>
        <p:txBody>
          <a:bodyPr wrap="square" lIns="0" tIns="0" rIns="0" bIns="0" rtlCol="0" anchor="ctr"/>
          <a:lstStyle/>
          <a:p>
            <a:pPr indent="0" marL="0">
              <a:buNone/>
            </a:pPr>
            <a:r>
              <a:rPr lang="en-US" sz="1300" dirty="0">
                <a:solidFill>
                  <a:srgbClr val="0D1B2A"/>
                </a:solidFill>
                <a:latin typeface="Calibri" pitchFamily="34" charset="0"/>
                <a:ea typeface="Calibri" pitchFamily="34" charset="-122"/>
                <a:cs typeface="Calibri" pitchFamily="34" charset="-120"/>
              </a:rPr>
              <a:t>Once a data stream is configured, its fields are displayed in Policy Manager rules, profile and rule contexts — in the same way as out-of-the-box DFM fields.</a:t>
            </a:r>
            <a:endParaRPr lang="en-US" sz="1300" dirty="0"/>
          </a:p>
        </p:txBody>
      </p:sp>
      <p:sp>
        <p:nvSpPr>
          <p:cNvPr id="10" name="Shape 8"/>
          <p:cNvSpPr/>
          <p:nvPr/>
        </p:nvSpPr>
        <p:spPr>
          <a:xfrm>
            <a:off x="365760" y="2926080"/>
            <a:ext cx="1920240" cy="640080"/>
          </a:xfrm>
          <a:prstGeom prst="rect">
            <a:avLst/>
          </a:prstGeom>
          <a:solidFill>
            <a:srgbClr val="0D1B2A"/>
          </a:solidFill>
          <a:ln w="12700">
            <a:solidFill>
              <a:srgbClr val="0D1B2A"/>
            </a:solidFill>
            <a:prstDash val="solid"/>
          </a:ln>
        </p:spPr>
      </p:sp>
      <p:sp>
        <p:nvSpPr>
          <p:cNvPr id="11" name="Text 9"/>
          <p:cNvSpPr/>
          <p:nvPr/>
        </p:nvSpPr>
        <p:spPr>
          <a:xfrm>
            <a:off x="36576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Stream Configured</a:t>
            </a:r>
            <a:endParaRPr lang="en-US" sz="1000" dirty="0"/>
          </a:p>
        </p:txBody>
      </p:sp>
      <p:sp>
        <p:nvSpPr>
          <p:cNvPr id="12" name="Text 10"/>
          <p:cNvSpPr/>
          <p:nvPr/>
        </p:nvSpPr>
        <p:spPr>
          <a:xfrm>
            <a:off x="2286000" y="2926080"/>
            <a:ext cx="228600" cy="640080"/>
          </a:xfrm>
          <a:prstGeom prst="rect">
            <a:avLst/>
          </a:prstGeom>
          <a:noFill/>
          <a:ln/>
        </p:spPr>
        <p:txBody>
          <a:bodyPr wrap="square" lIns="0" tIns="0" rIns="0" bIns="0" rtlCol="0" anchor="ctr"/>
          <a:lstStyle/>
          <a:p>
            <a:pPr algn="ctr" indent="0" marL="0">
              <a:buNone/>
            </a:pPr>
            <a:r>
              <a:rPr lang="en-US" sz="1600" dirty="0">
                <a:solidFill>
                  <a:srgbClr val="1B7FA6"/>
                </a:solidFill>
              </a:rPr>
              <a:t>→</a:t>
            </a:r>
            <a:endParaRPr lang="en-US" sz="1600" dirty="0"/>
          </a:p>
        </p:txBody>
      </p:sp>
      <p:sp>
        <p:nvSpPr>
          <p:cNvPr id="13" name="Shape 11"/>
          <p:cNvSpPr/>
          <p:nvPr/>
        </p:nvSpPr>
        <p:spPr>
          <a:xfrm>
            <a:off x="2514600" y="2926080"/>
            <a:ext cx="1920240" cy="640080"/>
          </a:xfrm>
          <a:prstGeom prst="rect">
            <a:avLst/>
          </a:prstGeom>
          <a:solidFill>
            <a:srgbClr val="0D1B2A"/>
          </a:solidFill>
          <a:ln w="12700">
            <a:solidFill>
              <a:srgbClr val="0D1B2A"/>
            </a:solidFill>
            <a:prstDash val="solid"/>
          </a:ln>
        </p:spPr>
      </p:sp>
      <p:sp>
        <p:nvSpPr>
          <p:cNvPr id="14" name="Text 12"/>
          <p:cNvSpPr/>
          <p:nvPr/>
        </p:nvSpPr>
        <p:spPr>
          <a:xfrm>
            <a:off x="251460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Fields Registered</a:t>
            </a:r>
            <a:endParaRPr lang="en-US" sz="1000" dirty="0"/>
          </a:p>
        </p:txBody>
      </p:sp>
      <p:sp>
        <p:nvSpPr>
          <p:cNvPr id="15" name="Text 13"/>
          <p:cNvSpPr/>
          <p:nvPr/>
        </p:nvSpPr>
        <p:spPr>
          <a:xfrm>
            <a:off x="4434840" y="2926080"/>
            <a:ext cx="228600" cy="640080"/>
          </a:xfrm>
          <a:prstGeom prst="rect">
            <a:avLst/>
          </a:prstGeom>
          <a:noFill/>
          <a:ln/>
        </p:spPr>
        <p:txBody>
          <a:bodyPr wrap="square" lIns="0" tIns="0" rIns="0" bIns="0" rtlCol="0" anchor="ctr"/>
          <a:lstStyle/>
          <a:p>
            <a:pPr algn="ctr" indent="0" marL="0">
              <a:buNone/>
            </a:pPr>
            <a:r>
              <a:rPr lang="en-US" sz="1600" dirty="0">
                <a:solidFill>
                  <a:srgbClr val="1B7FA6"/>
                </a:solidFill>
              </a:rPr>
              <a:t>→</a:t>
            </a:r>
            <a:endParaRPr lang="en-US" sz="1600" dirty="0"/>
          </a:p>
        </p:txBody>
      </p:sp>
      <p:sp>
        <p:nvSpPr>
          <p:cNvPr id="16" name="Shape 14"/>
          <p:cNvSpPr/>
          <p:nvPr/>
        </p:nvSpPr>
        <p:spPr>
          <a:xfrm>
            <a:off x="4663440" y="2926080"/>
            <a:ext cx="1920240" cy="640080"/>
          </a:xfrm>
          <a:prstGeom prst="rect">
            <a:avLst/>
          </a:prstGeom>
          <a:solidFill>
            <a:srgbClr val="0D1B2A"/>
          </a:solidFill>
          <a:ln w="12700">
            <a:solidFill>
              <a:srgbClr val="0D1B2A"/>
            </a:solidFill>
            <a:prstDash val="solid"/>
          </a:ln>
        </p:spPr>
      </p:sp>
      <p:sp>
        <p:nvSpPr>
          <p:cNvPr id="17" name="Text 15"/>
          <p:cNvSpPr/>
          <p:nvPr/>
        </p:nvSpPr>
        <p:spPr>
          <a:xfrm>
            <a:off x="466344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Available in Policy Manager</a:t>
            </a:r>
            <a:endParaRPr lang="en-US" sz="1000" dirty="0"/>
          </a:p>
        </p:txBody>
      </p:sp>
      <p:sp>
        <p:nvSpPr>
          <p:cNvPr id="18" name="Text 16"/>
          <p:cNvSpPr/>
          <p:nvPr/>
        </p:nvSpPr>
        <p:spPr>
          <a:xfrm>
            <a:off x="6583680" y="2926080"/>
            <a:ext cx="228600" cy="640080"/>
          </a:xfrm>
          <a:prstGeom prst="rect">
            <a:avLst/>
          </a:prstGeom>
          <a:noFill/>
          <a:ln/>
        </p:spPr>
        <p:txBody>
          <a:bodyPr wrap="square" lIns="0" tIns="0" rIns="0" bIns="0" rtlCol="0" anchor="ctr"/>
          <a:lstStyle/>
          <a:p>
            <a:pPr algn="ctr" indent="0" marL="0">
              <a:buNone/>
            </a:pPr>
            <a:r>
              <a:rPr lang="en-US" sz="1600" dirty="0">
                <a:solidFill>
                  <a:srgbClr val="1B7FA6"/>
                </a:solidFill>
              </a:rPr>
              <a:t>→</a:t>
            </a:r>
            <a:endParaRPr lang="en-US" sz="1600" dirty="0"/>
          </a:p>
        </p:txBody>
      </p:sp>
      <p:sp>
        <p:nvSpPr>
          <p:cNvPr id="19" name="Shape 17"/>
          <p:cNvSpPr/>
          <p:nvPr/>
        </p:nvSpPr>
        <p:spPr>
          <a:xfrm>
            <a:off x="6812280" y="2926080"/>
            <a:ext cx="1920240" cy="640080"/>
          </a:xfrm>
          <a:prstGeom prst="rect">
            <a:avLst/>
          </a:prstGeom>
          <a:solidFill>
            <a:srgbClr val="0D1B2A"/>
          </a:solidFill>
          <a:ln w="12700">
            <a:solidFill>
              <a:srgbClr val="0D1B2A"/>
            </a:solidFill>
            <a:prstDash val="solid"/>
          </a:ln>
        </p:spPr>
      </p:sp>
      <p:sp>
        <p:nvSpPr>
          <p:cNvPr id="20" name="Text 18"/>
          <p:cNvSpPr/>
          <p:nvPr/>
        </p:nvSpPr>
        <p:spPr>
          <a:xfrm>
            <a:off x="6812280" y="2926080"/>
            <a:ext cx="1920240" cy="640080"/>
          </a:xfrm>
          <a:prstGeom prst="rect">
            <a:avLst/>
          </a:prstGeom>
          <a:noFill/>
          <a:ln/>
        </p:spPr>
        <p:txBody>
          <a:bodyPr wrap="square" lIns="50800" tIns="50800" rIns="50800" bIns="508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Use in Rules &amp; Profiles</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5943600" y="731520"/>
            <a:ext cx="4114800" cy="4114800"/>
          </a:xfrm>
          <a:prstGeom prst="ellipse">
            <a:avLst/>
          </a:prstGeom>
          <a:solidFill>
            <a:srgbClr val="1B7FA6">
              <a:alpha val="18000"/>
            </a:srgbClr>
          </a:solidFill>
          <a:ln w="12700">
            <a:solidFill>
              <a:srgbClr val="1B7FA6">
                <a:alpha val="25000"/>
              </a:srgbClr>
            </a:solidFill>
            <a:prstDash val="solid"/>
          </a:ln>
        </p:spPr>
      </p:sp>
      <p:sp>
        <p:nvSpPr>
          <p:cNvPr id="4" name="Shape 2"/>
          <p:cNvSpPr/>
          <p:nvPr/>
        </p:nvSpPr>
        <p:spPr>
          <a:xfrm>
            <a:off x="6858000" y="1371600"/>
            <a:ext cx="2743200" cy="2743200"/>
          </a:xfrm>
          <a:prstGeom prst="ellipse">
            <a:avLst/>
          </a:prstGeom>
          <a:solidFill>
            <a:srgbClr val="02C39A">
              <a:alpha val="12000"/>
            </a:srgbClr>
          </a:solidFill>
          <a:ln w="12700">
            <a:solidFill>
              <a:srgbClr val="02C39A">
                <a:alpha val="20000"/>
              </a:srgbClr>
            </a:solidFill>
            <a:prstDash val="solid"/>
          </a:ln>
        </p:spPr>
      </p:sp>
      <p:sp>
        <p:nvSpPr>
          <p:cNvPr id="5" name="Text 3"/>
          <p:cNvSpPr/>
          <p:nvPr/>
        </p:nvSpPr>
        <p:spPr>
          <a:xfrm>
            <a:off x="548640" y="1280160"/>
            <a:ext cx="54864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240280"/>
            <a:ext cx="1371600" cy="54864"/>
          </a:xfrm>
          <a:prstGeom prst="rect">
            <a:avLst/>
          </a:prstGeom>
          <a:solidFill>
            <a:srgbClr val="02C39A"/>
          </a:solidFill>
          <a:ln w="12700">
            <a:solidFill>
              <a:srgbClr val="02C39A"/>
            </a:solidFill>
            <a:prstDash val="solid"/>
          </a:ln>
        </p:spPr>
      </p:sp>
      <p:sp>
        <p:nvSpPr>
          <p:cNvPr id="7" name="Text 5"/>
          <p:cNvSpPr/>
          <p:nvPr/>
        </p:nvSpPr>
        <p:spPr>
          <a:xfrm>
            <a:off x="548640" y="2423160"/>
            <a:ext cx="5943600" cy="73152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For more information, visit our</a:t>
            </a:r>
            <a:endParaRPr lang="en-US" sz="1600" dirty="0"/>
          </a:p>
          <a:p>
            <a:pPr indent="0" marL="0">
              <a:buNone/>
            </a:pPr>
            <a:r>
              <a:rPr lang="en-US" sz="1600" dirty="0">
                <a:solidFill>
                  <a:srgbClr val="CBD5E1"/>
                </a:solidFill>
                <a:latin typeface="Calibri" pitchFamily="34" charset="0"/>
                <a:ea typeface="Calibri" pitchFamily="34" charset="-122"/>
                <a:cs typeface="Calibri" pitchFamily="34" charset="-120"/>
              </a:rPr>
              <a:t>Documentation Center.</a:t>
            </a:r>
            <a:endParaRPr lang="en-US" sz="1600" dirty="0"/>
          </a:p>
        </p:txBody>
      </p:sp>
      <p:sp>
        <p:nvSpPr>
          <p:cNvPr id="8" name="Text 6"/>
          <p:cNvSpPr/>
          <p:nvPr/>
        </p:nvSpPr>
        <p:spPr>
          <a:xfrm>
            <a:off x="548640" y="3383280"/>
            <a:ext cx="5486400" cy="8229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StreamGuard Analytics Platform</a:t>
            </a:r>
            <a:endParaRPr lang="en-US" sz="1300" dirty="0"/>
          </a:p>
          <a:p>
            <a:pPr indent="0" marL="0">
              <a:buNone/>
            </a:pPr>
            <a:r>
              <a:rPr lang="en-US" sz="1300" i="1" dirty="0">
                <a:solidFill>
                  <a:srgbClr val="64748B"/>
                </a:solidFill>
                <a:latin typeface="Calibri" pitchFamily="34" charset="0"/>
                <a:ea typeface="Calibri" pitchFamily="34" charset="-122"/>
                <a:cs typeface="Calibri" pitchFamily="34" charset="-120"/>
              </a:rPr>
              <a:t>Video Documentation Series</a:t>
            </a:r>
            <a:endParaRPr lang="en-US" sz="1300" dirty="0"/>
          </a:p>
        </p:txBody>
      </p:sp>
      <p:sp>
        <p:nvSpPr>
          <p:cNvPr id="9" name="Shape 7"/>
          <p:cNvSpPr/>
          <p:nvPr/>
        </p:nvSpPr>
        <p:spPr>
          <a:xfrm>
            <a:off x="0" y="4754880"/>
            <a:ext cx="9144000" cy="384048"/>
          </a:xfrm>
          <a:prstGeom prst="rect">
            <a:avLst/>
          </a:prstGeom>
          <a:solidFill>
            <a:srgbClr val="0E5C7A"/>
          </a:solidFill>
          <a:ln w="12700">
            <a:solidFill>
              <a:srgbClr val="0E5C7A"/>
            </a:solidFill>
            <a:prstDash val="solid"/>
          </a:ln>
        </p:spPr>
      </p:sp>
      <p:sp>
        <p:nvSpPr>
          <p:cNvPr id="10" name="Text 8"/>
          <p:cNvSpPr/>
          <p:nvPr/>
        </p:nvSpPr>
        <p:spPr>
          <a:xfrm>
            <a:off x="274320" y="4773168"/>
            <a:ext cx="8595360" cy="347472"/>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DFM-X Data Stream Integration</dc:title>
  <dc:subject>PptxGenJS Presentation</dc:subject>
  <dc:creator>Documentation Team</dc:creator>
  <cp:lastModifiedBy>Documentation Team</cp:lastModifiedBy>
  <cp:revision>1</cp:revision>
  <dcterms:created xsi:type="dcterms:W3CDTF">2026-02-25T09:23:26Z</dcterms:created>
  <dcterms:modified xsi:type="dcterms:W3CDTF">2026-02-25T09:23:26Z</dcterms:modified>
</cp:coreProperties>
</file>