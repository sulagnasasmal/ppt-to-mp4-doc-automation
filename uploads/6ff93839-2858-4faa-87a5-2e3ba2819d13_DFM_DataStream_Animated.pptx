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and welcome to this Data Stream Integration Documentation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video covers: how Data Stream Integration works and the required configurations.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DFM enables customers to map semi-structured data stream fields to master feed client fields. The mapped fields can later be used when defining Policy Manager rules, Profiles and Rule components using Platform Lists.
In order to do that, the data streams must be configured either in the Platform Lists or in the SG_dataStreamClientFieldMapping.ini file available in the App Server instance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of the SG_dataStreamClientFieldMapping.ini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list in AdminOne or SG_dataStreamClientFieldMapping.ini file — that depends on the value set for SG_enableDataStreamClientFieldIniFileMapping parameter.
If FALSE then mapping fields are read from the AdminOne interface.
The SG_enableDataStreamIntegration parameter must be set TRUE to enable the Data Stream Integration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deep dive into the platform lists in AdminOne user interface.
Data Integration Manager, Data Elements, and Detection Process platform lists enable you to configure data streams.
The Data Integration Manager wizard allows you to configure the data stream and the fields flowing through it.
Data Elements and Detection Process platform lists are nested within the Data Integration Manager. These lists can be updated independently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how to Configure Platform Lists for Data Streams.
Once you log on to AdminOne, go to the Settings tab and select Platform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Platform List Items, select Data Integration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new item icon to add a new platform list.
It opens the New Platform List Item wizard.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Data Stream Identifier field, select a data stream field from the existing data streams. This field is mandatory and should be unique.
In the Data Stream Name field, specify the business name to be displayed for the data stream. The value must be unique with maximum length of 50 characters.
In the Description field, specify additional information related to the data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define a data stream, click the arrow icon in the first column to configure fields further for the data streams. The Data Elements and Detection Process tabs are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Data Elements tab, click the Add item to list Data Elements (+) icon to specify various information like Key Identifier (the key in JSON string), Business Name displayed on Policy Manager and Analytics Authoring Environment, data type and Scrambling method when the data is persisted into DataLakes.
Based on the new Data Stream field's data type, you can map a Data Stream field with a relevant Client field in the DFM data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Similarly, in the Data Elements tab, click the Add item to list Data Elements (+) icon and specify the required detection process for the data stream.
Once a data stream is configured, its fields are displayed in policy manager rules, profile and rule contexts in the same way as out-of-the-box DFM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For more information, visit our Documentation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6858000" y="457200"/>
            <a:ext cx="3200400" cy="3200400"/>
          </a:xfrm>
          <a:prstGeom prst="ellipse">
            <a:avLst/>
          </a:prstGeom>
          <a:solidFill>
            <a:srgbClr val="1B7FA6">
              <a:alpha val="20000"/>
            </a:srgbClr>
          </a:solidFill>
          <a:ln w="12700">
            <a:solidFill>
              <a:srgbClr val="1B7FA6">
                <a:alpha val="40000"/>
              </a:srgbClr>
            </a:solidFill>
            <a:prstDash val="solid"/>
          </a:ln>
        </p:spPr>
      </p:sp>
      <p:sp>
        <p:nvSpPr>
          <p:cNvPr id="4" name="Shape 2"/>
          <p:cNvSpPr/>
          <p:nvPr/>
        </p:nvSpPr>
        <p:spPr>
          <a:xfrm>
            <a:off x="7315200" y="822960"/>
            <a:ext cx="2286000" cy="2286000"/>
          </a:xfrm>
          <a:prstGeom prst="ellipse">
            <a:avLst/>
          </a:prstGeom>
          <a:solidFill>
            <a:srgbClr val="02C39A">
              <a:alpha val="15000"/>
            </a:srgbClr>
          </a:solidFill>
          <a:ln w="12700">
            <a:solidFill>
              <a:srgbClr val="02C39A">
                <a:alpha val="30000"/>
              </a:srgbClr>
            </a:solidFill>
            <a:prstDash val="solid"/>
          </a:ln>
        </p:spPr>
      </p:sp>
      <p:sp>
        <p:nvSpPr>
          <p:cNvPr id="5" name="Text 3"/>
          <p:cNvSpPr/>
          <p:nvPr/>
        </p:nvSpPr>
        <p:spPr>
          <a:xfrm>
            <a:off x="548640" y="914400"/>
            <a:ext cx="5486400" cy="731520"/>
          </a:xfrm>
          <a:prstGeom prst="rect">
            <a:avLst/>
          </a:prstGeom>
          <a:noFill/>
          <a:ln/>
        </p:spPr>
        <p:txBody>
          <a:bodyPr wrap="square" lIns="0" tIns="0" rIns="0" bIns="0" rtlCol="0" anchor="ctr"/>
          <a:lstStyle/>
          <a:p>
            <a:pPr indent="0" marL="0">
              <a:buNone/>
            </a:pPr>
            <a:r>
              <a:rPr lang="en-US" sz="4400" b="1" dirty="0">
                <a:solidFill>
                  <a:srgbClr val="02C39A"/>
                </a:solidFill>
                <a:latin typeface="Calibri" pitchFamily="34" charset="0"/>
                <a:ea typeface="Calibri" pitchFamily="34" charset="-122"/>
                <a:cs typeface="Calibri" pitchFamily="34" charset="-120"/>
              </a:rPr>
              <a:t>DFM-X</a:t>
            </a:r>
            <a:endParaRPr lang="en-US" sz="4400" dirty="0"/>
          </a:p>
        </p:txBody>
      </p:sp>
      <p:sp>
        <p:nvSpPr>
          <p:cNvPr id="6" name="Text 4"/>
          <p:cNvSpPr/>
          <p:nvPr/>
        </p:nvSpPr>
        <p:spPr>
          <a:xfrm>
            <a:off x="548640" y="1600200"/>
            <a:ext cx="6400800" cy="640080"/>
          </a:xfrm>
          <a:prstGeom prst="rect">
            <a:avLst/>
          </a:prstGeom>
          <a:noFill/>
          <a:ln/>
        </p:spPr>
        <p:txBody>
          <a:bodyPr wrap="square" lIns="0" tIns="0" rIns="0" bIns="0" rtlCol="0" anchor="ctr"/>
          <a:lstStyle/>
          <a:p>
            <a:pPr indent="0" marL="0">
              <a:buNone/>
            </a:pPr>
            <a:r>
              <a:rPr lang="en-US" sz="2800" dirty="0">
                <a:solidFill>
                  <a:srgbClr val="FFFFFF"/>
                </a:solidFill>
                <a:latin typeface="Calibri" pitchFamily="34" charset="0"/>
                <a:ea typeface="Calibri" pitchFamily="34" charset="-122"/>
                <a:cs typeface="Calibri" pitchFamily="34" charset="-120"/>
              </a:rPr>
              <a:t>Data Stream Integration</a:t>
            </a:r>
            <a:endParaRPr lang="en-US" sz="2800" dirty="0"/>
          </a:p>
        </p:txBody>
      </p:sp>
      <p:sp>
        <p:nvSpPr>
          <p:cNvPr id="7" name="Text 5"/>
          <p:cNvSpPr/>
          <p:nvPr/>
        </p:nvSpPr>
        <p:spPr>
          <a:xfrm>
            <a:off x="548640" y="2331720"/>
            <a:ext cx="6858000" cy="82296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Understanding integration of semi-structured data streams</a:t>
            </a:r>
            <a:endParaRPr lang="en-US" sz="1400" dirty="0"/>
          </a:p>
          <a:p>
            <a:pPr indent="0" marL="0">
              <a:buNone/>
            </a:pPr>
            <a:r>
              <a:rPr lang="en-US" sz="1400" dirty="0">
                <a:solidFill>
                  <a:srgbClr val="CBD5E1"/>
                </a:solidFill>
                <a:latin typeface="Calibri" pitchFamily="34" charset="0"/>
                <a:ea typeface="Calibri" pitchFamily="34" charset="-122"/>
                <a:cs typeface="Calibri" pitchFamily="34" charset="-120"/>
              </a:rPr>
              <a:t>in the Data Flow Management (DFM) Component</a:t>
            </a:r>
            <a:endParaRPr lang="en-US" sz="1400" dirty="0"/>
          </a:p>
        </p:txBody>
      </p:sp>
      <p:sp>
        <p:nvSpPr>
          <p:cNvPr id="8" name="Shape 6"/>
          <p:cNvSpPr/>
          <p:nvPr/>
        </p:nvSpPr>
        <p:spPr>
          <a:xfrm>
            <a:off x="0" y="4754880"/>
            <a:ext cx="9144000" cy="384048"/>
          </a:xfrm>
          <a:prstGeom prst="rect">
            <a:avLst/>
          </a:prstGeom>
          <a:solidFill>
            <a:srgbClr val="0E5C7A"/>
          </a:solidFill>
          <a:ln w="12700">
            <a:solidFill>
              <a:srgbClr val="0E5C7A"/>
            </a:solidFill>
            <a:prstDash val="solid"/>
          </a:ln>
        </p:spPr>
      </p:sp>
      <p:sp>
        <p:nvSpPr>
          <p:cNvPr id="9" name="Text 7"/>
          <p:cNvSpPr/>
          <p:nvPr/>
        </p:nvSpPr>
        <p:spPr>
          <a:xfrm>
            <a:off x="274320" y="4773168"/>
            <a:ext cx="8595360" cy="347472"/>
          </a:xfrm>
          <a:prstGeom prst="rect">
            <a:avLst/>
          </a:prstGeom>
          <a:noFill/>
          <a:ln/>
        </p:spPr>
        <p:txBody>
          <a:bodyPr wrap="square"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StreamGuard Analytics Platform  |  Video Documentation Series</a:t>
            </a:r>
            <a:endParaRPr lang="en-US" sz="1100" dirty="0"/>
          </a:p>
        </p:txBody>
      </p:sp>
    </p:spTree>
  </p:cSld>
  <p:clrMapOvr>
    <a:masterClrMapping/>
  </p:clrMapOvr>
  <p:transition spd="med" advClick="1" advTm="0">
    <p:fade/>
  </p:transition>
  <p:timing>
    <p:tnLst>
      <p:par>
        <p:cTn id="1000" dur="indefin" restart="whenNotActive" nodeType="tmRoot">
          <p:childTnLst>
            <p:par>
              <p:cTn id="1001" fill="hold" nodeType="mainSeq">
                <p:stCondLst>
                  <p:cond delay="indefin"/>
                </p:stCondLst>
                <p:childTnLst>
                  <p:par>
                    <p:cTn id="1002" fill="hold">
                      <p:stCondLst>
                        <p:cond delay="0"/>
                      </p:stCondLst>
                      <p:childTnLst>
                        <p:par>
                          <p:cTn id="201" grpId="0" nodeType="withPrev">
                            <p:stCondLst>
                              <p:cond delay="0"/>
                            </p:stCondLst>
                            <p:childTnLst>
                              <p:set>
                                <p:cBhvr>
                                  <p:cTn id="202" dur="1" fill="hold"/>
                                  <p:tgtEl>
                                    <p:spTgt spid="2"/>
                                  </p:tgtEl>
                                  <p:attrNameLst>
                                    <p:attrName>style.visibility</p:attrName>
                                  </p:attrNameLst>
                                </p:cBhvr>
                                <p:to>
                                  <p:strVal val="visible"/>
                                </p:to>
                              </p:set>
                              <p:animEffect transition="in" filter="fade">
                                <p:cBhvr>
                                  <p:cTn id="203" dur="500" fill="hold"/>
                                  <p:tgtEl>
                                    <p:spTgt spid="2"/>
                                  </p:tgtEl>
                                </p:cBhvr>
                              </p:animEffect>
                            </p:childTnLst>
                          </p:cTn>
                        </p:par>
                        <p:par>
                          <p:cTn id="301" grpId="0" nodeType="withPrev">
                            <p:stCondLst>
                              <p:cond delay="100"/>
                            </p:stCondLst>
                            <p:childTnLst>
                              <p:set>
                                <p:cBhvr>
                                  <p:cTn id="302" dur="1" fill="hold"/>
                                  <p:tgtEl>
                                    <p:spTgt spid="3"/>
                                  </p:tgtEl>
                                  <p:attrNameLst>
                                    <p:attrName>style.visibility</p:attrName>
                                  </p:attrNameLst>
                                </p:cBhvr>
                                <p:to>
                                  <p:strVal val="visible"/>
                                </p:to>
                              </p:set>
                              <p:animEffect transition="in" filter="fade">
                                <p:cBhvr>
                                  <p:cTn id="303" dur="500" fill="hold"/>
                                  <p:tgtEl>
                                    <p:spTgt spid="3"/>
                                  </p:tgtEl>
                                </p:cBhvr>
                              </p:animEffect>
                            </p:childTnLst>
                          </p:cTn>
                        </p:par>
                        <p:par>
                          <p:cTn id="401" grpId="0" nodeType="withPrev">
                            <p:stCondLst>
                              <p:cond delay="200"/>
                            </p:stCondLst>
                            <p:childTnLst>
                              <p:set>
                                <p:cBhvr>
                                  <p:cTn id="402" dur="1" fill="hold"/>
                                  <p:tgtEl>
                                    <p:spTgt spid="4"/>
                                  </p:tgtEl>
                                  <p:attrNameLst>
                                    <p:attrName>style.visibility</p:attrName>
                                  </p:attrNameLst>
                                </p:cBhvr>
                                <p:to>
                                  <p:strVal val="visible"/>
                                </p:to>
                              </p:set>
                              <p:animEffect transition="in" filter="fade">
                                <p:cBhvr>
                                  <p:cTn id="403" dur="500" fill="hold"/>
                                  <p:tgtEl>
                                    <p:spTgt spid="4"/>
                                  </p:tgtEl>
                                </p:cBhvr>
                              </p:animEffect>
                            </p:childTnLst>
                          </p:cTn>
                        </p:par>
                        <p:par>
                          <p:cTn id="501" grpId="0" nodeType="withPrev">
                            <p:stCondLst>
                              <p:cond delay="400"/>
                            </p:stCondLst>
                            <p:childTnLst>
                              <p:set>
                                <p:cBhvr>
                                  <p:cTn id="502" dur="1" fill="hold"/>
                                  <p:tgtEl>
                                    <p:spTgt spid="5"/>
                                  </p:tgtEl>
                                  <p:attrNameLst>
                                    <p:attrName>style.visibility</p:attrName>
                                  </p:attrNameLst>
                                </p:cBhvr>
                                <p:to>
                                  <p:strVal val="visible"/>
                                </p:to>
                              </p:set>
                              <p:animEffect transition="in" filter="wipe(up)">
                                <p:cBhvr>
                                  <p:cTn id="503" dur="400" fill="hold"/>
                                  <p:tgtEl>
                                    <p:spTgt spid="5"/>
                                  </p:tgtEl>
                                </p:cBhvr>
                              </p:animEffect>
                            </p:childTnLst>
                          </p:cTn>
                        </p:par>
                        <p:par>
                          <p:cTn id="601" grpId="0" nodeType="withPrev">
                            <p:stCondLst>
                              <p:cond delay="600"/>
                            </p:stCondLst>
                            <p:childTnLst>
                              <p:set>
                                <p:cBhvr>
                                  <p:cTn id="602" dur="1" fill="hold"/>
                                  <p:tgtEl>
                                    <p:spTgt spid="6"/>
                                  </p:tgtEl>
                                  <p:attrNameLst>
                                    <p:attrName>style.visibility</p:attrName>
                                  </p:attrNameLst>
                                </p:cBhvr>
                                <p:to>
                                  <p:strVal val="visible"/>
                                </p:to>
                              </p:set>
                              <p:animEffect transition="in" filter="wipe(up)">
                                <p:cBhvr>
                                  <p:cTn id="603" dur="400" fill="hold"/>
                                  <p:tgtEl>
                                    <p:spTgt spid="6"/>
                                  </p:tgtEl>
                                </p:cBhvr>
                              </p:animEffect>
                            </p:childTnLst>
                          </p:cTn>
                        </p:par>
                        <p:par>
                          <p:cTn id="701" grpId="0" nodeType="withPrev">
                            <p:stCondLst>
                              <p:cond delay="800"/>
                            </p:stCondLst>
                            <p:childTnLst>
                              <p:set>
                                <p:cBhvr>
                                  <p:cTn id="702" dur="1" fill="hold"/>
                                  <p:tgtEl>
                                    <p:spTgt spid="7"/>
                                  </p:tgtEl>
                                  <p:attrNameLst>
                                    <p:attrName>style.visibility</p:attrName>
                                  </p:attrNameLst>
                                </p:cBhvr>
                                <p:to>
                                  <p:strVal val="visible"/>
                                </p:to>
                              </p:set>
                              <p:animEffect transition="in" filter="fade">
                                <p:cBhvr>
                                  <p:cTn id="703" dur="500" fill="hold"/>
                                  <p:tgtEl>
                                    <p:spTgt spid="7"/>
                                  </p:tgtEl>
                                </p:cBhvr>
                              </p:animEffect>
                            </p:childTnLst>
                          </p:cTn>
                        </p:par>
                        <p:par>
                          <p:cTn id="801" grpId="0" nodeType="withPrev">
                            <p:stCondLst>
                              <p:cond delay="1000"/>
                            </p:stCondLst>
                            <p:childTnLst>
                              <p:set>
                                <p:cBhvr>
                                  <p:cTn id="802" dur="1" fill="hold"/>
                                  <p:tgtEl>
                                    <p:spTgt spid="8"/>
                                  </p:tgtEl>
                                  <p:attrNameLst>
                                    <p:attrName>style.visibility</p:attrName>
                                  </p:attrNameLst>
                                </p:cBhvr>
                                <p:to>
                                  <p:strVal val="visible"/>
                                </p:to>
                              </p:set>
                              <p:animEffect transition="in" filter="fade">
                                <p:cBhvr>
                                  <p:cTn id="803" dur="500" fill="hold"/>
                                  <p:tgtEl>
                                    <p:spTgt spid="8"/>
                                  </p:tgtEl>
                                </p:cBhvr>
                              </p:animEffect>
                            </p:childTnLst>
                          </p:cTn>
                        </p:par>
                        <p:par>
                          <p:cTn id="901" grpId="0" nodeType="withPrev">
                            <p:stCondLst>
                              <p:cond delay="1000"/>
                            </p:stCondLst>
                            <p:childTnLst>
                              <p:set>
                                <p:cBhvr>
                                  <p:cTn id="902" dur="1" fill="hold"/>
                                  <p:tgtEl>
                                    <p:spTgt spid="9"/>
                                  </p:tgtEl>
                                  <p:attrNameLst>
                                    <p:attrName>style.visibility</p:attrName>
                                  </p:attrNameLst>
                                </p:cBhvr>
                                <p:to>
                                  <p:strVal val="visible"/>
                                </p:to>
                              </p:set>
                              <p:animEffect transition="in" filter="fade">
                                <p:cBhvr>
                                  <p:cTn id="903" dur="500" fill="hold"/>
                                  <p:tgtEl>
                                    <p:spTgt spid="9"/>
                                  </p:tgtEl>
                                </p:cBhvr>
                              </p:animEffect>
                            </p:childTnLst>
                          </p:cTn>
                        </p:par>
                      </p:childTnLst>
                    </p:cTn>
                  </p:par>
                </p:childTnLst>
              </p:cTn>
            </p:par>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DFM-X Data Stream Integration</a:t>
            </a:r>
            <a:endParaRPr lang="en-US" sz="2200" dirty="0"/>
          </a:p>
        </p:txBody>
      </p:sp>
      <p:sp>
        <p:nvSpPr>
          <p:cNvPr id="5" name="Text 3"/>
          <p:cNvSpPr/>
          <p:nvPr/>
        </p:nvSpPr>
        <p:spPr>
          <a:xfrm>
            <a:off x="457200" y="1097280"/>
            <a:ext cx="8229600" cy="411480"/>
          </a:xfrm>
          <a:prstGeom prst="rect">
            <a:avLst/>
          </a:prstGeom>
          <a:noFill/>
          <a:ln/>
        </p:spPr>
        <p:txBody>
          <a:bodyPr wrap="square" lIns="0" tIns="0" rIns="0" bIns="0" rtlCol="0" anchor="ctr"/>
          <a:lstStyle/>
          <a:p>
            <a:pPr indent="0" marL="0">
              <a:buNone/>
            </a:pPr>
            <a:r>
              <a:rPr lang="en-US" sz="1800" b="1" dirty="0">
                <a:solidFill>
                  <a:srgbClr val="0E5C7A"/>
                </a:solidFill>
                <a:latin typeface="Calibri" pitchFamily="34" charset="0"/>
                <a:ea typeface="Calibri" pitchFamily="34" charset="-122"/>
                <a:cs typeface="Calibri" pitchFamily="34" charset="-120"/>
              </a:rPr>
              <a:t>In This Video</a:t>
            </a:r>
            <a:endParaRPr lang="en-US" sz="1800" dirty="0"/>
          </a:p>
        </p:txBody>
      </p:sp>
      <p:sp>
        <p:nvSpPr>
          <p:cNvPr id="6" name="Shape 4"/>
          <p:cNvSpPr/>
          <p:nvPr/>
        </p:nvSpPr>
        <p:spPr>
          <a:xfrm>
            <a:off x="457200" y="1645920"/>
            <a:ext cx="384048" cy="384048"/>
          </a:xfrm>
          <a:prstGeom prst="ellipse">
            <a:avLst/>
          </a:prstGeom>
          <a:solidFill>
            <a:srgbClr val="1B7FA6"/>
          </a:solidFill>
          <a:ln w="12700">
            <a:solidFill>
              <a:srgbClr val="1B7FA6"/>
            </a:solidFill>
            <a:prstDash val="solid"/>
          </a:ln>
        </p:spPr>
      </p:sp>
      <p:sp>
        <p:nvSpPr>
          <p:cNvPr id="7" name="Text 5"/>
          <p:cNvSpPr/>
          <p:nvPr/>
        </p:nvSpPr>
        <p:spPr>
          <a:xfrm>
            <a:off x="45720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05840" y="1664208"/>
            <a:ext cx="7315200" cy="347472"/>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How Data Stream Integration works</a:t>
            </a:r>
            <a:endParaRPr lang="en-US" sz="1400" dirty="0"/>
          </a:p>
        </p:txBody>
      </p:sp>
      <p:sp>
        <p:nvSpPr>
          <p:cNvPr id="9" name="Shape 7"/>
          <p:cNvSpPr/>
          <p:nvPr/>
        </p:nvSpPr>
        <p:spPr>
          <a:xfrm>
            <a:off x="457200" y="2258568"/>
            <a:ext cx="384048" cy="384048"/>
          </a:xfrm>
          <a:prstGeom prst="ellipse">
            <a:avLst/>
          </a:prstGeom>
          <a:solidFill>
            <a:srgbClr val="1B7FA6"/>
          </a:solidFill>
          <a:ln w="12700">
            <a:solidFill>
              <a:srgbClr val="1B7FA6"/>
            </a:solidFill>
            <a:prstDash val="solid"/>
          </a:ln>
        </p:spPr>
      </p:sp>
      <p:sp>
        <p:nvSpPr>
          <p:cNvPr id="10" name="Text 8"/>
          <p:cNvSpPr/>
          <p:nvPr/>
        </p:nvSpPr>
        <p:spPr>
          <a:xfrm>
            <a:off x="457200" y="2258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05840" y="2276856"/>
            <a:ext cx="7315200" cy="347472"/>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Required configurations</a:t>
            </a:r>
            <a:endParaRPr lang="en-US" sz="1400" dirty="0"/>
          </a:p>
        </p:txBody>
      </p:sp>
      <p:sp>
        <p:nvSpPr>
          <p:cNvPr id="12" name="Shape 10"/>
          <p:cNvSpPr/>
          <p:nvPr/>
        </p:nvSpPr>
        <p:spPr>
          <a:xfrm>
            <a:off x="457200" y="2871216"/>
            <a:ext cx="384048" cy="384048"/>
          </a:xfrm>
          <a:prstGeom prst="ellipse">
            <a:avLst/>
          </a:prstGeom>
          <a:solidFill>
            <a:srgbClr val="1B7FA6"/>
          </a:solidFill>
          <a:ln w="12700">
            <a:solidFill>
              <a:srgbClr val="1B7FA6"/>
            </a:solidFill>
            <a:prstDash val="solid"/>
          </a:ln>
        </p:spPr>
      </p:sp>
      <p:sp>
        <p:nvSpPr>
          <p:cNvPr id="13" name="Text 11"/>
          <p:cNvSpPr/>
          <p:nvPr/>
        </p:nvSpPr>
        <p:spPr>
          <a:xfrm>
            <a:off x="457200" y="28712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05840" y="2889504"/>
            <a:ext cx="7315200" cy="347472"/>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Platform List setup in AdminOne</a:t>
            </a:r>
            <a:endParaRPr lang="en-US" sz="1400" dirty="0"/>
          </a:p>
        </p:txBody>
      </p:sp>
      <p:sp>
        <p:nvSpPr>
          <p:cNvPr id="15" name="Shape 13"/>
          <p:cNvSpPr/>
          <p:nvPr/>
        </p:nvSpPr>
        <p:spPr>
          <a:xfrm>
            <a:off x="457200" y="3483864"/>
            <a:ext cx="384048" cy="384048"/>
          </a:xfrm>
          <a:prstGeom prst="ellipse">
            <a:avLst/>
          </a:prstGeom>
          <a:solidFill>
            <a:srgbClr val="1B7FA6"/>
          </a:solidFill>
          <a:ln w="12700">
            <a:solidFill>
              <a:srgbClr val="1B7FA6"/>
            </a:solidFill>
            <a:prstDash val="solid"/>
          </a:ln>
        </p:spPr>
      </p:sp>
      <p:sp>
        <p:nvSpPr>
          <p:cNvPr id="16" name="Text 14"/>
          <p:cNvSpPr/>
          <p:nvPr/>
        </p:nvSpPr>
        <p:spPr>
          <a:xfrm>
            <a:off x="457200" y="34838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005840" y="3502152"/>
            <a:ext cx="7315200" cy="347472"/>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Data Integration Manager walkthrough</a:t>
            </a:r>
            <a:endParaRPr lang="en-US" sz="1400" dirty="0"/>
          </a:p>
        </p:txBody>
      </p:sp>
      <p:sp>
        <p:nvSpPr>
          <p:cNvPr id="18" name="Shape 16"/>
          <p:cNvSpPr/>
          <p:nvPr/>
        </p:nvSpPr>
        <p:spPr>
          <a:xfrm>
            <a:off x="457200" y="4096512"/>
            <a:ext cx="384048" cy="384048"/>
          </a:xfrm>
          <a:prstGeom prst="ellipse">
            <a:avLst/>
          </a:prstGeom>
          <a:solidFill>
            <a:srgbClr val="1B7FA6"/>
          </a:solidFill>
          <a:ln w="12700">
            <a:solidFill>
              <a:srgbClr val="1B7FA6"/>
            </a:solidFill>
            <a:prstDash val="solid"/>
          </a:ln>
        </p:spPr>
      </p:sp>
      <p:sp>
        <p:nvSpPr>
          <p:cNvPr id="19" name="Text 17"/>
          <p:cNvSpPr/>
          <p:nvPr/>
        </p:nvSpPr>
        <p:spPr>
          <a:xfrm>
            <a:off x="457200" y="4096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005840" y="4114800"/>
            <a:ext cx="7315200" cy="347472"/>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Data Elements &amp; Detection Process tabs</a:t>
            </a:r>
            <a:endParaRPr lang="en-US" sz="1400" dirty="0"/>
          </a:p>
        </p:txBody>
      </p:sp>
    </p:spTree>
  </p:cSld>
  <p:clrMapOvr>
    <a:masterClrMapping/>
  </p:clrMapOvr>
  <p:transition spd="med" advClick="1" advTm="0">
    <p:fade/>
  </p:transition>
  <p:timing>
    <p:tnLst>
      <p:par>
        <p:cTn id="2000" dur="indefin" restart="whenNotActive" nodeType="tmRoot">
          <p:childTnLst>
            <p:par>
              <p:cTn id="2001" fill="hold" nodeType="mainSeq">
                <p:stCondLst>
                  <p:cond delay="indefin"/>
                </p:stCondLst>
                <p:childTnLst>
                  <p:par>
                    <p:cTn id="2002" fill="hold">
                      <p:stCondLst>
                        <p:cond delay="0"/>
                      </p:stCondLst>
                      <p:childTnLst>
                        <p:par>
                          <p:cTn id="201" grpId="0" nodeType="withPrev">
                            <p:stCondLst>
                              <p:cond delay="0"/>
                            </p:stCondLst>
                            <p:childTnLst>
                              <p:set>
                                <p:cBhvr>
                                  <p:cTn id="202" dur="1" fill="hold"/>
                                  <p:tgtEl>
                                    <p:spTgt spid="2"/>
                                  </p:tgtEl>
                                  <p:attrNameLst>
                                    <p:attrName>style.visibility</p:attrName>
                                  </p:attrNameLst>
                                </p:cBhvr>
                                <p:to>
                                  <p:strVal val="visible"/>
                                </p:to>
                              </p:set>
                              <p:animEffect transition="in" filter="fade">
                                <p:cBhvr>
                                  <p:cTn id="203" dur="500" fill="hold"/>
                                  <p:tgtEl>
                                    <p:spTgt spid="2"/>
                                  </p:tgtEl>
                                </p:cBhvr>
                              </p:animEffect>
                            </p:childTnLst>
                          </p:cTn>
                        </p:par>
                        <p:par>
                          <p:cTn id="301" grpId="0" nodeType="withPrev">
                            <p:stCondLst>
                              <p:cond delay="0"/>
                            </p:stCondLst>
                            <p:childTnLst>
                              <p:set>
                                <p:cBhvr>
                                  <p:cTn id="302" dur="1" fill="hold"/>
                                  <p:tgtEl>
                                    <p:spTgt spid="3"/>
                                  </p:tgtEl>
                                  <p:attrNameLst>
                                    <p:attrName>style.visibility</p:attrName>
                                  </p:attrNameLst>
                                </p:cBhvr>
                                <p:to>
                                  <p:strVal val="visible"/>
                                </p:to>
                              </p:set>
                              <p:animEffect transition="in" filter="fade">
                                <p:cBhvr>
                                  <p:cTn id="303" dur="500" fill="hold"/>
                                  <p:tgtEl>
                                    <p:spTgt spid="3"/>
                                  </p:tgtEl>
                                </p:cBhvr>
                              </p:animEffect>
                            </p:childTnLst>
                          </p:cTn>
                        </p:par>
                        <p:par>
                          <p:cTn id="401" grpId="0" nodeType="withPrev">
                            <p:stCondLst>
                              <p:cond delay="0"/>
                            </p:stCondLst>
                            <p:childTnLst>
                              <p:set>
                                <p:cBhvr>
                                  <p:cTn id="402" dur="1" fill="hold"/>
                                  <p:tgtEl>
                                    <p:spTgt spid="4"/>
                                  </p:tgtEl>
                                  <p:attrNameLst>
                                    <p:attrName>style.visibility</p:attrName>
                                  </p:attrNameLst>
                                </p:cBhvr>
                                <p:to>
                                  <p:strVal val="visible"/>
                                </p:to>
                              </p:set>
                              <p:animEffect transition="in" filter="fade">
                                <p:cBhvr>
                                  <p:cTn id="403" dur="500" fill="hold"/>
                                  <p:tgtEl>
                                    <p:spTgt spid="4"/>
                                  </p:tgtEl>
                                </p:cBhvr>
                              </p:animEffect>
                            </p:childTnLst>
                          </p:cTn>
                        </p:par>
                        <p:par>
                          <p:cTn id="501" grpId="0" nodeType="withPrev">
                            <p:stCondLst>
                              <p:cond delay="200"/>
                            </p:stCondLst>
                            <p:childTnLst>
                              <p:set>
                                <p:cBhvr>
                                  <p:cTn id="502" dur="1" fill="hold"/>
                                  <p:tgtEl>
                                    <p:spTgt spid="5"/>
                                  </p:tgtEl>
                                  <p:attrNameLst>
                                    <p:attrName>style.visibility</p:attrName>
                                  </p:attrNameLst>
                                </p:cBhvr>
                                <p:to>
                                  <p:strVal val="visible"/>
                                </p:to>
                              </p:set>
                              <p:animEffect transition="in" filter="wipe(up)">
                                <p:cBhvr>
                                  <p:cTn id="503" dur="400" fill="hold"/>
                                  <p:tgtEl>
                                    <p:spTgt spid="5"/>
                                  </p:tgtEl>
                                </p:cBhvr>
                              </p:animEffect>
                            </p:childTnLst>
                          </p:cTn>
                        </p:par>
                        <p:par>
                          <p:cTn id="601" grpId="0" nodeType="withPrev">
                            <p:stCondLst>
                              <p:cond delay="500"/>
                            </p:stCondLst>
                            <p:childTnLst>
                              <p:set>
                                <p:cBhvr>
                                  <p:cTn id="602" dur="1" fill="hold"/>
                                  <p:tgtEl>
                                    <p:spTgt spid="6"/>
                                  </p:tgtEl>
                                  <p:attrNameLst>
                                    <p:attrName>style.visibility</p:attrName>
                                  </p:attrNameLst>
                                </p:cBhvr>
                                <p:to>
                                  <p:strVal val="visible"/>
                                </p:to>
                              </p:set>
                              <p:animEffect transition="in" filter="wipe(up)">
                                <p:cBhvr>
                                  <p:cTn id="603" dur="400" fill="hold"/>
                                  <p:tgtEl>
                                    <p:spTgt spid="6"/>
                                  </p:tgtEl>
                                </p:cBhvr>
                              </p:animEffect>
                            </p:childTnLst>
                          </p:cTn>
                        </p:par>
                        <p:par>
                          <p:cTn id="701" grpId="0" nodeType="withPrev">
                            <p:stCondLst>
                              <p:cond delay="500"/>
                            </p:stCondLst>
                            <p:childTnLst>
                              <p:set>
                                <p:cBhvr>
                                  <p:cTn id="702" dur="1" fill="hold"/>
                                  <p:tgtEl>
                                    <p:spTgt spid="7"/>
                                  </p:tgtEl>
                                  <p:attrNameLst>
                                    <p:attrName>style.visibility</p:attrName>
                                  </p:attrNameLst>
                                </p:cBhvr>
                                <p:to>
                                  <p:strVal val="visible"/>
                                </p:to>
                              </p:set>
                              <p:animEffect transition="in" filter="wipe(up)">
                                <p:cBhvr>
                                  <p:cTn id="703" dur="400" fill="hold"/>
                                  <p:tgtEl>
                                    <p:spTgt spid="7"/>
                                  </p:tgtEl>
                                </p:cBhvr>
                              </p:animEffect>
                            </p:childTnLst>
                          </p:cTn>
                        </p:par>
                        <p:par>
                          <p:cTn id="801" grpId="0" nodeType="withPrev">
                            <p:stCondLst>
                              <p:cond delay="700"/>
                            </p:stCondLst>
                            <p:childTnLst>
                              <p:set>
                                <p:cBhvr>
                                  <p:cTn id="802" dur="1" fill="hold"/>
                                  <p:tgtEl>
                                    <p:spTgt spid="8"/>
                                  </p:tgtEl>
                                  <p:attrNameLst>
                                    <p:attrName>style.visibility</p:attrName>
                                  </p:attrNameLst>
                                </p:cBhvr>
                                <p:to>
                                  <p:strVal val="visible"/>
                                </p:to>
                              </p:set>
                              <p:animEffect transition="in" filter="wipe(up)">
                                <p:cBhvr>
                                  <p:cTn id="803" dur="400" fill="hold"/>
                                  <p:tgtEl>
                                    <p:spTgt spid="8"/>
                                  </p:tgtEl>
                                </p:cBhvr>
                              </p:animEffect>
                            </p:childTnLst>
                          </p:cTn>
                        </p:par>
                        <p:par>
                          <p:cTn id="901" grpId="0" nodeType="withPrev">
                            <p:stCondLst>
                              <p:cond delay="700"/>
                            </p:stCondLst>
                            <p:childTnLst>
                              <p:set>
                                <p:cBhvr>
                                  <p:cTn id="902" dur="1" fill="hold"/>
                                  <p:tgtEl>
                                    <p:spTgt spid="9"/>
                                  </p:tgtEl>
                                  <p:attrNameLst>
                                    <p:attrName>style.visibility</p:attrName>
                                  </p:attrNameLst>
                                </p:cBhvr>
                                <p:to>
                                  <p:strVal val="visible"/>
                                </p:to>
                              </p:set>
                              <p:animEffect transition="in" filter="wipe(up)">
                                <p:cBhvr>
                                  <p:cTn id="903" dur="400" fill="hold"/>
                                  <p:tgtEl>
                                    <p:spTgt spid="9"/>
                                  </p:tgtEl>
                                </p:cBhvr>
                              </p:animEffect>
                            </p:childTnLst>
                          </p:cTn>
                        </p:par>
                        <p:par>
                          <p:cTn id="1001" grpId="0" nodeType="withPrev">
                            <p:stCondLst>
                              <p:cond delay="900"/>
                            </p:stCondLst>
                            <p:childTnLst>
                              <p:set>
                                <p:cBhvr>
                                  <p:cTn id="1002" dur="1" fill="hold"/>
                                  <p:tgtEl>
                                    <p:spTgt spid="10"/>
                                  </p:tgtEl>
                                  <p:attrNameLst>
                                    <p:attrName>style.visibility</p:attrName>
                                  </p:attrNameLst>
                                </p:cBhvr>
                                <p:to>
                                  <p:strVal val="visible"/>
                                </p:to>
                              </p:set>
                              <p:animEffect transition="in" filter="wipe(up)">
                                <p:cBhvr>
                                  <p:cTn id="1003" dur="400" fill="hold"/>
                                  <p:tgtEl>
                                    <p:spTgt spid="10"/>
                                  </p:tgtEl>
                                </p:cBhvr>
                              </p:animEffect>
                            </p:childTnLst>
                          </p:cTn>
                        </p:par>
                        <p:par>
                          <p:cTn id="1101" grpId="0" nodeType="withPrev">
                            <p:stCondLst>
                              <p:cond delay="900"/>
                            </p:stCondLst>
                            <p:childTnLst>
                              <p:set>
                                <p:cBhvr>
                                  <p:cTn id="1102" dur="1" fill="hold"/>
                                  <p:tgtEl>
                                    <p:spTgt spid="11"/>
                                  </p:tgtEl>
                                  <p:attrNameLst>
                                    <p:attrName>style.visibility</p:attrName>
                                  </p:attrNameLst>
                                </p:cBhvr>
                                <p:to>
                                  <p:strVal val="visible"/>
                                </p:to>
                              </p:set>
                              <p:animEffect transition="in" filter="wipe(up)">
                                <p:cBhvr>
                                  <p:cTn id="1103" dur="400" fill="hold"/>
                                  <p:tgtEl>
                                    <p:spTgt spid="11"/>
                                  </p:tgtEl>
                                </p:cBhvr>
                              </p:animEffect>
                            </p:childTnLst>
                          </p:cTn>
                        </p:par>
                        <p:par>
                          <p:cTn id="1201" grpId="0" nodeType="withPrev">
                            <p:stCondLst>
                              <p:cond delay="1100"/>
                            </p:stCondLst>
                            <p:childTnLst>
                              <p:set>
                                <p:cBhvr>
                                  <p:cTn id="1202" dur="1" fill="hold"/>
                                  <p:tgtEl>
                                    <p:spTgt spid="12"/>
                                  </p:tgtEl>
                                  <p:attrNameLst>
                                    <p:attrName>style.visibility</p:attrName>
                                  </p:attrNameLst>
                                </p:cBhvr>
                                <p:to>
                                  <p:strVal val="visible"/>
                                </p:to>
                              </p:set>
                              <p:animEffect transition="in" filter="wipe(up)">
                                <p:cBhvr>
                                  <p:cTn id="1203" dur="400" fill="hold"/>
                                  <p:tgtEl>
                                    <p:spTgt spid="12"/>
                                  </p:tgtEl>
                                </p:cBhvr>
                              </p:animEffect>
                            </p:childTnLst>
                          </p:cTn>
                        </p:par>
                        <p:par>
                          <p:cTn id="1301" grpId="0" nodeType="withPrev">
                            <p:stCondLst>
                              <p:cond delay="1100"/>
                            </p:stCondLst>
                            <p:childTnLst>
                              <p:set>
                                <p:cBhvr>
                                  <p:cTn id="1302" dur="1" fill="hold"/>
                                  <p:tgtEl>
                                    <p:spTgt spid="13"/>
                                  </p:tgtEl>
                                  <p:attrNameLst>
                                    <p:attrName>style.visibility</p:attrName>
                                  </p:attrNameLst>
                                </p:cBhvr>
                                <p:to>
                                  <p:strVal val="visible"/>
                                </p:to>
                              </p:set>
                              <p:animEffect transition="in" filter="wipe(up)">
                                <p:cBhvr>
                                  <p:cTn id="1303" dur="400" fill="hold"/>
                                  <p:tgtEl>
                                    <p:spTgt spid="13"/>
                                  </p:tgtEl>
                                </p:cBhvr>
                              </p:animEffect>
                            </p:childTnLst>
                          </p:cTn>
                        </p:par>
                        <p:par>
                          <p:cTn id="1401" grpId="0" nodeType="withPrev">
                            <p:stCondLst>
                              <p:cond delay="1300"/>
                            </p:stCondLst>
                            <p:childTnLst>
                              <p:set>
                                <p:cBhvr>
                                  <p:cTn id="1402" dur="1" fill="hold"/>
                                  <p:tgtEl>
                                    <p:spTgt spid="14"/>
                                  </p:tgtEl>
                                  <p:attrNameLst>
                                    <p:attrName>style.visibility</p:attrName>
                                  </p:attrNameLst>
                                </p:cBhvr>
                                <p:to>
                                  <p:strVal val="visible"/>
                                </p:to>
                              </p:set>
                              <p:animEffect transition="in" filter="wipe(up)">
                                <p:cBhvr>
                                  <p:cTn id="1403" dur="400" fill="hold"/>
                                  <p:tgtEl>
                                    <p:spTgt spid="14"/>
                                  </p:tgtEl>
                                </p:cBhvr>
                              </p:animEffect>
                            </p:childTnLst>
                          </p:cTn>
                        </p:par>
                        <p:par>
                          <p:cTn id="1501" grpId="0" nodeType="withPrev">
                            <p:stCondLst>
                              <p:cond delay="1300"/>
                            </p:stCondLst>
                            <p:childTnLst>
                              <p:set>
                                <p:cBhvr>
                                  <p:cTn id="1502" dur="1" fill="hold"/>
                                  <p:tgtEl>
                                    <p:spTgt spid="15"/>
                                  </p:tgtEl>
                                  <p:attrNameLst>
                                    <p:attrName>style.visibility</p:attrName>
                                  </p:attrNameLst>
                                </p:cBhvr>
                                <p:to>
                                  <p:strVal val="visible"/>
                                </p:to>
                              </p:set>
                              <p:animEffect transition="in" filter="wipe(up)">
                                <p:cBhvr>
                                  <p:cTn id="1503" dur="400" fill="hold"/>
                                  <p:tgtEl>
                                    <p:spTgt spid="15"/>
                                  </p:tgtEl>
                                </p:cBhvr>
                              </p:animEffect>
                            </p:childTnLst>
                          </p:cTn>
                        </p:par>
                        <p:par>
                          <p:cTn id="1601" grpId="0" nodeType="withPrev">
                            <p:stCondLst>
                              <p:cond delay="1500"/>
                            </p:stCondLst>
                            <p:childTnLst>
                              <p:set>
                                <p:cBhvr>
                                  <p:cTn id="1602" dur="1" fill="hold"/>
                                  <p:tgtEl>
                                    <p:spTgt spid="16"/>
                                  </p:tgtEl>
                                  <p:attrNameLst>
                                    <p:attrName>style.visibility</p:attrName>
                                  </p:attrNameLst>
                                </p:cBhvr>
                                <p:to>
                                  <p:strVal val="visible"/>
                                </p:to>
                              </p:set>
                              <p:animEffect transition="in" filter="wipe(up)">
                                <p:cBhvr>
                                  <p:cTn id="1603" dur="400" fill="hold"/>
                                  <p:tgtEl>
                                    <p:spTgt spid="16"/>
                                  </p:tgtEl>
                                </p:cBhvr>
                              </p:animEffect>
                            </p:childTnLst>
                          </p:cTn>
                        </p:par>
                        <p:par>
                          <p:cTn id="1701" grpId="0" nodeType="withPrev">
                            <p:stCondLst>
                              <p:cond delay="1500"/>
                            </p:stCondLst>
                            <p:childTnLst>
                              <p:set>
                                <p:cBhvr>
                                  <p:cTn id="1702" dur="1" fill="hold"/>
                                  <p:tgtEl>
                                    <p:spTgt spid="17"/>
                                  </p:tgtEl>
                                  <p:attrNameLst>
                                    <p:attrName>style.visibility</p:attrName>
                                  </p:attrNameLst>
                                </p:cBhvr>
                                <p:to>
                                  <p:strVal val="visible"/>
                                </p:to>
                              </p:set>
                              <p:animEffect transition="in" filter="wipe(up)">
                                <p:cBhvr>
                                  <p:cTn id="1703" dur="400" fill="hold"/>
                                  <p:tgtEl>
                                    <p:spTgt spid="17"/>
                                  </p:tgtEl>
                                </p:cBhvr>
                              </p:animEffect>
                            </p:childTnLst>
                          </p:cTn>
                        </p:par>
                        <p:par>
                          <p:cTn id="1801" grpId="0" nodeType="withPrev">
                            <p:stCondLst>
                              <p:cond delay="1700"/>
                            </p:stCondLst>
                            <p:childTnLst>
                              <p:set>
                                <p:cBhvr>
                                  <p:cTn id="1802" dur="1" fill="hold"/>
                                  <p:tgtEl>
                                    <p:spTgt spid="18"/>
                                  </p:tgtEl>
                                  <p:attrNameLst>
                                    <p:attrName>style.visibility</p:attrName>
                                  </p:attrNameLst>
                                </p:cBhvr>
                                <p:to>
                                  <p:strVal val="visible"/>
                                </p:to>
                              </p:set>
                              <p:animEffect transition="in" filter="wipe(up)">
                                <p:cBhvr>
                                  <p:cTn id="1803" dur="400" fill="hold"/>
                                  <p:tgtEl>
                                    <p:spTgt spid="18"/>
                                  </p:tgtEl>
                                </p:cBhvr>
                              </p:animEffect>
                            </p:childTnLst>
                          </p:cTn>
                        </p:par>
                        <p:par>
                          <p:cTn id="1901" grpId="0" nodeType="withPrev">
                            <p:stCondLst>
                              <p:cond delay="1700"/>
                            </p:stCondLst>
                            <p:childTnLst>
                              <p:set>
                                <p:cBhvr>
                                  <p:cTn id="1902" dur="1" fill="hold"/>
                                  <p:tgtEl>
                                    <p:spTgt spid="19"/>
                                  </p:tgtEl>
                                  <p:attrNameLst>
                                    <p:attrName>style.visibility</p:attrName>
                                  </p:attrNameLst>
                                </p:cBhvr>
                                <p:to>
                                  <p:strVal val="visible"/>
                                </p:to>
                              </p:set>
                              <p:animEffect transition="in" filter="wipe(up)">
                                <p:cBhvr>
                                  <p:cTn id="1903" dur="400" fill="hold"/>
                                  <p:tgtEl>
                                    <p:spTgt spid="19"/>
                                  </p:tgtEl>
                                </p:cBhvr>
                              </p:animEffect>
                            </p:childTnLst>
                          </p:cTn>
                        </p:par>
                        <p:par>
                          <p:cTn id="2001" grpId="0" nodeType="withPrev">
                            <p:stCondLst>
                              <p:cond delay="1700"/>
                            </p:stCondLst>
                            <p:childTnLst>
                              <p:set>
                                <p:cBhvr>
                                  <p:cTn id="2002" dur="1" fill="hold"/>
                                  <p:tgtEl>
                                    <p:spTgt spid="20"/>
                                  </p:tgtEl>
                                  <p:attrNameLst>
                                    <p:attrName>style.visibility</p:attrName>
                                  </p:attrNameLst>
                                </p:cBhvr>
                                <p:to>
                                  <p:strVal val="visible"/>
                                </p:to>
                              </p:set>
                              <p:animEffect transition="in" filter="wipe(up)">
                                <p:cBhvr>
                                  <p:cTn id="2003" dur="400" fill="hold"/>
                                  <p:tgtEl>
                                    <p:spTgt spid="20"/>
                                  </p:tgtEl>
                                </p:cBhvr>
                              </p:animEffect>
                            </p:childTnLst>
                          </p:cTn>
                        </p:par>
                      </p:childTnLst>
                    </p:cTn>
                  </p:par>
                </p:childTnLst>
              </p:cTn>
            </p:par>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 Integration Management</a:t>
            </a:r>
            <a:endParaRPr lang="en-US" sz="2200" dirty="0"/>
          </a:p>
        </p:txBody>
      </p:sp>
      <p:sp>
        <p:nvSpPr>
          <p:cNvPr id="5" name="Shape 3"/>
          <p:cNvSpPr/>
          <p:nvPr/>
        </p:nvSpPr>
        <p:spPr>
          <a:xfrm>
            <a:off x="365760" y="1097280"/>
            <a:ext cx="2560320" cy="640080"/>
          </a:xfrm>
          <a:prstGeom prst="rect">
            <a:avLst/>
          </a:prstGeom>
          <a:solidFill>
            <a:srgbClr val="F0F4F8"/>
          </a:solidFill>
          <a:ln w="12700">
            <a:solidFill>
              <a:srgbClr val="CBD5E1"/>
            </a:solidFill>
            <a:prstDash val="solid"/>
          </a:ln>
          <a:effectLst>
            <a:outerShdw sx="100000" sy="100000" kx="0" ky="0" algn="bl" rotWithShape="0" blurRad="50800" dist="25400" dir="8100000">
              <a:srgbClr val="000000">
                <a:alpha val="8000"/>
              </a:srgbClr>
            </a:outerShdw>
          </a:effectLst>
        </p:spPr>
      </p:sp>
      <p:sp>
        <p:nvSpPr>
          <p:cNvPr id="6" name="Shape 4"/>
          <p:cNvSpPr/>
          <p:nvPr/>
        </p:nvSpPr>
        <p:spPr>
          <a:xfrm>
            <a:off x="365760" y="1097280"/>
            <a:ext cx="64008" cy="640080"/>
          </a:xfrm>
          <a:prstGeom prst="rect">
            <a:avLst/>
          </a:prstGeom>
          <a:solidFill>
            <a:srgbClr val="1B7FA6"/>
          </a:solidFill>
          <a:ln w="12700">
            <a:solidFill>
              <a:srgbClr val="1B7FA6"/>
            </a:solidFill>
            <a:prstDash val="solid"/>
          </a:ln>
        </p:spPr>
      </p:sp>
      <p:sp>
        <p:nvSpPr>
          <p:cNvPr id="7" name="Text 5"/>
          <p:cNvSpPr/>
          <p:nvPr/>
        </p:nvSpPr>
        <p:spPr>
          <a:xfrm>
            <a:off x="502920" y="1097280"/>
            <a:ext cx="2377440" cy="640080"/>
          </a:xfrm>
          <a:prstGeom prst="rect">
            <a:avLst/>
          </a:prstGeom>
          <a:noFill/>
          <a:ln/>
        </p:spPr>
        <p:txBody>
          <a:bodyPr wrap="square" lIns="76200" tIns="76200" rIns="76200" bIns="76200" rtlCol="0" anchor="ctr"/>
          <a:lstStyle/>
          <a:p>
            <a:pPr algn="l" indent="0" marL="0">
              <a:buNone/>
            </a:pPr>
            <a:r>
              <a:rPr lang="en-US" sz="1400" b="1" dirty="0">
                <a:solidFill>
                  <a:srgbClr val="0D1B2A"/>
                </a:solidFill>
                <a:latin typeface="Calibri" pitchFamily="34" charset="0"/>
                <a:ea typeface="Calibri" pitchFamily="34" charset="-122"/>
                <a:cs typeface="Calibri" pitchFamily="34" charset="-120"/>
              </a:rPr>
              <a:t>Data Availability</a:t>
            </a:r>
            <a:endParaRPr lang="en-US" sz="1400" dirty="0"/>
          </a:p>
        </p:txBody>
      </p:sp>
      <p:sp>
        <p:nvSpPr>
          <p:cNvPr id="8" name="Shape 6"/>
          <p:cNvSpPr/>
          <p:nvPr/>
        </p:nvSpPr>
        <p:spPr>
          <a:xfrm>
            <a:off x="365760" y="1874520"/>
            <a:ext cx="2560320" cy="640080"/>
          </a:xfrm>
          <a:prstGeom prst="rect">
            <a:avLst/>
          </a:prstGeom>
          <a:solidFill>
            <a:srgbClr val="F0F4F8"/>
          </a:solidFill>
          <a:ln w="12700">
            <a:solidFill>
              <a:srgbClr val="CBD5E1"/>
            </a:solidFill>
            <a:prstDash val="solid"/>
          </a:ln>
          <a:effectLst>
            <a:outerShdw sx="100000" sy="100000" kx="0" ky="0" algn="bl" rotWithShape="0" blurRad="50800" dist="25400" dir="8100000">
              <a:srgbClr val="000000">
                <a:alpha val="8000"/>
              </a:srgbClr>
            </a:outerShdw>
          </a:effectLst>
        </p:spPr>
      </p:sp>
      <p:sp>
        <p:nvSpPr>
          <p:cNvPr id="9" name="Shape 7"/>
          <p:cNvSpPr/>
          <p:nvPr/>
        </p:nvSpPr>
        <p:spPr>
          <a:xfrm>
            <a:off x="365760" y="1874520"/>
            <a:ext cx="64008" cy="640080"/>
          </a:xfrm>
          <a:prstGeom prst="rect">
            <a:avLst/>
          </a:prstGeom>
          <a:solidFill>
            <a:srgbClr val="1B7FA6"/>
          </a:solidFill>
          <a:ln w="12700">
            <a:solidFill>
              <a:srgbClr val="1B7FA6"/>
            </a:solidFill>
            <a:prstDash val="solid"/>
          </a:ln>
        </p:spPr>
      </p:sp>
      <p:sp>
        <p:nvSpPr>
          <p:cNvPr id="10" name="Text 8"/>
          <p:cNvSpPr/>
          <p:nvPr/>
        </p:nvSpPr>
        <p:spPr>
          <a:xfrm>
            <a:off x="502920" y="1874520"/>
            <a:ext cx="2377440" cy="640080"/>
          </a:xfrm>
          <a:prstGeom prst="rect">
            <a:avLst/>
          </a:prstGeom>
          <a:noFill/>
          <a:ln/>
        </p:spPr>
        <p:txBody>
          <a:bodyPr wrap="square" lIns="76200" tIns="76200" rIns="76200" bIns="76200" rtlCol="0" anchor="ctr"/>
          <a:lstStyle/>
          <a:p>
            <a:pPr algn="l" indent="0" marL="0">
              <a:buNone/>
            </a:pPr>
            <a:r>
              <a:rPr lang="en-US" sz="1400" b="1" dirty="0">
                <a:solidFill>
                  <a:srgbClr val="0D1B2A"/>
                </a:solidFill>
                <a:latin typeface="Calibri" pitchFamily="34" charset="0"/>
                <a:ea typeface="Calibri" pitchFamily="34" charset="-122"/>
                <a:cs typeface="Calibri" pitchFamily="34" charset="-120"/>
              </a:rPr>
              <a:t>Data Management</a:t>
            </a:r>
            <a:endParaRPr lang="en-US" sz="1400" dirty="0"/>
          </a:p>
        </p:txBody>
      </p:sp>
      <p:sp>
        <p:nvSpPr>
          <p:cNvPr id="11" name="Shape 9"/>
          <p:cNvSpPr/>
          <p:nvPr/>
        </p:nvSpPr>
        <p:spPr>
          <a:xfrm>
            <a:off x="365760" y="2651760"/>
            <a:ext cx="2560320" cy="640080"/>
          </a:xfrm>
          <a:prstGeom prst="rect">
            <a:avLst/>
          </a:prstGeom>
          <a:solidFill>
            <a:srgbClr val="F0F4F8"/>
          </a:solidFill>
          <a:ln w="12700">
            <a:solidFill>
              <a:srgbClr val="CBD5E1"/>
            </a:solidFill>
            <a:prstDash val="solid"/>
          </a:ln>
          <a:effectLst>
            <a:outerShdw sx="100000" sy="100000" kx="0" ky="0" algn="bl" rotWithShape="0" blurRad="50800" dist="25400" dir="8100000">
              <a:srgbClr val="000000">
                <a:alpha val="8000"/>
              </a:srgbClr>
            </a:outerShdw>
          </a:effectLst>
        </p:spPr>
      </p:sp>
      <p:sp>
        <p:nvSpPr>
          <p:cNvPr id="12" name="Shape 10"/>
          <p:cNvSpPr/>
          <p:nvPr/>
        </p:nvSpPr>
        <p:spPr>
          <a:xfrm>
            <a:off x="365760" y="2651760"/>
            <a:ext cx="64008" cy="640080"/>
          </a:xfrm>
          <a:prstGeom prst="rect">
            <a:avLst/>
          </a:prstGeom>
          <a:solidFill>
            <a:srgbClr val="1B7FA6"/>
          </a:solidFill>
          <a:ln w="12700">
            <a:solidFill>
              <a:srgbClr val="1B7FA6"/>
            </a:solidFill>
            <a:prstDash val="solid"/>
          </a:ln>
        </p:spPr>
      </p:sp>
      <p:sp>
        <p:nvSpPr>
          <p:cNvPr id="13" name="Text 11"/>
          <p:cNvSpPr/>
          <p:nvPr/>
        </p:nvSpPr>
        <p:spPr>
          <a:xfrm>
            <a:off x="502920" y="2651760"/>
            <a:ext cx="2377440" cy="640080"/>
          </a:xfrm>
          <a:prstGeom prst="rect">
            <a:avLst/>
          </a:prstGeom>
          <a:noFill/>
          <a:ln/>
        </p:spPr>
        <p:txBody>
          <a:bodyPr wrap="square" lIns="76200" tIns="76200" rIns="76200" bIns="76200" rtlCol="0" anchor="ctr"/>
          <a:lstStyle/>
          <a:p>
            <a:pPr algn="l" indent="0" marL="0">
              <a:buNone/>
            </a:pPr>
            <a:r>
              <a:rPr lang="en-US" sz="1400" b="1" dirty="0">
                <a:solidFill>
                  <a:srgbClr val="0D1B2A"/>
                </a:solidFill>
                <a:latin typeface="Calibri" pitchFamily="34" charset="0"/>
                <a:ea typeface="Calibri" pitchFamily="34" charset="-122"/>
                <a:cs typeface="Calibri" pitchFamily="34" charset="-120"/>
              </a:rPr>
              <a:t>Data Integration</a:t>
            </a:r>
            <a:endParaRPr lang="en-US" sz="1400" dirty="0"/>
          </a:p>
        </p:txBody>
      </p:sp>
      <p:sp>
        <p:nvSpPr>
          <p:cNvPr id="14" name="Shape 12"/>
          <p:cNvSpPr/>
          <p:nvPr/>
        </p:nvSpPr>
        <p:spPr>
          <a:xfrm>
            <a:off x="3108960" y="1828800"/>
            <a:ext cx="36576" cy="0"/>
          </a:xfrm>
          <a:prstGeom prst="rect">
            <a:avLst/>
          </a:prstGeom>
          <a:noFill/>
          <a:ln w="25400">
            <a:solidFill>
              <a:srgbClr val="1B7FA6"/>
            </a:solidFill>
            <a:prstDash val="solid"/>
          </a:ln>
        </p:spPr>
      </p:sp>
      <p:sp>
        <p:nvSpPr>
          <p:cNvPr id="15" name="Text 13"/>
          <p:cNvSpPr/>
          <p:nvPr/>
        </p:nvSpPr>
        <p:spPr>
          <a:xfrm>
            <a:off x="2926080" y="1828800"/>
            <a:ext cx="365760" cy="457200"/>
          </a:xfrm>
          <a:prstGeom prst="rect">
            <a:avLst/>
          </a:prstGeom>
          <a:noFill/>
          <a:ln/>
        </p:spPr>
        <p:txBody>
          <a:bodyPr wrap="square" rtlCol="0" anchor="ctr"/>
          <a:lstStyle/>
          <a:p>
            <a:pPr algn="ctr" indent="0" marL="0">
              <a:buNone/>
            </a:pPr>
            <a:r>
              <a:rPr lang="en-US" sz="2000" dirty="0">
                <a:solidFill>
                  <a:srgbClr val="1B7FA6"/>
                </a:solidFill>
              </a:rPr>
              <a:t>→</a:t>
            </a:r>
            <a:endParaRPr lang="en-US" sz="2000" dirty="0"/>
          </a:p>
        </p:txBody>
      </p:sp>
      <p:sp>
        <p:nvSpPr>
          <p:cNvPr id="16" name="Shape 14"/>
          <p:cNvSpPr/>
          <p:nvPr/>
        </p:nvSpPr>
        <p:spPr>
          <a:xfrm>
            <a:off x="3291840" y="1005840"/>
            <a:ext cx="3200400" cy="2377440"/>
          </a:xfrm>
          <a:prstGeom prst="rect">
            <a:avLst/>
          </a:prstGeom>
          <a:solidFill>
            <a:srgbClr val="1E2D3D"/>
          </a:solidFill>
          <a:ln w="12700">
            <a:solidFill>
              <a:srgbClr val="1B7FA6"/>
            </a:solidFill>
            <a:prstDash val="solid"/>
          </a:ln>
        </p:spPr>
      </p:sp>
      <p:sp>
        <p:nvSpPr>
          <p:cNvPr id="17" name="Text 15"/>
          <p:cNvSpPr/>
          <p:nvPr/>
        </p:nvSpPr>
        <p:spPr>
          <a:xfrm>
            <a:off x="3291840" y="1005840"/>
            <a:ext cx="3200400" cy="347472"/>
          </a:xfrm>
          <a:prstGeom prst="rect">
            <a:avLst/>
          </a:prstGeom>
          <a:noFill/>
          <a:ln/>
        </p:spPr>
        <p:txBody>
          <a:bodyPr wrap="square" rtlCol="0" anchor="ctr"/>
          <a:lstStyle/>
          <a:p>
            <a:pPr algn="ctr" indent="0" marL="0">
              <a:buNone/>
            </a:pPr>
            <a:r>
              <a:rPr lang="en-US" sz="1100" b="1" dirty="0">
                <a:solidFill>
                  <a:srgbClr val="02C39A"/>
                </a:solidFill>
                <a:latin typeface="Consolas" pitchFamily="34" charset="0"/>
                <a:ea typeface="Consolas" pitchFamily="34" charset="-122"/>
                <a:cs typeface="Consolas" pitchFamily="34" charset="-120"/>
              </a:rPr>
              <a:t>Policy Manager</a:t>
            </a:r>
            <a:endParaRPr lang="en-US" sz="1100" dirty="0"/>
          </a:p>
        </p:txBody>
      </p:sp>
      <p:sp>
        <p:nvSpPr>
          <p:cNvPr id="18" name="Text 16"/>
          <p:cNvSpPr/>
          <p:nvPr/>
        </p:nvSpPr>
        <p:spPr>
          <a:xfrm>
            <a:off x="3337560" y="1371600"/>
            <a:ext cx="3108960" cy="1920240"/>
          </a:xfrm>
          <a:prstGeom prst="rect">
            <a:avLst/>
          </a:prstGeom>
          <a:noFill/>
          <a:ln/>
        </p:spPr>
        <p:txBody>
          <a:bodyPr wrap="square" lIns="76200" tIns="76200" rIns="76200" bIns="76200" rtlCol="0" anchor="t"/>
          <a:lstStyle/>
          <a:p>
            <a:pPr indent="0" marL="0">
              <a:buNone/>
            </a:pPr>
            <a:r>
              <a:rPr lang="en-US" sz="1000" dirty="0">
                <a:solidFill>
                  <a:srgbClr val="FFFFFF"/>
                </a:solidFill>
                <a:latin typeface="Consolas" pitchFamily="34" charset="0"/>
                <a:ea typeface="Consolas" pitchFamily="34" charset="-122"/>
                <a:cs typeface="Consolas" pitchFamily="34" charset="-120"/>
              </a:rPr>
              <a:t>{
</a:t>
            </a:r>
            <a:pPr indent="0" marL="0">
              <a:buNone/>
            </a:pPr>
            <a:r>
              <a:rPr lang="en-US" sz="1000" dirty="0">
                <a:solidFill>
                  <a:srgbClr val="CBD5E1"/>
                </a:solidFill>
                <a:latin typeface="Consolas" pitchFamily="34" charset="0"/>
                <a:ea typeface="Consolas" pitchFamily="34" charset="-122"/>
                <a:cs typeface="Consolas" pitchFamily="34" charset="-120"/>
              </a:rPr>
              <a:t xml:space="preserve">  rootingIndicator: </a:t>
            </a:r>
            <a:pPr indent="0" marL="0">
              <a:buNone/>
            </a:pPr>
            <a:r>
              <a:rPr lang="en-US" sz="1000" dirty="0">
                <a:solidFill>
                  <a:srgbClr val="02C39A"/>
                </a:solidFill>
                <a:latin typeface="Consolas" pitchFamily="34" charset="0"/>
                <a:ea typeface="Consolas" pitchFamily="34" charset="-122"/>
                <a:cs typeface="Consolas" pitchFamily="34" charset="-120"/>
              </a:rPr>
              <a:t>"True",
</a:t>
            </a:r>
            <a:pPr indent="0" marL="0">
              <a:buNone/>
            </a:pPr>
            <a:r>
              <a:rPr lang="en-US" sz="1000" dirty="0">
                <a:solidFill>
                  <a:srgbClr val="CBD5E1"/>
                </a:solidFill>
                <a:latin typeface="Consolas" pitchFamily="34" charset="0"/>
                <a:ea typeface="Consolas" pitchFamily="34" charset="-122"/>
                <a:cs typeface="Consolas" pitchFamily="34" charset="-120"/>
              </a:rPr>
              <a:t xml:space="preserve">  malwareIndicator: </a:t>
            </a:r>
            <a:pPr indent="0" marL="0">
              <a:buNone/>
            </a:pPr>
            <a:r>
              <a:rPr lang="en-US" sz="1000" dirty="0">
                <a:solidFill>
                  <a:srgbClr val="02C39A"/>
                </a:solidFill>
                <a:latin typeface="Consolas" pitchFamily="34" charset="0"/>
                <a:ea typeface="Consolas" pitchFamily="34" charset="-122"/>
                <a:cs typeface="Consolas" pitchFamily="34" charset="-120"/>
              </a:rPr>
              <a:t>"True",
</a:t>
            </a:r>
            <a:pPr indent="0" marL="0">
              <a:buNone/>
            </a:pPr>
            <a:r>
              <a:rPr lang="en-US" sz="1000" dirty="0">
                <a:solidFill>
                  <a:srgbClr val="CBD5E1"/>
                </a:solidFill>
                <a:latin typeface="Consolas" pitchFamily="34" charset="0"/>
                <a:ea typeface="Consolas" pitchFamily="34" charset="-122"/>
                <a:cs typeface="Consolas" pitchFamily="34" charset="-120"/>
              </a:rPr>
              <a:t xml:space="preserve">  deviceID: </a:t>
            </a:r>
            <a:pPr indent="0" marL="0">
              <a:buNone/>
            </a:pPr>
            <a:r>
              <a:rPr lang="en-US" sz="1000" dirty="0">
                <a:solidFill>
                  <a:srgbClr val="02C39A"/>
                </a:solidFill>
                <a:latin typeface="Consolas" pitchFamily="34" charset="0"/>
                <a:ea typeface="Consolas" pitchFamily="34" charset="-122"/>
                <a:cs typeface="Consolas" pitchFamily="34" charset="-120"/>
              </a:rPr>
              <a:t>"DEMO-DEVICE-001",
</a:t>
            </a:r>
            <a:pPr indent="0" marL="0">
              <a:buNone/>
            </a:pPr>
            <a:r>
              <a:rPr lang="en-US" sz="1000" dirty="0">
                <a:solidFill>
                  <a:srgbClr val="CBD5E1"/>
                </a:solidFill>
                <a:latin typeface="Consolas" pitchFamily="34" charset="0"/>
                <a:ea typeface="Consolas" pitchFamily="34" charset="-122"/>
                <a:cs typeface="Consolas" pitchFamily="34" charset="-120"/>
              </a:rPr>
              <a:t xml:space="preserve">  userID: </a:t>
            </a:r>
            <a:pPr indent="0" marL="0">
              <a:buNone/>
            </a:pPr>
            <a:r>
              <a:rPr lang="en-US" sz="1000" dirty="0">
                <a:solidFill>
                  <a:srgbClr val="02C39A"/>
                </a:solidFill>
                <a:latin typeface="Consolas" pitchFamily="34" charset="0"/>
                <a:ea typeface="Consolas" pitchFamily="34" charset="-122"/>
                <a:cs typeface="Consolas" pitchFamily="34" charset="-120"/>
              </a:rPr>
              <a:t>"DEMO.USER",
</a:t>
            </a:r>
            <a:pPr indent="0" marL="0">
              <a:buNone/>
            </a:pPr>
            <a:r>
              <a:rPr lang="en-US" sz="1000" dirty="0">
                <a:solidFill>
                  <a:srgbClr val="CBD5E1"/>
                </a:solidFill>
                <a:latin typeface="Consolas" pitchFamily="34" charset="0"/>
                <a:ea typeface="Consolas" pitchFamily="34" charset="-122"/>
                <a:cs typeface="Consolas" pitchFamily="34" charset="-120"/>
              </a:rPr>
              <a:t xml:space="preserve">  sessionID: </a:t>
            </a:r>
            <a:pPr indent="0" marL="0">
              <a:buNone/>
            </a:pPr>
            <a:r>
              <a:rPr lang="en-US" sz="1000" dirty="0">
                <a:solidFill>
                  <a:srgbClr val="02C39A"/>
                </a:solidFill>
                <a:latin typeface="Consolas" pitchFamily="34" charset="0"/>
                <a:ea typeface="Consolas" pitchFamily="34" charset="-122"/>
                <a:cs typeface="Consolas" pitchFamily="34" charset="-120"/>
              </a:rPr>
              <a:t>"SESSION-DEMO-001"
</a:t>
            </a:r>
            <a:pPr indent="0" marL="0">
              <a:buNone/>
            </a:pPr>
            <a:r>
              <a:rPr lang="en-US" sz="1000" dirty="0">
                <a:solidFill>
                  <a:srgbClr val="FFFFFF"/>
                </a:solidFill>
                <a:latin typeface="Consolas" pitchFamily="34" charset="0"/>
                <a:ea typeface="Consolas" pitchFamily="34" charset="-122"/>
                <a:cs typeface="Consolas" pitchFamily="34" charset="-120"/>
              </a:rPr>
              <a:t>}</a:t>
            </a:r>
            <a:endParaRPr lang="en-US" sz="1000" dirty="0"/>
          </a:p>
        </p:txBody>
      </p:sp>
      <p:sp>
        <p:nvSpPr>
          <p:cNvPr id="19" name="Shape 17"/>
          <p:cNvSpPr/>
          <p:nvPr/>
        </p:nvSpPr>
        <p:spPr>
          <a:xfrm>
            <a:off x="6766560" y="1188720"/>
            <a:ext cx="1920240" cy="566928"/>
          </a:xfrm>
          <a:prstGeom prst="rect">
            <a:avLst/>
          </a:prstGeom>
          <a:solidFill>
            <a:srgbClr val="F0F4F8"/>
          </a:solidFill>
          <a:ln w="12700">
            <a:solidFill>
              <a:srgbClr val="CBD5E1"/>
            </a:solidFill>
            <a:prstDash val="solid"/>
          </a:ln>
          <a:effectLst>
            <a:outerShdw sx="100000" sy="100000" kx="0" ky="0" algn="bl" rotWithShape="0" blurRad="50800" dist="25400" dir="8100000">
              <a:srgbClr val="000000">
                <a:alpha val="8000"/>
              </a:srgbClr>
            </a:outerShdw>
          </a:effectLst>
        </p:spPr>
      </p:sp>
      <p:sp>
        <p:nvSpPr>
          <p:cNvPr id="20" name="Shape 18"/>
          <p:cNvSpPr/>
          <p:nvPr/>
        </p:nvSpPr>
        <p:spPr>
          <a:xfrm>
            <a:off x="6766560" y="1188720"/>
            <a:ext cx="64008" cy="566928"/>
          </a:xfrm>
          <a:prstGeom prst="rect">
            <a:avLst/>
          </a:prstGeom>
          <a:solidFill>
            <a:srgbClr val="02C39A"/>
          </a:solidFill>
          <a:ln w="12700">
            <a:solidFill>
              <a:srgbClr val="02C39A"/>
            </a:solidFill>
            <a:prstDash val="solid"/>
          </a:ln>
        </p:spPr>
      </p:sp>
      <p:sp>
        <p:nvSpPr>
          <p:cNvPr id="21" name="Text 19"/>
          <p:cNvSpPr/>
          <p:nvPr/>
        </p:nvSpPr>
        <p:spPr>
          <a:xfrm>
            <a:off x="6903720" y="1188720"/>
            <a:ext cx="1737360" cy="566928"/>
          </a:xfrm>
          <a:prstGeom prst="rect">
            <a:avLst/>
          </a:prstGeom>
          <a:noFill/>
          <a:ln/>
        </p:spPr>
        <p:txBody>
          <a:bodyPr wrap="square" lIns="76200" tIns="76200" rIns="76200" bIns="76200" rtlCol="0" anchor="ctr"/>
          <a:lstStyle/>
          <a:p>
            <a:pPr algn="l" indent="0" marL="0">
              <a:buNone/>
            </a:pPr>
            <a:r>
              <a:rPr lang="en-US" sz="1300" b="1" dirty="0">
                <a:solidFill>
                  <a:srgbClr val="0D1B2A"/>
                </a:solidFill>
                <a:latin typeface="Calibri" pitchFamily="34" charset="0"/>
                <a:ea typeface="Calibri" pitchFamily="34" charset="-122"/>
                <a:cs typeface="Calibri" pitchFamily="34" charset="-120"/>
              </a:rPr>
              <a:t>Alerts</a:t>
            </a:r>
            <a:endParaRPr lang="en-US" sz="1300" dirty="0"/>
          </a:p>
        </p:txBody>
      </p:sp>
      <p:sp>
        <p:nvSpPr>
          <p:cNvPr id="22" name="Shape 20"/>
          <p:cNvSpPr/>
          <p:nvPr/>
        </p:nvSpPr>
        <p:spPr>
          <a:xfrm>
            <a:off x="6766560" y="1938528"/>
            <a:ext cx="1920240" cy="566928"/>
          </a:xfrm>
          <a:prstGeom prst="rect">
            <a:avLst/>
          </a:prstGeom>
          <a:solidFill>
            <a:srgbClr val="F0F4F8"/>
          </a:solidFill>
          <a:ln w="12700">
            <a:solidFill>
              <a:srgbClr val="CBD5E1"/>
            </a:solidFill>
            <a:prstDash val="solid"/>
          </a:ln>
          <a:effectLst>
            <a:outerShdw sx="100000" sy="100000" kx="0" ky="0" algn="bl" rotWithShape="0" blurRad="50800" dist="25400" dir="8100000">
              <a:srgbClr val="000000">
                <a:alpha val="8000"/>
              </a:srgbClr>
            </a:outerShdw>
          </a:effectLst>
        </p:spPr>
      </p:sp>
      <p:sp>
        <p:nvSpPr>
          <p:cNvPr id="23" name="Shape 21"/>
          <p:cNvSpPr/>
          <p:nvPr/>
        </p:nvSpPr>
        <p:spPr>
          <a:xfrm>
            <a:off x="6766560" y="1938528"/>
            <a:ext cx="64008" cy="566928"/>
          </a:xfrm>
          <a:prstGeom prst="rect">
            <a:avLst/>
          </a:prstGeom>
          <a:solidFill>
            <a:srgbClr val="02C39A"/>
          </a:solidFill>
          <a:ln w="12700">
            <a:solidFill>
              <a:srgbClr val="02C39A"/>
            </a:solidFill>
            <a:prstDash val="solid"/>
          </a:ln>
        </p:spPr>
      </p:sp>
      <p:sp>
        <p:nvSpPr>
          <p:cNvPr id="24" name="Text 22"/>
          <p:cNvSpPr/>
          <p:nvPr/>
        </p:nvSpPr>
        <p:spPr>
          <a:xfrm>
            <a:off x="6903720" y="1938528"/>
            <a:ext cx="1737360" cy="566928"/>
          </a:xfrm>
          <a:prstGeom prst="rect">
            <a:avLst/>
          </a:prstGeom>
          <a:noFill/>
          <a:ln/>
        </p:spPr>
        <p:txBody>
          <a:bodyPr wrap="square" lIns="76200" tIns="76200" rIns="76200" bIns="76200" rtlCol="0" anchor="ctr"/>
          <a:lstStyle/>
          <a:p>
            <a:pPr algn="l" indent="0" marL="0">
              <a:buNone/>
            </a:pPr>
            <a:r>
              <a:rPr lang="en-US" sz="1300" b="1" dirty="0">
                <a:solidFill>
                  <a:srgbClr val="0D1B2A"/>
                </a:solidFill>
                <a:latin typeface="Calibri" pitchFamily="34" charset="0"/>
                <a:ea typeface="Calibri" pitchFamily="34" charset="-122"/>
                <a:cs typeface="Calibri" pitchFamily="34" charset="-120"/>
              </a:rPr>
              <a:t>Analytics</a:t>
            </a:r>
            <a:endParaRPr lang="en-US" sz="1300" dirty="0"/>
          </a:p>
        </p:txBody>
      </p:sp>
      <p:sp>
        <p:nvSpPr>
          <p:cNvPr id="25" name="Shape 23"/>
          <p:cNvSpPr/>
          <p:nvPr/>
        </p:nvSpPr>
        <p:spPr>
          <a:xfrm>
            <a:off x="6766560" y="2688336"/>
            <a:ext cx="1920240" cy="566928"/>
          </a:xfrm>
          <a:prstGeom prst="rect">
            <a:avLst/>
          </a:prstGeom>
          <a:solidFill>
            <a:srgbClr val="F0F4F8"/>
          </a:solidFill>
          <a:ln w="12700">
            <a:solidFill>
              <a:srgbClr val="CBD5E1"/>
            </a:solidFill>
            <a:prstDash val="solid"/>
          </a:ln>
          <a:effectLst>
            <a:outerShdw sx="100000" sy="100000" kx="0" ky="0" algn="bl" rotWithShape="0" blurRad="50800" dist="25400" dir="8100000">
              <a:srgbClr val="000000">
                <a:alpha val="8000"/>
              </a:srgbClr>
            </a:outerShdw>
          </a:effectLst>
        </p:spPr>
      </p:sp>
      <p:sp>
        <p:nvSpPr>
          <p:cNvPr id="26" name="Shape 24"/>
          <p:cNvSpPr/>
          <p:nvPr/>
        </p:nvSpPr>
        <p:spPr>
          <a:xfrm>
            <a:off x="6766560" y="2688336"/>
            <a:ext cx="64008" cy="566928"/>
          </a:xfrm>
          <a:prstGeom prst="rect">
            <a:avLst/>
          </a:prstGeom>
          <a:solidFill>
            <a:srgbClr val="02C39A"/>
          </a:solidFill>
          <a:ln w="12700">
            <a:solidFill>
              <a:srgbClr val="02C39A"/>
            </a:solidFill>
            <a:prstDash val="solid"/>
          </a:ln>
        </p:spPr>
      </p:sp>
      <p:sp>
        <p:nvSpPr>
          <p:cNvPr id="27" name="Text 25"/>
          <p:cNvSpPr/>
          <p:nvPr/>
        </p:nvSpPr>
        <p:spPr>
          <a:xfrm>
            <a:off x="6903720" y="2688336"/>
            <a:ext cx="1737360" cy="566928"/>
          </a:xfrm>
          <a:prstGeom prst="rect">
            <a:avLst/>
          </a:prstGeom>
          <a:noFill/>
          <a:ln/>
        </p:spPr>
        <p:txBody>
          <a:bodyPr wrap="square" lIns="76200" tIns="76200" rIns="76200" bIns="76200" rtlCol="0" anchor="ctr"/>
          <a:lstStyle/>
          <a:p>
            <a:pPr algn="l" indent="0" marL="0">
              <a:buNone/>
            </a:pPr>
            <a:r>
              <a:rPr lang="en-US" sz="1300" b="1" dirty="0">
                <a:solidFill>
                  <a:srgbClr val="0D1B2A"/>
                </a:solidFill>
                <a:latin typeface="Calibri" pitchFamily="34" charset="0"/>
                <a:ea typeface="Calibri" pitchFamily="34" charset="-122"/>
                <a:cs typeface="Calibri" pitchFamily="34" charset="-120"/>
              </a:rPr>
              <a:t>IDB</a:t>
            </a:r>
            <a:endParaRPr lang="en-US" sz="1300" dirty="0"/>
          </a:p>
        </p:txBody>
      </p:sp>
    </p:spTree>
  </p:cSld>
  <p:clrMapOvr>
    <a:masterClrMapping/>
  </p:clrMapOvr>
  <p:transition spd="med" advClick="1" advTm="0">
    <p:fade/>
  </p:transition>
  <p:timing>
    <p:tnLst>
      <p:par>
        <p:cTn id="3000" dur="indefin" restart="whenNotActive" nodeType="tmRoot">
          <p:childTnLst>
            <p:par>
              <p:cTn id="3001" fill="hold" nodeType="mainSeq">
                <p:stCondLst>
                  <p:cond delay="indefin"/>
                </p:stCondLst>
                <p:childTnLst>
                  <p:par>
                    <p:cTn id="3002" fill="hold">
                      <p:stCondLst>
                        <p:cond delay="0"/>
                      </p:stCondLst>
                      <p:childTnLst>
                        <p:par>
                          <p:cTn id="201" grpId="0" nodeType="withPrev">
                            <p:stCondLst>
                              <p:cond delay="0"/>
                            </p:stCondLst>
                            <p:childTnLst>
                              <p:set>
                                <p:cBhvr>
                                  <p:cTn id="202" dur="1" fill="hold"/>
                                  <p:tgtEl>
                                    <p:spTgt spid="2"/>
                                  </p:tgtEl>
                                  <p:attrNameLst>
                                    <p:attrName>style.visibility</p:attrName>
                                  </p:attrNameLst>
                                </p:cBhvr>
                                <p:to>
                                  <p:strVal val="visible"/>
                                </p:to>
                              </p:set>
                              <p:animEffect transition="in" filter="fade">
                                <p:cBhvr>
                                  <p:cTn id="203" dur="500" fill="hold"/>
                                  <p:tgtEl>
                                    <p:spTgt spid="2"/>
                                  </p:tgtEl>
                                </p:cBhvr>
                              </p:animEffect>
                            </p:childTnLst>
                          </p:cTn>
                        </p:par>
                        <p:par>
                          <p:cTn id="301" grpId="0" nodeType="withPrev">
                            <p:stCondLst>
                              <p:cond delay="0"/>
                            </p:stCondLst>
                            <p:childTnLst>
                              <p:set>
                                <p:cBhvr>
                                  <p:cTn id="302" dur="1" fill="hold"/>
                                  <p:tgtEl>
                                    <p:spTgt spid="3"/>
                                  </p:tgtEl>
                                  <p:attrNameLst>
                                    <p:attrName>style.visibility</p:attrName>
                                  </p:attrNameLst>
                                </p:cBhvr>
                                <p:to>
                                  <p:strVal val="visible"/>
                                </p:to>
                              </p:set>
                              <p:animEffect transition="in" filter="fade">
                                <p:cBhvr>
                                  <p:cTn id="303" dur="500" fill="hold"/>
                                  <p:tgtEl>
                                    <p:spTgt spid="3"/>
                                  </p:tgtEl>
                                </p:cBhvr>
                              </p:animEffect>
                            </p:childTnLst>
                          </p:cTn>
                        </p:par>
                        <p:par>
                          <p:cTn id="401" grpId="0" nodeType="withPrev">
                            <p:stCondLst>
                              <p:cond delay="0"/>
                            </p:stCondLst>
                            <p:childTnLst>
                              <p:set>
                                <p:cBhvr>
                                  <p:cTn id="402" dur="1" fill="hold"/>
                                  <p:tgtEl>
                                    <p:spTgt spid="4"/>
                                  </p:tgtEl>
                                  <p:attrNameLst>
                                    <p:attrName>style.visibility</p:attrName>
                                  </p:attrNameLst>
                                </p:cBhvr>
                                <p:to>
                                  <p:strVal val="visible"/>
                                </p:to>
                              </p:set>
                              <p:animEffect transition="in" filter="fade">
                                <p:cBhvr>
                                  <p:cTn id="403" dur="500" fill="hold"/>
                                  <p:tgtEl>
                                    <p:spTgt spid="4"/>
                                  </p:tgtEl>
                                </p:cBhvr>
                              </p:animEffect>
                            </p:childTnLst>
                          </p:cTn>
                        </p:par>
                        <p:par>
                          <p:cTn id="501" grpId="0" nodeType="withPrev">
                            <p:stCondLst>
                              <p:cond delay="300"/>
                            </p:stCondLst>
                            <p:childTnLst>
                              <p:set>
                                <p:cBhvr>
                                  <p:cTn id="502" dur="1" fill="hold"/>
                                  <p:tgtEl>
                                    <p:spTgt spid="5"/>
                                  </p:tgtEl>
                                  <p:attrNameLst>
                                    <p:attrName>style.visibility</p:attrName>
                                  </p:attrNameLst>
                                </p:cBhvr>
                                <p:to>
                                  <p:strVal val="visible"/>
                                </p:to>
                              </p:set>
                              <p:animEffect transition="in" filter="wipe(up)">
                                <p:cBhvr>
                                  <p:cTn id="503" dur="400" fill="hold"/>
                                  <p:tgtEl>
                                    <p:spTgt spid="5"/>
                                  </p:tgtEl>
                                </p:cBhvr>
                              </p:animEffect>
                            </p:childTnLst>
                          </p:cTn>
                        </p:par>
                        <p:par>
                          <p:cTn id="601" grpId="0" nodeType="withPrev">
                            <p:stCondLst>
                              <p:cond delay="300"/>
                            </p:stCondLst>
                            <p:childTnLst>
                              <p:set>
                                <p:cBhvr>
                                  <p:cTn id="602" dur="1" fill="hold"/>
                                  <p:tgtEl>
                                    <p:spTgt spid="6"/>
                                  </p:tgtEl>
                                  <p:attrNameLst>
                                    <p:attrName>style.visibility</p:attrName>
                                  </p:attrNameLst>
                                </p:cBhvr>
                                <p:to>
                                  <p:strVal val="visible"/>
                                </p:to>
                              </p:set>
                              <p:animEffect transition="in" filter="wipe(up)">
                                <p:cBhvr>
                                  <p:cTn id="603" dur="400" fill="hold"/>
                                  <p:tgtEl>
                                    <p:spTgt spid="6"/>
                                  </p:tgtEl>
                                </p:cBhvr>
                              </p:animEffect>
                            </p:childTnLst>
                          </p:cTn>
                        </p:par>
                        <p:par>
                          <p:cTn id="701" grpId="0" nodeType="withPrev">
                            <p:stCondLst>
                              <p:cond delay="500"/>
                            </p:stCondLst>
                            <p:childTnLst>
                              <p:set>
                                <p:cBhvr>
                                  <p:cTn id="702" dur="1" fill="hold"/>
                                  <p:tgtEl>
                                    <p:spTgt spid="7"/>
                                  </p:tgtEl>
                                  <p:attrNameLst>
                                    <p:attrName>style.visibility</p:attrName>
                                  </p:attrNameLst>
                                </p:cBhvr>
                                <p:to>
                                  <p:strVal val="visible"/>
                                </p:to>
                              </p:set>
                              <p:animEffect transition="in" filter="wipe(up)">
                                <p:cBhvr>
                                  <p:cTn id="703" dur="400" fill="hold"/>
                                  <p:tgtEl>
                                    <p:spTgt spid="7"/>
                                  </p:tgtEl>
                                </p:cBhvr>
                              </p:animEffect>
                            </p:childTnLst>
                          </p:cTn>
                        </p:par>
                        <p:par>
                          <p:cTn id="801" grpId="0" nodeType="withPrev">
                            <p:stCondLst>
                              <p:cond delay="700"/>
                            </p:stCondLst>
                            <p:childTnLst>
                              <p:set>
                                <p:cBhvr>
                                  <p:cTn id="802" dur="1" fill="hold"/>
                                  <p:tgtEl>
                                    <p:spTgt spid="8"/>
                                  </p:tgtEl>
                                  <p:attrNameLst>
                                    <p:attrName>style.visibility</p:attrName>
                                  </p:attrNameLst>
                                </p:cBhvr>
                                <p:to>
                                  <p:strVal val="visible"/>
                                </p:to>
                              </p:set>
                              <p:animEffect transition="in" filter="wipe(up)">
                                <p:cBhvr>
                                  <p:cTn id="803" dur="400" fill="hold"/>
                                  <p:tgtEl>
                                    <p:spTgt spid="8"/>
                                  </p:tgtEl>
                                </p:cBhvr>
                              </p:animEffect>
                            </p:childTnLst>
                          </p:cTn>
                        </p:par>
                        <p:par>
                          <p:cTn id="901" grpId="0" nodeType="withPrev">
                            <p:stCondLst>
                              <p:cond delay="700"/>
                            </p:stCondLst>
                            <p:childTnLst>
                              <p:set>
                                <p:cBhvr>
                                  <p:cTn id="902" dur="1" fill="hold"/>
                                  <p:tgtEl>
                                    <p:spTgt spid="9"/>
                                  </p:tgtEl>
                                  <p:attrNameLst>
                                    <p:attrName>style.visibility</p:attrName>
                                  </p:attrNameLst>
                                </p:cBhvr>
                                <p:to>
                                  <p:strVal val="visible"/>
                                </p:to>
                              </p:set>
                              <p:animEffect transition="in" filter="wipe(up)">
                                <p:cBhvr>
                                  <p:cTn id="903" dur="400" fill="hold"/>
                                  <p:tgtEl>
                                    <p:spTgt spid="9"/>
                                  </p:tgtEl>
                                </p:cBhvr>
                              </p:animEffect>
                            </p:childTnLst>
                          </p:cTn>
                        </p:par>
                        <p:par>
                          <p:cTn id="1001" grpId="0" nodeType="withPrev">
                            <p:stCondLst>
                              <p:cond delay="900"/>
                            </p:stCondLst>
                            <p:childTnLst>
                              <p:set>
                                <p:cBhvr>
                                  <p:cTn id="1002" dur="1" fill="hold"/>
                                  <p:tgtEl>
                                    <p:spTgt spid="10"/>
                                  </p:tgtEl>
                                  <p:attrNameLst>
                                    <p:attrName>style.visibility</p:attrName>
                                  </p:attrNameLst>
                                </p:cBhvr>
                                <p:to>
                                  <p:strVal val="visible"/>
                                </p:to>
                              </p:set>
                              <p:animEffect transition="in" filter="wipe(up)">
                                <p:cBhvr>
                                  <p:cTn id="1003" dur="400" fill="hold"/>
                                  <p:tgtEl>
                                    <p:spTgt spid="10"/>
                                  </p:tgtEl>
                                </p:cBhvr>
                              </p:animEffect>
                            </p:childTnLst>
                          </p:cTn>
                        </p:par>
                        <p:par>
                          <p:cTn id="1101" grpId="0" nodeType="withPrev">
                            <p:stCondLst>
                              <p:cond delay="1100"/>
                            </p:stCondLst>
                            <p:childTnLst>
                              <p:set>
                                <p:cBhvr>
                                  <p:cTn id="1102" dur="1" fill="hold"/>
                                  <p:tgtEl>
                                    <p:spTgt spid="11"/>
                                  </p:tgtEl>
                                  <p:attrNameLst>
                                    <p:attrName>style.visibility</p:attrName>
                                  </p:attrNameLst>
                                </p:cBhvr>
                                <p:to>
                                  <p:strVal val="visible"/>
                                </p:to>
                              </p:set>
                              <p:animEffect transition="in" filter="wipe(up)">
                                <p:cBhvr>
                                  <p:cTn id="1103" dur="400" fill="hold"/>
                                  <p:tgtEl>
                                    <p:spTgt spid="11"/>
                                  </p:tgtEl>
                                </p:cBhvr>
                              </p:animEffect>
                            </p:childTnLst>
                          </p:cTn>
                        </p:par>
                        <p:par>
                          <p:cTn id="1201" grpId="0" nodeType="withPrev">
                            <p:stCondLst>
                              <p:cond delay="1100"/>
                            </p:stCondLst>
                            <p:childTnLst>
                              <p:set>
                                <p:cBhvr>
                                  <p:cTn id="1202" dur="1" fill="hold"/>
                                  <p:tgtEl>
                                    <p:spTgt spid="12"/>
                                  </p:tgtEl>
                                  <p:attrNameLst>
                                    <p:attrName>style.visibility</p:attrName>
                                  </p:attrNameLst>
                                </p:cBhvr>
                                <p:to>
                                  <p:strVal val="visible"/>
                                </p:to>
                              </p:set>
                              <p:animEffect transition="in" filter="wipe(up)">
                                <p:cBhvr>
                                  <p:cTn id="1203" dur="400" fill="hold"/>
                                  <p:tgtEl>
                                    <p:spTgt spid="12"/>
                                  </p:tgtEl>
                                </p:cBhvr>
                              </p:animEffect>
                            </p:childTnLst>
                          </p:cTn>
                        </p:par>
                        <p:par>
                          <p:cTn id="1301" grpId="0" nodeType="withPrev">
                            <p:stCondLst>
                              <p:cond delay="1100"/>
                            </p:stCondLst>
                            <p:childTnLst>
                              <p:set>
                                <p:cBhvr>
                                  <p:cTn id="1302" dur="1" fill="hold"/>
                                  <p:tgtEl>
                                    <p:spTgt spid="13"/>
                                  </p:tgtEl>
                                  <p:attrNameLst>
                                    <p:attrName>style.visibility</p:attrName>
                                  </p:attrNameLst>
                                </p:cBhvr>
                                <p:to>
                                  <p:strVal val="visible"/>
                                </p:to>
                              </p:set>
                              <p:animEffect transition="in" filter="wipe(up)">
                                <p:cBhvr>
                                  <p:cTn id="1303" dur="400" fill="hold"/>
                                  <p:tgtEl>
                                    <p:spTgt spid="13"/>
                                  </p:tgtEl>
                                </p:cBhvr>
                              </p:animEffect>
                            </p:childTnLst>
                          </p:cTn>
                        </p:par>
                        <p:par>
                          <p:cTn id="1401" grpId="0" nodeType="withPrev">
                            <p:stCondLst>
                              <p:cond delay="1300"/>
                            </p:stCondLst>
                            <p:childTnLst>
                              <p:set>
                                <p:cBhvr>
                                  <p:cTn id="1402" dur="1" fill="hold"/>
                                  <p:tgtEl>
                                    <p:spTgt spid="14"/>
                                  </p:tgtEl>
                                  <p:attrNameLst>
                                    <p:attrName>style.visibility</p:attrName>
                                  </p:attrNameLst>
                                </p:cBhvr>
                                <p:to>
                                  <p:strVal val="visible"/>
                                </p:to>
                              </p:set>
                              <p:animEffect transition="in" filter="fade">
                                <p:cBhvr>
                                  <p:cTn id="1403" dur="500" fill="hold"/>
                                  <p:tgtEl>
                                    <p:spTgt spid="14"/>
                                  </p:tgtEl>
                                </p:cBhvr>
                              </p:animEffect>
                            </p:childTnLst>
                          </p:cTn>
                        </p:par>
                        <p:par>
                          <p:cTn id="1501" grpId="0" nodeType="withPrev">
                            <p:stCondLst>
                              <p:cond delay="1300"/>
                            </p:stCondLst>
                            <p:childTnLst>
                              <p:set>
                                <p:cBhvr>
                                  <p:cTn id="1502" dur="1" fill="hold"/>
                                  <p:tgtEl>
                                    <p:spTgt spid="15"/>
                                  </p:tgtEl>
                                  <p:attrNameLst>
                                    <p:attrName>style.visibility</p:attrName>
                                  </p:attrNameLst>
                                </p:cBhvr>
                                <p:to>
                                  <p:strVal val="visible"/>
                                </p:to>
                              </p:set>
                              <p:animEffect transition="in" filter="fade">
                                <p:cBhvr>
                                  <p:cTn id="1503" dur="500" fill="hold"/>
                                  <p:tgtEl>
                                    <p:spTgt spid="15"/>
                                  </p:tgtEl>
                                </p:cBhvr>
                              </p:animEffect>
                            </p:childTnLst>
                          </p:cTn>
                        </p:par>
                        <p:par>
                          <p:cTn id="1601" grpId="0" nodeType="withPrev">
                            <p:stCondLst>
                              <p:cond delay="1300"/>
                            </p:stCondLst>
                            <p:childTnLst>
                              <p:set>
                                <p:cBhvr>
                                  <p:cTn id="1602" dur="1" fill="hold"/>
                                  <p:tgtEl>
                                    <p:spTgt spid="16"/>
                                  </p:tgtEl>
                                  <p:attrNameLst>
                                    <p:attrName>style.visibility</p:attrName>
                                  </p:attrNameLst>
                                </p:cBhvr>
                                <p:to>
                                  <p:strVal val="visible"/>
                                </p:to>
                              </p:set>
                              <p:animEffect transition="in" filter="fade">
                                <p:cBhvr>
                                  <p:cTn id="1603" dur="500" fill="hold"/>
                                  <p:tgtEl>
                                    <p:spTgt spid="16"/>
                                  </p:tgtEl>
                                </p:cBhvr>
                              </p:animEffect>
                            </p:childTnLst>
                          </p:cTn>
                        </p:par>
                        <p:par>
                          <p:cTn id="1701" grpId="0" nodeType="withPrev">
                            <p:stCondLst>
                              <p:cond delay="1500"/>
                            </p:stCondLst>
                            <p:childTnLst>
                              <p:set>
                                <p:cBhvr>
                                  <p:cTn id="1702" dur="1" fill="hold"/>
                                  <p:tgtEl>
                                    <p:spTgt spid="17"/>
                                  </p:tgtEl>
                                  <p:attrNameLst>
                                    <p:attrName>style.visibility</p:attrName>
                                  </p:attrNameLst>
                                </p:cBhvr>
                                <p:to>
                                  <p:strVal val="visible"/>
                                </p:to>
                              </p:set>
                              <p:animEffect transition="in" filter="wipe(up)">
                                <p:cBhvr>
                                  <p:cTn id="1703" dur="400" fill="hold"/>
                                  <p:tgtEl>
                                    <p:spTgt spid="17"/>
                                  </p:tgtEl>
                                </p:cBhvr>
                              </p:animEffect>
                            </p:childTnLst>
                          </p:cTn>
                        </p:par>
                        <p:par>
                          <p:cTn id="1801" grpId="0" nodeType="withPrev">
                            <p:stCondLst>
                              <p:cond delay="1500"/>
                            </p:stCondLst>
                            <p:childTnLst>
                              <p:set>
                                <p:cBhvr>
                                  <p:cTn id="1802" dur="1" fill="hold"/>
                                  <p:tgtEl>
                                    <p:spTgt spid="18"/>
                                  </p:tgtEl>
                                  <p:attrNameLst>
                                    <p:attrName>style.visibility</p:attrName>
                                  </p:attrNameLst>
                                </p:cBhvr>
                                <p:to>
                                  <p:strVal val="visible"/>
                                </p:to>
                              </p:set>
                              <p:animEffect transition="in" filter="wipe(up)">
                                <p:cBhvr>
                                  <p:cTn id="1803" dur="400" fill="hold"/>
                                  <p:tgtEl>
                                    <p:spTgt spid="18"/>
                                  </p:tgtEl>
                                </p:cBhvr>
                              </p:animEffect>
                            </p:childTnLst>
                          </p:cTn>
                        </p:par>
                        <p:par>
                          <p:cTn id="1901" grpId="0" nodeType="withPrev">
                            <p:stCondLst>
                              <p:cond delay="1700"/>
                            </p:stCondLst>
                            <p:childTnLst>
                              <p:set>
                                <p:cBhvr>
                                  <p:cTn id="1902" dur="1" fill="hold"/>
                                  <p:tgtEl>
                                    <p:spTgt spid="19"/>
                                  </p:tgtEl>
                                  <p:attrNameLst>
                                    <p:attrName>style.visibility</p:attrName>
                                  </p:attrNameLst>
                                </p:cBhvr>
                                <p:to>
                                  <p:strVal val="visible"/>
                                </p:to>
                              </p:set>
                              <p:animEffect transition="in" filter="wipe(up)">
                                <p:cBhvr>
                                  <p:cTn id="1903" dur="400" fill="hold"/>
                                  <p:tgtEl>
                                    <p:spTgt spid="19"/>
                                  </p:tgtEl>
                                </p:cBhvr>
                              </p:animEffect>
                            </p:childTnLst>
                          </p:cTn>
                        </p:par>
                        <p:par>
                          <p:cTn id="2001" grpId="0" nodeType="withPrev">
                            <p:stCondLst>
                              <p:cond delay="1700"/>
                            </p:stCondLst>
                            <p:childTnLst>
                              <p:set>
                                <p:cBhvr>
                                  <p:cTn id="2002" dur="1" fill="hold"/>
                                  <p:tgtEl>
                                    <p:spTgt spid="20"/>
                                  </p:tgtEl>
                                  <p:attrNameLst>
                                    <p:attrName>style.visibility</p:attrName>
                                  </p:attrNameLst>
                                </p:cBhvr>
                                <p:to>
                                  <p:strVal val="visible"/>
                                </p:to>
                              </p:set>
                              <p:animEffect transition="in" filter="wipe(up)">
                                <p:cBhvr>
                                  <p:cTn id="2003" dur="400" fill="hold"/>
                                  <p:tgtEl>
                                    <p:spTgt spid="20"/>
                                  </p:tgtEl>
                                </p:cBhvr>
                              </p:animEffect>
                            </p:childTnLst>
                          </p:cTn>
                        </p:par>
                      </p:childTnLst>
                    </p:cTn>
                  </p:par>
                </p:childTnLst>
              </p:cTn>
            </p:par>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Configuration: INI File Example</a:t>
            </a:r>
            <a:endParaRPr lang="en-US" sz="2200" dirty="0"/>
          </a:p>
        </p:txBody>
      </p:sp>
      <p:sp>
        <p:nvSpPr>
          <p:cNvPr id="5" name="Text 3"/>
          <p:cNvSpPr/>
          <p:nvPr/>
        </p:nvSpPr>
        <p:spPr>
          <a:xfrm>
            <a:off x="457200" y="1005840"/>
            <a:ext cx="8229600" cy="365760"/>
          </a:xfrm>
          <a:prstGeom prst="rect">
            <a:avLst/>
          </a:prstGeom>
          <a:noFill/>
          <a:ln/>
        </p:spPr>
        <p:txBody>
          <a:bodyPr wrap="square" rtlCol="0" anchor="ctr"/>
          <a:lstStyle/>
          <a:p>
            <a:pPr indent="0" marL="0">
              <a:buNone/>
            </a:pPr>
            <a:r>
              <a:rPr lang="en-US" sz="1500" b="1" dirty="0">
                <a:solidFill>
                  <a:srgbClr val="0E5C7A"/>
                </a:solidFill>
                <a:latin typeface="Calibri" pitchFamily="34" charset="0"/>
                <a:ea typeface="Calibri" pitchFamily="34" charset="-122"/>
                <a:cs typeface="Calibri" pitchFamily="34" charset="-120"/>
              </a:rPr>
              <a:t>SG_dataStreamClientFieldMapping.ini</a:t>
            </a:r>
            <a:endParaRPr lang="en-US" sz="1500" dirty="0"/>
          </a:p>
        </p:txBody>
      </p:sp>
      <p:sp>
        <p:nvSpPr>
          <p:cNvPr id="6" name="Shape 4"/>
          <p:cNvSpPr/>
          <p:nvPr/>
        </p:nvSpPr>
        <p:spPr>
          <a:xfrm>
            <a:off x="457200" y="1417320"/>
            <a:ext cx="8229600" cy="3017520"/>
          </a:xfrm>
          <a:prstGeom prst="rect">
            <a:avLst/>
          </a:prstGeom>
          <a:solidFill>
            <a:srgbClr val="1E2D3D"/>
          </a:solidFill>
          <a:ln w="12700">
            <a:solidFill>
              <a:srgbClr val="1B7FA6"/>
            </a:solidFill>
            <a:prstDash val="solid"/>
          </a:ln>
        </p:spPr>
      </p:sp>
      <p:sp>
        <p:nvSpPr>
          <p:cNvPr id="7" name="Text 5"/>
          <p:cNvSpPr/>
          <p:nvPr/>
        </p:nvSpPr>
        <p:spPr>
          <a:xfrm>
            <a:off x="640080" y="1508760"/>
            <a:ext cx="7863840" cy="2834640"/>
          </a:xfrm>
          <a:prstGeom prst="rect">
            <a:avLst/>
          </a:prstGeom>
          <a:noFill/>
          <a:ln/>
        </p:spPr>
        <p:txBody>
          <a:bodyPr wrap="square" lIns="101600" tIns="101600" rIns="101600" bIns="101600" rtlCol="0" anchor="t"/>
          <a:lstStyle/>
          <a:p>
            <a:pPr indent="0" marL="0">
              <a:buNone/>
            </a:pPr>
            <a:r>
              <a:rPr lang="en-US" sz="1200" i="1" dirty="0">
                <a:solidFill>
                  <a:srgbClr val="64748B"/>
                </a:solidFill>
                <a:latin typeface="Consolas" pitchFamily="34" charset="0"/>
                <a:ea typeface="Consolas" pitchFamily="34" charset="-122"/>
                <a:cs typeface="Consolas" pitchFamily="34" charset="-120"/>
              </a:rPr>
              <a:t># Data Stream Client Field Mapping Configuration
</a:t>
            </a:r>
            <a:pPr indent="0" marL="0">
              <a:buNone/>
            </a:pPr>
            <a:r>
              <a:rPr lang="en-US" sz="1200" b="1" dirty="0">
                <a:solidFill>
                  <a:srgbClr val="02C39A"/>
                </a:solidFill>
                <a:latin typeface="Consolas" pitchFamily="34" charset="0"/>
                <a:ea typeface="Consolas" pitchFamily="34" charset="-122"/>
                <a:cs typeface="Consolas" pitchFamily="34" charset="-120"/>
              </a:rPr>
              <a:t>[DataStream_Demo]
</a:t>
            </a:r>
            <a:pPr indent="0" marL="0">
              <a:buNone/>
            </a:pPr>
            <a:r>
              <a:rPr lang="en-US" sz="1200" dirty="0">
                <a:solidFill>
                  <a:srgbClr val="CBD5E1"/>
                </a:solidFill>
                <a:latin typeface="Consolas" pitchFamily="34" charset="0"/>
                <a:ea typeface="Consolas" pitchFamily="34" charset="-122"/>
                <a:cs typeface="Consolas" pitchFamily="34" charset="-120"/>
              </a:rPr>
              <a:t xml:space="preserve">clientField_1 = </a:t>
            </a:r>
            <a:pPr indent="0" marL="0">
              <a:buNone/>
            </a:pPr>
            <a:r>
              <a:rPr lang="en-US" sz="1200" dirty="0">
                <a:solidFill>
                  <a:srgbClr val="FFFFFF"/>
                </a:solidFill>
                <a:latin typeface="Consolas" pitchFamily="34" charset="0"/>
                <a:ea typeface="Consolas" pitchFamily="34" charset="-122"/>
                <a:cs typeface="Consolas" pitchFamily="34" charset="-120"/>
              </a:rPr>
              <a:t>rootingIndicator
</a:t>
            </a:r>
            <a:pPr indent="0" marL="0">
              <a:buNone/>
            </a:pPr>
            <a:r>
              <a:rPr lang="en-US" sz="1200" dirty="0">
                <a:solidFill>
                  <a:srgbClr val="CBD5E1"/>
                </a:solidFill>
                <a:latin typeface="Consolas" pitchFamily="34" charset="0"/>
                <a:ea typeface="Consolas" pitchFamily="34" charset="-122"/>
                <a:cs typeface="Consolas" pitchFamily="34" charset="-120"/>
              </a:rPr>
              <a:t xml:space="preserve">clientField_2 = </a:t>
            </a:r>
            <a:pPr indent="0" marL="0">
              <a:buNone/>
            </a:pPr>
            <a:r>
              <a:rPr lang="en-US" sz="1200" dirty="0">
                <a:solidFill>
                  <a:srgbClr val="FFFFFF"/>
                </a:solidFill>
                <a:latin typeface="Consolas" pitchFamily="34" charset="0"/>
                <a:ea typeface="Consolas" pitchFamily="34" charset="-122"/>
                <a:cs typeface="Consolas" pitchFamily="34" charset="-120"/>
              </a:rPr>
              <a:t>malwareIndicator
</a:t>
            </a:r>
            <a:pPr indent="0" marL="0">
              <a:buNone/>
            </a:pPr>
            <a:r>
              <a:rPr lang="en-US" sz="1200" dirty="0">
                <a:solidFill>
                  <a:srgbClr val="CBD5E1"/>
                </a:solidFill>
                <a:latin typeface="Consolas" pitchFamily="34" charset="0"/>
                <a:ea typeface="Consolas" pitchFamily="34" charset="-122"/>
                <a:cs typeface="Consolas" pitchFamily="34" charset="-120"/>
              </a:rPr>
              <a:t xml:space="preserve">clientField_3 = </a:t>
            </a:r>
            <a:pPr indent="0" marL="0">
              <a:buNone/>
            </a:pPr>
            <a:r>
              <a:rPr lang="en-US" sz="1200" dirty="0">
                <a:solidFill>
                  <a:srgbClr val="FFFFFF"/>
                </a:solidFill>
                <a:latin typeface="Consolas" pitchFamily="34" charset="0"/>
                <a:ea typeface="Consolas" pitchFamily="34" charset="-122"/>
                <a:cs typeface="Consolas" pitchFamily="34" charset="-120"/>
              </a:rPr>
              <a:t>deviceID
</a:t>
            </a:r>
            <a:pPr indent="0" marL="0">
              <a:buNone/>
            </a:pPr>
            <a:r>
              <a:rPr lang="en-US" sz="1200" b="1" dirty="0">
                <a:solidFill>
                  <a:srgbClr val="02C39A"/>
                </a:solidFill>
                <a:latin typeface="Consolas" pitchFamily="34" charset="0"/>
                <a:ea typeface="Consolas" pitchFamily="34" charset="-122"/>
                <a:cs typeface="Consolas" pitchFamily="34" charset="-120"/>
              </a:rPr>
              <a:t>[DataStream_Auth]
</a:t>
            </a:r>
            <a:pPr indent="0" marL="0">
              <a:buNone/>
            </a:pPr>
            <a:r>
              <a:rPr lang="en-US" sz="1200" dirty="0">
                <a:solidFill>
                  <a:srgbClr val="CBD5E1"/>
                </a:solidFill>
                <a:latin typeface="Consolas" pitchFamily="34" charset="0"/>
                <a:ea typeface="Consolas" pitchFamily="34" charset="-122"/>
                <a:cs typeface="Consolas" pitchFamily="34" charset="-120"/>
              </a:rPr>
              <a:t xml:space="preserve">clientField_1 = </a:t>
            </a:r>
            <a:pPr indent="0" marL="0">
              <a:buNone/>
            </a:pPr>
            <a:r>
              <a:rPr lang="en-US" sz="1200" dirty="0">
                <a:solidFill>
                  <a:srgbClr val="FFFFFF"/>
                </a:solidFill>
                <a:latin typeface="Consolas" pitchFamily="34" charset="0"/>
                <a:ea typeface="Consolas" pitchFamily="34" charset="-122"/>
                <a:cs typeface="Consolas" pitchFamily="34" charset="-120"/>
              </a:rPr>
              <a:t>userID
</a:t>
            </a:r>
            <a:pPr indent="0" marL="0">
              <a:buNone/>
            </a:pPr>
            <a:r>
              <a:rPr lang="en-US" sz="1200" dirty="0">
                <a:solidFill>
                  <a:srgbClr val="CBD5E1"/>
                </a:solidFill>
                <a:latin typeface="Consolas" pitchFamily="34" charset="0"/>
                <a:ea typeface="Consolas" pitchFamily="34" charset="-122"/>
                <a:cs typeface="Consolas" pitchFamily="34" charset="-120"/>
              </a:rPr>
              <a:t xml:space="preserve">clientField_2 = </a:t>
            </a:r>
            <a:pPr indent="0" marL="0">
              <a:buNone/>
            </a:pPr>
            <a:r>
              <a:rPr lang="en-US" sz="1200" dirty="0">
                <a:solidFill>
                  <a:srgbClr val="FFFFFF"/>
                </a:solidFill>
                <a:latin typeface="Consolas" pitchFamily="34" charset="0"/>
                <a:ea typeface="Consolas" pitchFamily="34" charset="-122"/>
                <a:cs typeface="Consolas" pitchFamily="34" charset="-120"/>
              </a:rPr>
              <a:t>sessionID
</a:t>
            </a:r>
            <a:endParaRPr lang="en-US" sz="1200" dirty="0"/>
          </a:p>
        </p:txBody>
      </p:sp>
    </p:spTree>
  </p:cSld>
  <p:clrMapOvr>
    <a:masterClrMapping/>
  </p:clrMapOvr>
  <p:transition spd="med" advClick="1" advTm="0">
    <p:fade/>
  </p:transition>
  <p:timing>
    <p:tnLst>
      <p:par>
        <p:cTn id="4000" dur="indefin" restart="whenNotActive" nodeType="tmRoot">
          <p:childTnLst>
            <p:par>
              <p:cTn id="4001" fill="hold" nodeType="mainSeq">
                <p:stCondLst>
                  <p:cond delay="indefin"/>
                </p:stCondLst>
                <p:childTnLst>
                  <p:par>
                    <p:cTn id="4002" fill="hold">
                      <p:stCondLst>
                        <p:cond delay="0"/>
                      </p:stCondLst>
                      <p:childTnLst>
                        <p:par>
                          <p:cTn id="201" grpId="0" nodeType="withPrev">
                            <p:stCondLst>
                              <p:cond delay="0"/>
                            </p:stCondLst>
                            <p:childTnLst>
                              <p:set>
                                <p:cBhvr>
                                  <p:cTn id="202" dur="1" fill="hold"/>
                                  <p:tgtEl>
                                    <p:spTgt spid="2"/>
                                  </p:tgtEl>
                                  <p:attrNameLst>
                                    <p:attrName>style.visibility</p:attrName>
                                  </p:attrNameLst>
                                </p:cBhvr>
                                <p:to>
                                  <p:strVal val="visible"/>
                                </p:to>
                              </p:set>
                              <p:animEffect transition="in" filter="fade">
                                <p:cBhvr>
                                  <p:cTn id="203" dur="500" fill="hold"/>
                                  <p:tgtEl>
                                    <p:spTgt spid="2"/>
                                  </p:tgtEl>
                                </p:cBhvr>
                              </p:animEffect>
                            </p:childTnLst>
                          </p:cTn>
                        </p:par>
                        <p:par>
                          <p:cTn id="301" grpId="0" nodeType="withPrev">
                            <p:stCondLst>
                              <p:cond delay="0"/>
                            </p:stCondLst>
                            <p:childTnLst>
                              <p:set>
                                <p:cBhvr>
                                  <p:cTn id="302" dur="1" fill="hold"/>
                                  <p:tgtEl>
                                    <p:spTgt spid="3"/>
                                  </p:tgtEl>
                                  <p:attrNameLst>
                                    <p:attrName>style.visibility</p:attrName>
                                  </p:attrNameLst>
                                </p:cBhvr>
                                <p:to>
                                  <p:strVal val="visible"/>
                                </p:to>
                              </p:set>
                              <p:animEffect transition="in" filter="fade">
                                <p:cBhvr>
                                  <p:cTn id="303" dur="500" fill="hold"/>
                                  <p:tgtEl>
                                    <p:spTgt spid="3"/>
                                  </p:tgtEl>
                                </p:cBhvr>
                              </p:animEffect>
                            </p:childTnLst>
                          </p:cTn>
                        </p:par>
                        <p:par>
                          <p:cTn id="401" grpId="0" nodeType="withPrev">
                            <p:stCondLst>
                              <p:cond delay="0"/>
                            </p:stCondLst>
                            <p:childTnLst>
                              <p:set>
                                <p:cBhvr>
                                  <p:cTn id="402" dur="1" fill="hold"/>
                                  <p:tgtEl>
                                    <p:spTgt spid="4"/>
                                  </p:tgtEl>
                                  <p:attrNameLst>
                                    <p:attrName>style.visibility</p:attrName>
                                  </p:attrNameLst>
                                </p:cBhvr>
                                <p:to>
                                  <p:strVal val="visible"/>
                                </p:to>
                              </p:set>
                              <p:animEffect transition="in" filter="fade">
                                <p:cBhvr>
                                  <p:cTn id="403" dur="500" fill="hold"/>
                                  <p:tgtEl>
                                    <p:spTgt spid="4"/>
                                  </p:tgtEl>
                                </p:cBhvr>
                              </p:animEffect>
                            </p:childTnLst>
                          </p:cTn>
                        </p:par>
                        <p:par>
                          <p:cTn id="501" grpId="0" nodeType="withPrev">
                            <p:stCondLst>
                              <p:cond delay="300"/>
                            </p:stCondLst>
                            <p:childTnLst>
                              <p:set>
                                <p:cBhvr>
                                  <p:cTn id="502" dur="1" fill="hold"/>
                                  <p:tgtEl>
                                    <p:spTgt spid="5"/>
                                  </p:tgtEl>
                                  <p:attrNameLst>
                                    <p:attrName>style.visibility</p:attrName>
                                  </p:attrNameLst>
                                </p:cBhvr>
                                <p:to>
                                  <p:strVal val="visible"/>
                                </p:to>
                              </p:set>
                              <p:animEffect transition="in" filter="wipe(up)">
                                <p:cBhvr>
                                  <p:cTn id="503" dur="400" fill="hold"/>
                                  <p:tgtEl>
                                    <p:spTgt spid="5"/>
                                  </p:tgtEl>
                                </p:cBhvr>
                              </p:animEffect>
                            </p:childTnLst>
                          </p:cTn>
                        </p:par>
                        <p:par>
                          <p:cTn id="601" grpId="0" nodeType="withPrev">
                            <p:stCondLst>
                              <p:cond delay="500"/>
                            </p:stCondLst>
                            <p:childTnLst>
                              <p:set>
                                <p:cBhvr>
                                  <p:cTn id="602" dur="1" fill="hold"/>
                                  <p:tgtEl>
                                    <p:spTgt spid="6"/>
                                  </p:tgtEl>
                                  <p:attrNameLst>
                                    <p:attrName>style.visibility</p:attrName>
                                  </p:attrNameLst>
                                </p:cBhvr>
                                <p:to>
                                  <p:strVal val="visible"/>
                                </p:to>
                              </p:set>
                              <p:animEffect transition="in" filter="fade">
                                <p:cBhvr>
                                  <p:cTn id="603" dur="500" fill="hold"/>
                                  <p:tgtEl>
                                    <p:spTgt spid="6"/>
                                  </p:tgtEl>
                                </p:cBhvr>
                              </p:animEffect>
                            </p:childTnLst>
                          </p:cTn>
                        </p:par>
                        <p:par>
                          <p:cTn id="701" grpId="0" nodeType="withPrev">
                            <p:stCondLst>
                              <p:cond delay="700"/>
                            </p:stCondLst>
                            <p:childTnLst>
                              <p:set>
                                <p:cBhvr>
                                  <p:cTn id="702" dur="1" fill="hold"/>
                                  <p:tgtEl>
                                    <p:spTgt spid="7"/>
                                  </p:tgtEl>
                                  <p:attrNameLst>
                                    <p:attrName>style.visibility</p:attrName>
                                  </p:attrNameLst>
                                </p:cBhvr>
                                <p:to>
                                  <p:strVal val="visible"/>
                                </p:to>
                              </p:set>
                              <p:animEffect transition="in" filter="fade">
                                <p:cBhvr>
                                  <p:cTn id="703" dur="500" fill="hold"/>
                                  <p:tgtEl>
                                    <p:spTgt spid="7"/>
                                  </p:tgtEl>
                                </p:cBhvr>
                              </p:animEffect>
                            </p:childTnLst>
                          </p:cTn>
                        </p:par>
                      </p:childTnLst>
                    </p:cTn>
                  </p:par>
                </p:childTnLst>
              </p:cTn>
            </p:par>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Key Configuration Parameters</a:t>
            </a:r>
            <a:endParaRPr lang="en-US" sz="2200" dirty="0"/>
          </a:p>
        </p:txBody>
      </p:sp>
      <p:sp>
        <p:nvSpPr>
          <p:cNvPr id="5" name="Shape 3"/>
          <p:cNvSpPr/>
          <p:nvPr/>
        </p:nvSpPr>
        <p:spPr>
          <a:xfrm>
            <a:off x="365760" y="1051560"/>
            <a:ext cx="8412480" cy="132588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7000"/>
              </a:srgbClr>
            </a:outerShdw>
          </a:effectLst>
        </p:spPr>
      </p:sp>
      <p:sp>
        <p:nvSpPr>
          <p:cNvPr id="6" name="Shape 4"/>
          <p:cNvSpPr/>
          <p:nvPr/>
        </p:nvSpPr>
        <p:spPr>
          <a:xfrm>
            <a:off x="365760" y="1051560"/>
            <a:ext cx="64008" cy="1325880"/>
          </a:xfrm>
          <a:prstGeom prst="rect">
            <a:avLst/>
          </a:prstGeom>
          <a:solidFill>
            <a:srgbClr val="02C39A"/>
          </a:solidFill>
          <a:ln w="12700">
            <a:solidFill>
              <a:srgbClr val="02C39A"/>
            </a:solidFill>
            <a:prstDash val="solid"/>
          </a:ln>
        </p:spPr>
      </p:sp>
      <p:sp>
        <p:nvSpPr>
          <p:cNvPr id="7" name="Text 5"/>
          <p:cNvSpPr/>
          <p:nvPr/>
        </p:nvSpPr>
        <p:spPr>
          <a:xfrm>
            <a:off x="594360" y="1124712"/>
            <a:ext cx="7955280" cy="347472"/>
          </a:xfrm>
          <a:prstGeom prst="rect">
            <a:avLst/>
          </a:prstGeom>
          <a:noFill/>
          <a:ln/>
        </p:spPr>
        <p:txBody>
          <a:bodyPr wrap="square" lIns="0" tIns="0" rIns="0" bIns="0"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SG_enableDataStreamIntegration</a:t>
            </a:r>
            <a:endParaRPr lang="en-US" sz="1300" dirty="0"/>
          </a:p>
        </p:txBody>
      </p:sp>
      <p:sp>
        <p:nvSpPr>
          <p:cNvPr id="8" name="Shape 6"/>
          <p:cNvSpPr/>
          <p:nvPr/>
        </p:nvSpPr>
        <p:spPr>
          <a:xfrm>
            <a:off x="594360" y="1508760"/>
            <a:ext cx="1188720" cy="256032"/>
          </a:xfrm>
          <a:prstGeom prst="roundRect">
            <a:avLst>
              <a:gd name="adj" fmla="val 17857"/>
            </a:avLst>
          </a:prstGeom>
          <a:solidFill>
            <a:srgbClr val="02C39A">
              <a:alpha val="20000"/>
            </a:srgbClr>
          </a:solidFill>
          <a:ln w="12700">
            <a:solidFill>
              <a:srgbClr val="02C39A"/>
            </a:solidFill>
            <a:prstDash val="solid"/>
          </a:ln>
        </p:spPr>
      </p:sp>
      <p:sp>
        <p:nvSpPr>
          <p:cNvPr id="9" name="Text 7"/>
          <p:cNvSpPr/>
          <p:nvPr/>
        </p:nvSpPr>
        <p:spPr>
          <a:xfrm>
            <a:off x="594360" y="1508760"/>
            <a:ext cx="1188720" cy="256032"/>
          </a:xfrm>
          <a:prstGeom prst="rect">
            <a:avLst/>
          </a:prstGeom>
          <a:noFill/>
          <a:ln/>
        </p:spPr>
        <p:txBody>
          <a:bodyPr wrap="square" lIns="0" tIns="0" rIns="0" bIns="0" rtlCol="0" anchor="ctr"/>
          <a:lstStyle/>
          <a:p>
            <a:pPr algn="ctr" indent="0" marL="0">
              <a:buNone/>
            </a:pPr>
            <a:r>
              <a:rPr lang="en-US" sz="1000" b="1" dirty="0">
                <a:solidFill>
                  <a:srgbClr val="0E5C7A"/>
                </a:solidFill>
              </a:rPr>
              <a:t>TRUE / FALSE</a:t>
            </a:r>
            <a:endParaRPr lang="en-US" sz="1000" dirty="0"/>
          </a:p>
        </p:txBody>
      </p:sp>
      <p:sp>
        <p:nvSpPr>
          <p:cNvPr id="10" name="Text 8"/>
          <p:cNvSpPr/>
          <p:nvPr/>
        </p:nvSpPr>
        <p:spPr>
          <a:xfrm>
            <a:off x="594360" y="1828800"/>
            <a:ext cx="77724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Must be set to TRUE to enable the Data Stream Integration feature.</a:t>
            </a:r>
            <a:endParaRPr lang="en-US" sz="1200" dirty="0"/>
          </a:p>
        </p:txBody>
      </p:sp>
      <p:sp>
        <p:nvSpPr>
          <p:cNvPr id="11" name="Shape 9"/>
          <p:cNvSpPr/>
          <p:nvPr/>
        </p:nvSpPr>
        <p:spPr>
          <a:xfrm>
            <a:off x="365760" y="2606040"/>
            <a:ext cx="8412480" cy="132588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7000"/>
              </a:srgbClr>
            </a:outerShdw>
          </a:effectLst>
        </p:spPr>
      </p:sp>
      <p:sp>
        <p:nvSpPr>
          <p:cNvPr id="12" name="Shape 10"/>
          <p:cNvSpPr/>
          <p:nvPr/>
        </p:nvSpPr>
        <p:spPr>
          <a:xfrm>
            <a:off x="365760" y="2606040"/>
            <a:ext cx="64008" cy="1325880"/>
          </a:xfrm>
          <a:prstGeom prst="rect">
            <a:avLst/>
          </a:prstGeom>
          <a:solidFill>
            <a:srgbClr val="1B7FA6"/>
          </a:solidFill>
          <a:ln w="12700">
            <a:solidFill>
              <a:srgbClr val="1B7FA6"/>
            </a:solidFill>
            <a:prstDash val="solid"/>
          </a:ln>
        </p:spPr>
      </p:sp>
      <p:sp>
        <p:nvSpPr>
          <p:cNvPr id="13" name="Text 11"/>
          <p:cNvSpPr/>
          <p:nvPr/>
        </p:nvSpPr>
        <p:spPr>
          <a:xfrm>
            <a:off x="594360" y="2679192"/>
            <a:ext cx="7955280" cy="347472"/>
          </a:xfrm>
          <a:prstGeom prst="rect">
            <a:avLst/>
          </a:prstGeom>
          <a:noFill/>
          <a:ln/>
        </p:spPr>
        <p:txBody>
          <a:bodyPr wrap="square" lIns="0" tIns="0" rIns="0" bIns="0"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SG_enableDataStreamClientFieldIniFileMapping</a:t>
            </a:r>
            <a:endParaRPr lang="en-US" sz="1300" dirty="0"/>
          </a:p>
        </p:txBody>
      </p:sp>
      <p:sp>
        <p:nvSpPr>
          <p:cNvPr id="14" name="Shape 12"/>
          <p:cNvSpPr/>
          <p:nvPr/>
        </p:nvSpPr>
        <p:spPr>
          <a:xfrm>
            <a:off x="594360" y="3063240"/>
            <a:ext cx="1188720" cy="256032"/>
          </a:xfrm>
          <a:prstGeom prst="roundRect">
            <a:avLst>
              <a:gd name="adj" fmla="val 17857"/>
            </a:avLst>
          </a:prstGeom>
          <a:solidFill>
            <a:srgbClr val="1B7FA6">
              <a:alpha val="20000"/>
            </a:srgbClr>
          </a:solidFill>
          <a:ln w="12700">
            <a:solidFill>
              <a:srgbClr val="1B7FA6"/>
            </a:solidFill>
            <a:prstDash val="solid"/>
          </a:ln>
        </p:spPr>
      </p:sp>
      <p:sp>
        <p:nvSpPr>
          <p:cNvPr id="15" name="Text 13"/>
          <p:cNvSpPr/>
          <p:nvPr/>
        </p:nvSpPr>
        <p:spPr>
          <a:xfrm>
            <a:off x="594360" y="3063240"/>
            <a:ext cx="1188720" cy="256032"/>
          </a:xfrm>
          <a:prstGeom prst="rect">
            <a:avLst/>
          </a:prstGeom>
          <a:noFill/>
          <a:ln/>
        </p:spPr>
        <p:txBody>
          <a:bodyPr wrap="square" lIns="0" tIns="0" rIns="0" bIns="0" rtlCol="0" anchor="ctr"/>
          <a:lstStyle/>
          <a:p>
            <a:pPr algn="ctr" indent="0" marL="0">
              <a:buNone/>
            </a:pPr>
            <a:r>
              <a:rPr lang="en-US" sz="1000" b="1" dirty="0">
                <a:solidFill>
                  <a:srgbClr val="0E5C7A"/>
                </a:solidFill>
              </a:rPr>
              <a:t>TRUE / FALSE</a:t>
            </a:r>
            <a:endParaRPr lang="en-US" sz="1000" dirty="0"/>
          </a:p>
        </p:txBody>
      </p:sp>
      <p:sp>
        <p:nvSpPr>
          <p:cNvPr id="16" name="Text 14"/>
          <p:cNvSpPr/>
          <p:nvPr/>
        </p:nvSpPr>
        <p:spPr>
          <a:xfrm>
            <a:off x="594360" y="3383280"/>
            <a:ext cx="77724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If FALSE, mapping fields are read from AdminOne interface. If TRUE, the INI file is used.</a:t>
            </a:r>
            <a:endParaRPr lang="en-US" sz="1200" dirty="0"/>
          </a:p>
        </p:txBody>
      </p:sp>
      <p:sp>
        <p:nvSpPr>
          <p:cNvPr id="17" name="Text 15"/>
          <p:cNvSpPr/>
          <p:nvPr/>
        </p:nvSpPr>
        <p:spPr>
          <a:xfrm>
            <a:off x="457200" y="4480560"/>
            <a:ext cx="8229600" cy="32004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Refer to the Implementer Guide for additional parameters.</a:t>
            </a:r>
            <a:endParaRPr lang="en-US" sz="1100" dirty="0"/>
          </a:p>
        </p:txBody>
      </p:sp>
    </p:spTree>
  </p:cSld>
  <p:clrMapOvr>
    <a:masterClrMapping/>
  </p:clrMapOvr>
  <p:transition spd="med" advClick="1" advTm="0">
    <p:fade/>
  </p:transition>
  <p:timing>
    <p:tnLst>
      <p:par>
        <p:cTn id="5000" dur="indefin" restart="whenNotActive" nodeType="tmRoot">
          <p:childTnLst>
            <p:par>
              <p:cTn id="5001" fill="hold" nodeType="mainSeq">
                <p:stCondLst>
                  <p:cond delay="indefin"/>
                </p:stCondLst>
                <p:childTnLst>
                  <p:par>
                    <p:cTn id="5002" fill="hold">
                      <p:stCondLst>
                        <p:cond delay="0"/>
                      </p:stCondLst>
                      <p:childTnLst>
                        <p:par>
                          <p:cTn id="201" grpId="0" nodeType="withPrev">
                            <p:stCondLst>
                              <p:cond delay="0"/>
                            </p:stCondLst>
                            <p:childTnLst>
                              <p:set>
                                <p:cBhvr>
                                  <p:cTn id="202" dur="1" fill="hold"/>
                                  <p:tgtEl>
                                    <p:spTgt spid="2"/>
                                  </p:tgtEl>
                                  <p:attrNameLst>
                                    <p:attrName>style.visibility</p:attrName>
                                  </p:attrNameLst>
                                </p:cBhvr>
                                <p:to>
                                  <p:strVal val="visible"/>
                                </p:to>
                              </p:set>
                              <p:animEffect transition="in" filter="fade">
                                <p:cBhvr>
                                  <p:cTn id="203" dur="500" fill="hold"/>
                                  <p:tgtEl>
                                    <p:spTgt spid="2"/>
                                  </p:tgtEl>
                                </p:cBhvr>
                              </p:animEffect>
                            </p:childTnLst>
                          </p:cTn>
                        </p:par>
                        <p:par>
                          <p:cTn id="301" grpId="0" nodeType="withPrev">
                            <p:stCondLst>
                              <p:cond delay="0"/>
                            </p:stCondLst>
                            <p:childTnLst>
                              <p:set>
                                <p:cBhvr>
                                  <p:cTn id="302" dur="1" fill="hold"/>
                                  <p:tgtEl>
                                    <p:spTgt spid="3"/>
                                  </p:tgtEl>
                                  <p:attrNameLst>
                                    <p:attrName>style.visibility</p:attrName>
                                  </p:attrNameLst>
                                </p:cBhvr>
                                <p:to>
                                  <p:strVal val="visible"/>
                                </p:to>
                              </p:set>
                              <p:animEffect transition="in" filter="fade">
                                <p:cBhvr>
                                  <p:cTn id="303" dur="500" fill="hold"/>
                                  <p:tgtEl>
                                    <p:spTgt spid="3"/>
                                  </p:tgtEl>
                                </p:cBhvr>
                              </p:animEffect>
                            </p:childTnLst>
                          </p:cTn>
                        </p:par>
                        <p:par>
                          <p:cTn id="401" grpId="0" nodeType="withPrev">
                            <p:stCondLst>
                              <p:cond delay="0"/>
                            </p:stCondLst>
                            <p:childTnLst>
                              <p:set>
                                <p:cBhvr>
                                  <p:cTn id="402" dur="1" fill="hold"/>
                                  <p:tgtEl>
                                    <p:spTgt spid="4"/>
                                  </p:tgtEl>
                                  <p:attrNameLst>
                                    <p:attrName>style.visibility</p:attrName>
                                  </p:attrNameLst>
                                </p:cBhvr>
                                <p:to>
                                  <p:strVal val="visible"/>
                                </p:to>
                              </p:set>
                              <p:animEffect transition="in" filter="fade">
                                <p:cBhvr>
                                  <p:cTn id="403" dur="500" fill="hold"/>
                                  <p:tgtEl>
                                    <p:spTgt spid="4"/>
                                  </p:tgtEl>
                                </p:cBhvr>
                              </p:animEffect>
                            </p:childTnLst>
                          </p:cTn>
                        </p:par>
                        <p:par>
                          <p:cTn id="501" grpId="0" nodeType="withPrev">
                            <p:stCondLst>
                              <p:cond delay="300"/>
                            </p:stCondLst>
                            <p:childTnLst>
                              <p:set>
                                <p:cBhvr>
                                  <p:cTn id="502" dur="1" fill="hold"/>
                                  <p:tgtEl>
                                    <p:spTgt spid="5"/>
                                  </p:tgtEl>
                                  <p:attrNameLst>
                                    <p:attrName>style.visibility</p:attrName>
                                  </p:attrNameLst>
                                </p:cBhvr>
                                <p:to>
                                  <p:strVal val="visible"/>
                                </p:to>
                              </p:set>
                              <p:animEffect transition="in" filter="wipe(up)">
                                <p:cBhvr>
                                  <p:cTn id="503" dur="400" fill="hold"/>
                                  <p:tgtEl>
                                    <p:spTgt spid="5"/>
                                  </p:tgtEl>
                                </p:cBhvr>
                              </p:animEffect>
                            </p:childTnLst>
                          </p:cTn>
                        </p:par>
                        <p:par>
                          <p:cTn id="601" grpId="0" nodeType="withPrev">
                            <p:stCondLst>
                              <p:cond delay="300"/>
                            </p:stCondLst>
                            <p:childTnLst>
                              <p:set>
                                <p:cBhvr>
                                  <p:cTn id="602" dur="1" fill="hold"/>
                                  <p:tgtEl>
                                    <p:spTgt spid="6"/>
                                  </p:tgtEl>
                                  <p:attrNameLst>
                                    <p:attrName>style.visibility</p:attrName>
                                  </p:attrNameLst>
                                </p:cBhvr>
                                <p:to>
                                  <p:strVal val="visible"/>
                                </p:to>
                              </p:set>
                              <p:animEffect transition="in" filter="wipe(up)">
                                <p:cBhvr>
                                  <p:cTn id="603" dur="400" fill="hold"/>
                                  <p:tgtEl>
                                    <p:spTgt spid="6"/>
                                  </p:tgtEl>
                                </p:cBhvr>
                              </p:animEffect>
                            </p:childTnLst>
                          </p:cTn>
                        </p:par>
                        <p:par>
                          <p:cTn id="701" grpId="0" nodeType="withPrev">
                            <p:stCondLst>
                              <p:cond delay="500"/>
                            </p:stCondLst>
                            <p:childTnLst>
                              <p:set>
                                <p:cBhvr>
                                  <p:cTn id="702" dur="1" fill="hold"/>
                                  <p:tgtEl>
                                    <p:spTgt spid="7"/>
                                  </p:tgtEl>
                                  <p:attrNameLst>
                                    <p:attrName>style.visibility</p:attrName>
                                  </p:attrNameLst>
                                </p:cBhvr>
                                <p:to>
                                  <p:strVal val="visible"/>
                                </p:to>
                              </p:set>
                              <p:animEffect transition="in" filter="wipe(up)">
                                <p:cBhvr>
                                  <p:cTn id="703" dur="400" fill="hold"/>
                                  <p:tgtEl>
                                    <p:spTgt spid="7"/>
                                  </p:tgtEl>
                                </p:cBhvr>
                              </p:animEffect>
                            </p:childTnLst>
                          </p:cTn>
                        </p:par>
                        <p:par>
                          <p:cTn id="801" grpId="0" nodeType="withPrev">
                            <p:stCondLst>
                              <p:cond delay="500"/>
                            </p:stCondLst>
                            <p:childTnLst>
                              <p:set>
                                <p:cBhvr>
                                  <p:cTn id="802" dur="1" fill="hold"/>
                                  <p:tgtEl>
                                    <p:spTgt spid="8"/>
                                  </p:tgtEl>
                                  <p:attrNameLst>
                                    <p:attrName>style.visibility</p:attrName>
                                  </p:attrNameLst>
                                </p:cBhvr>
                                <p:to>
                                  <p:strVal val="visible"/>
                                </p:to>
                              </p:set>
                              <p:animEffect transition="in" filter="wipe(up)">
                                <p:cBhvr>
                                  <p:cTn id="803" dur="400" fill="hold"/>
                                  <p:tgtEl>
                                    <p:spTgt spid="8"/>
                                  </p:tgtEl>
                                </p:cBhvr>
                              </p:animEffect>
                            </p:childTnLst>
                          </p:cTn>
                        </p:par>
                        <p:par>
                          <p:cTn id="901" grpId="0" nodeType="withPrev">
                            <p:stCondLst>
                              <p:cond delay="700"/>
                            </p:stCondLst>
                            <p:childTnLst>
                              <p:set>
                                <p:cBhvr>
                                  <p:cTn id="902" dur="1" fill="hold"/>
                                  <p:tgtEl>
                                    <p:spTgt spid="9"/>
                                  </p:tgtEl>
                                  <p:attrNameLst>
                                    <p:attrName>style.visibility</p:attrName>
                                  </p:attrNameLst>
                                </p:cBhvr>
                                <p:to>
                                  <p:strVal val="visible"/>
                                </p:to>
                              </p:set>
                              <p:animEffect transition="in" filter="wipe(up)">
                                <p:cBhvr>
                                  <p:cTn id="903" dur="400" fill="hold"/>
                                  <p:tgtEl>
                                    <p:spTgt spid="9"/>
                                  </p:tgtEl>
                                </p:cBhvr>
                              </p:animEffect>
                            </p:childTnLst>
                          </p:cTn>
                        </p:par>
                        <p:par>
                          <p:cTn id="1001" grpId="0" nodeType="withPrev">
                            <p:stCondLst>
                              <p:cond delay="900"/>
                            </p:stCondLst>
                            <p:childTnLst>
                              <p:set>
                                <p:cBhvr>
                                  <p:cTn id="1002" dur="1" fill="hold"/>
                                  <p:tgtEl>
                                    <p:spTgt spid="10"/>
                                  </p:tgtEl>
                                  <p:attrNameLst>
                                    <p:attrName>style.visibility</p:attrName>
                                  </p:attrNameLst>
                                </p:cBhvr>
                                <p:to>
                                  <p:strVal val="visible"/>
                                </p:to>
                              </p:set>
                              <p:animEffect transition="in" filter="wipe(up)">
                                <p:cBhvr>
                                  <p:cTn id="1003" dur="400" fill="hold"/>
                                  <p:tgtEl>
                                    <p:spTgt spid="10"/>
                                  </p:tgtEl>
                                </p:cBhvr>
                              </p:animEffect>
                            </p:childTnLst>
                          </p:cTn>
                        </p:par>
                        <p:par>
                          <p:cTn id="1101" grpId="0" nodeType="withPrev">
                            <p:stCondLst>
                              <p:cond delay="900"/>
                            </p:stCondLst>
                            <p:childTnLst>
                              <p:set>
                                <p:cBhvr>
                                  <p:cTn id="1102" dur="1" fill="hold"/>
                                  <p:tgtEl>
                                    <p:spTgt spid="11"/>
                                  </p:tgtEl>
                                  <p:attrNameLst>
                                    <p:attrName>style.visibility</p:attrName>
                                  </p:attrNameLst>
                                </p:cBhvr>
                                <p:to>
                                  <p:strVal val="visible"/>
                                </p:to>
                              </p:set>
                              <p:animEffect transition="in" filter="wipe(up)">
                                <p:cBhvr>
                                  <p:cTn id="1103" dur="400" fill="hold"/>
                                  <p:tgtEl>
                                    <p:spTgt spid="11"/>
                                  </p:tgtEl>
                                </p:cBhvr>
                              </p:animEffect>
                            </p:childTnLst>
                          </p:cTn>
                        </p:par>
                        <p:par>
                          <p:cTn id="1201" grpId="0" nodeType="withPrev">
                            <p:stCondLst>
                              <p:cond delay="1100"/>
                            </p:stCondLst>
                            <p:childTnLst>
                              <p:set>
                                <p:cBhvr>
                                  <p:cTn id="1202" dur="1" fill="hold"/>
                                  <p:tgtEl>
                                    <p:spTgt spid="12"/>
                                  </p:tgtEl>
                                  <p:attrNameLst>
                                    <p:attrName>style.visibility</p:attrName>
                                  </p:attrNameLst>
                                </p:cBhvr>
                                <p:to>
                                  <p:strVal val="visible"/>
                                </p:to>
                              </p:set>
                              <p:animEffect transition="in" filter="wipe(up)">
                                <p:cBhvr>
                                  <p:cTn id="1203" dur="400" fill="hold"/>
                                  <p:tgtEl>
                                    <p:spTgt spid="12"/>
                                  </p:tgtEl>
                                </p:cBhvr>
                              </p:animEffect>
                            </p:childTnLst>
                          </p:cTn>
                        </p:par>
                        <p:par>
                          <p:cTn id="1301" grpId="0" nodeType="withPrev">
                            <p:stCondLst>
                              <p:cond delay="1100"/>
                            </p:stCondLst>
                            <p:childTnLst>
                              <p:set>
                                <p:cBhvr>
                                  <p:cTn id="1302" dur="1" fill="hold"/>
                                  <p:tgtEl>
                                    <p:spTgt spid="13"/>
                                  </p:tgtEl>
                                  <p:attrNameLst>
                                    <p:attrName>style.visibility</p:attrName>
                                  </p:attrNameLst>
                                </p:cBhvr>
                                <p:to>
                                  <p:strVal val="visible"/>
                                </p:to>
                              </p:set>
                              <p:animEffect transition="in" filter="wipe(up)">
                                <p:cBhvr>
                                  <p:cTn id="1303" dur="400" fill="hold"/>
                                  <p:tgtEl>
                                    <p:spTgt spid="13"/>
                                  </p:tgtEl>
                                </p:cBhvr>
                              </p:animEffect>
                            </p:childTnLst>
                          </p:cTn>
                        </p:par>
                        <p:par>
                          <p:cTn id="1401" grpId="0" nodeType="withPrev">
                            <p:stCondLst>
                              <p:cond delay="1300"/>
                            </p:stCondLst>
                            <p:childTnLst>
                              <p:set>
                                <p:cBhvr>
                                  <p:cTn id="1402" dur="1" fill="hold"/>
                                  <p:tgtEl>
                                    <p:spTgt spid="14"/>
                                  </p:tgtEl>
                                  <p:attrNameLst>
                                    <p:attrName>style.visibility</p:attrName>
                                  </p:attrNameLst>
                                </p:cBhvr>
                                <p:to>
                                  <p:strVal val="visible"/>
                                </p:to>
                              </p:set>
                              <p:animEffect transition="in" filter="wipe(up)">
                                <p:cBhvr>
                                  <p:cTn id="1403" dur="400" fill="hold"/>
                                  <p:tgtEl>
                                    <p:spTgt spid="14"/>
                                  </p:tgtEl>
                                </p:cBhvr>
                              </p:animEffect>
                            </p:childTnLst>
                          </p:cTn>
                        </p:par>
                        <p:par>
                          <p:cTn id="1501" grpId="0" nodeType="withPrev">
                            <p:stCondLst>
                              <p:cond delay="1300"/>
                            </p:stCondLst>
                            <p:childTnLst>
                              <p:set>
                                <p:cBhvr>
                                  <p:cTn id="1502" dur="1" fill="hold"/>
                                  <p:tgtEl>
                                    <p:spTgt spid="15"/>
                                  </p:tgtEl>
                                  <p:attrNameLst>
                                    <p:attrName>style.visibility</p:attrName>
                                  </p:attrNameLst>
                                </p:cBhvr>
                                <p:to>
                                  <p:strVal val="visible"/>
                                </p:to>
                              </p:set>
                              <p:animEffect transition="in" filter="wipe(up)">
                                <p:cBhvr>
                                  <p:cTn id="1503" dur="400" fill="hold"/>
                                  <p:tgtEl>
                                    <p:spTgt spid="15"/>
                                  </p:tgtEl>
                                </p:cBhvr>
                              </p:animEffect>
                            </p:childTnLst>
                          </p:cTn>
                        </p:par>
                        <p:par>
                          <p:cTn id="1601" grpId="0" nodeType="withPrev">
                            <p:stCondLst>
                              <p:cond delay="1300"/>
                            </p:stCondLst>
                            <p:childTnLst>
                              <p:set>
                                <p:cBhvr>
                                  <p:cTn id="1602" dur="1" fill="hold"/>
                                  <p:tgtEl>
                                    <p:spTgt spid="16"/>
                                  </p:tgtEl>
                                  <p:attrNameLst>
                                    <p:attrName>style.visibility</p:attrName>
                                  </p:attrNameLst>
                                </p:cBhvr>
                                <p:to>
                                  <p:strVal val="visible"/>
                                </p:to>
                              </p:set>
                              <p:animEffect transition="in" filter="wipe(up)">
                                <p:cBhvr>
                                  <p:cTn id="1603" dur="400" fill="hold"/>
                                  <p:tgtEl>
                                    <p:spTgt spid="16"/>
                                  </p:tgtEl>
                                </p:cBhvr>
                              </p:animEffect>
                            </p:childTnLst>
                          </p:cTn>
                        </p:par>
                        <p:par>
                          <p:cTn id="1701" grpId="0" nodeType="withPrev">
                            <p:stCondLst>
                              <p:cond delay="1400"/>
                            </p:stCondLst>
                            <p:childTnLst>
                              <p:set>
                                <p:cBhvr>
                                  <p:cTn id="1702" dur="1" fill="hold"/>
                                  <p:tgtEl>
                                    <p:spTgt spid="17"/>
                                  </p:tgtEl>
                                  <p:attrNameLst>
                                    <p:attrName>style.visibility</p:attrName>
                                  </p:attrNameLst>
                                </p:cBhvr>
                                <p:to>
                                  <p:strVal val="visible"/>
                                </p:to>
                              </p:set>
                              <p:animEffect transition="in" filter="fade">
                                <p:cBhvr>
                                  <p:cTn id="1703" dur="500" fill="hold"/>
                                  <p:tgtEl>
                                    <p:spTgt spid="17"/>
                                  </p:tgtEl>
                                </p:cBhvr>
                              </p:animEffect>
                            </p:childTnLst>
                          </p:cTn>
                        </p:par>
                      </p:childTnLst>
                    </p:cTn>
                  </p:par>
                </p:childTnLst>
              </p:cTn>
            </p:par>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Platform Lists in AdminOne</a:t>
            </a:r>
            <a:endParaRPr lang="en-US" sz="2200" dirty="0"/>
          </a:p>
        </p:txBody>
      </p:sp>
      <p:sp>
        <p:nvSpPr>
          <p:cNvPr id="5" name="Shape 3"/>
          <p:cNvSpPr/>
          <p:nvPr/>
        </p:nvSpPr>
        <p:spPr>
          <a:xfrm>
            <a:off x="365760" y="1051560"/>
            <a:ext cx="2697480" cy="3474720"/>
          </a:xfrm>
          <a:prstGeom prst="rect">
            <a:avLst/>
          </a:prstGeom>
          <a:solidFill>
            <a:srgbClr val="FFFFFF"/>
          </a:solidFill>
          <a:ln w="12700">
            <a:solidFill>
              <a:srgbClr val="CBD5E1"/>
            </a:solidFill>
            <a:prstDash val="solid"/>
          </a:ln>
          <a:effectLst>
            <a:outerShdw sx="100000" sy="100000" kx="0" ky="0" algn="bl" rotWithShape="0" blurRad="76200" dist="38100" dir="8100000">
              <a:srgbClr val="000000">
                <a:alpha val="9000"/>
              </a:srgbClr>
            </a:outerShdw>
          </a:effectLst>
        </p:spPr>
      </p:sp>
      <p:sp>
        <p:nvSpPr>
          <p:cNvPr id="6" name="Shape 4"/>
          <p:cNvSpPr/>
          <p:nvPr/>
        </p:nvSpPr>
        <p:spPr>
          <a:xfrm>
            <a:off x="365760" y="1051560"/>
            <a:ext cx="2697480" cy="64008"/>
          </a:xfrm>
          <a:prstGeom prst="rect">
            <a:avLst/>
          </a:prstGeom>
          <a:solidFill>
            <a:srgbClr val="1B7FA6"/>
          </a:solidFill>
          <a:ln w="12700">
            <a:solidFill>
              <a:srgbClr val="1B7FA6"/>
            </a:solidFill>
            <a:prstDash val="solid"/>
          </a:ln>
        </p:spPr>
      </p:sp>
      <p:sp>
        <p:nvSpPr>
          <p:cNvPr id="7" name="Shape 5"/>
          <p:cNvSpPr/>
          <p:nvPr/>
        </p:nvSpPr>
        <p:spPr>
          <a:xfrm>
            <a:off x="1371600" y="1234440"/>
            <a:ext cx="685800" cy="685800"/>
          </a:xfrm>
          <a:prstGeom prst="ellipse">
            <a:avLst/>
          </a:prstGeom>
          <a:solidFill>
            <a:srgbClr val="1B7FA6">
              <a:alpha val="85000"/>
            </a:srgbClr>
          </a:solidFill>
          <a:ln w="12700">
            <a:solidFill>
              <a:srgbClr val="1B7FA6"/>
            </a:solidFill>
            <a:prstDash val="solid"/>
          </a:ln>
        </p:spPr>
      </p:sp>
      <p:sp>
        <p:nvSpPr>
          <p:cNvPr id="8" name="Text 6"/>
          <p:cNvSpPr/>
          <p:nvPr/>
        </p:nvSpPr>
        <p:spPr>
          <a:xfrm>
            <a:off x="1371600" y="1234440"/>
            <a:ext cx="685800" cy="6858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9" name="Text 7"/>
          <p:cNvSpPr/>
          <p:nvPr/>
        </p:nvSpPr>
        <p:spPr>
          <a:xfrm>
            <a:off x="502920" y="2057400"/>
            <a:ext cx="2423160" cy="548640"/>
          </a:xfrm>
          <a:prstGeom prst="rect">
            <a:avLst/>
          </a:prstGeom>
          <a:noFill/>
          <a:ln/>
        </p:spPr>
        <p:txBody>
          <a:bodyPr wrap="square" lIns="50800" tIns="50800" rIns="50800" bIns="50800"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Data Integration Manager</a:t>
            </a:r>
            <a:endParaRPr lang="en-US" sz="1300" dirty="0"/>
          </a:p>
        </p:txBody>
      </p:sp>
      <p:sp>
        <p:nvSpPr>
          <p:cNvPr id="10" name="Text 8"/>
          <p:cNvSpPr/>
          <p:nvPr/>
        </p:nvSpPr>
        <p:spPr>
          <a:xfrm>
            <a:off x="502920" y="2651760"/>
            <a:ext cx="2423160" cy="1645920"/>
          </a:xfrm>
          <a:prstGeom prst="rect">
            <a:avLst/>
          </a:prstGeom>
          <a:noFill/>
          <a:ln/>
        </p:spPr>
        <p:txBody>
          <a:bodyPr wrap="square" lIns="76200" tIns="76200" rIns="76200" bIns="7620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Wizard-based configuration. Define the data stream and the fields flowing through it.</a:t>
            </a:r>
            <a:endParaRPr lang="en-US" sz="1200" dirty="0"/>
          </a:p>
        </p:txBody>
      </p:sp>
      <p:sp>
        <p:nvSpPr>
          <p:cNvPr id="11" name="Shape 9"/>
          <p:cNvSpPr/>
          <p:nvPr/>
        </p:nvSpPr>
        <p:spPr>
          <a:xfrm>
            <a:off x="3246120" y="1051560"/>
            <a:ext cx="2697480" cy="3474720"/>
          </a:xfrm>
          <a:prstGeom prst="rect">
            <a:avLst/>
          </a:prstGeom>
          <a:solidFill>
            <a:srgbClr val="FFFFFF"/>
          </a:solidFill>
          <a:ln w="12700">
            <a:solidFill>
              <a:srgbClr val="CBD5E1"/>
            </a:solidFill>
            <a:prstDash val="solid"/>
          </a:ln>
          <a:effectLst>
            <a:outerShdw sx="100000" sy="100000" kx="0" ky="0" algn="bl" rotWithShape="0" blurRad="76200" dist="38100" dir="8100000">
              <a:srgbClr val="000000">
                <a:alpha val="9000"/>
              </a:srgbClr>
            </a:outerShdw>
          </a:effectLst>
        </p:spPr>
      </p:sp>
      <p:sp>
        <p:nvSpPr>
          <p:cNvPr id="12" name="Shape 10"/>
          <p:cNvSpPr/>
          <p:nvPr/>
        </p:nvSpPr>
        <p:spPr>
          <a:xfrm>
            <a:off x="3246120" y="1051560"/>
            <a:ext cx="2697480" cy="64008"/>
          </a:xfrm>
          <a:prstGeom prst="rect">
            <a:avLst/>
          </a:prstGeom>
          <a:solidFill>
            <a:srgbClr val="1B7FA6"/>
          </a:solidFill>
          <a:ln w="12700">
            <a:solidFill>
              <a:srgbClr val="1B7FA6"/>
            </a:solidFill>
            <a:prstDash val="solid"/>
          </a:ln>
        </p:spPr>
      </p:sp>
      <p:sp>
        <p:nvSpPr>
          <p:cNvPr id="13" name="Shape 11"/>
          <p:cNvSpPr/>
          <p:nvPr/>
        </p:nvSpPr>
        <p:spPr>
          <a:xfrm>
            <a:off x="4251960" y="1234440"/>
            <a:ext cx="685800" cy="685800"/>
          </a:xfrm>
          <a:prstGeom prst="ellipse">
            <a:avLst/>
          </a:prstGeom>
          <a:solidFill>
            <a:srgbClr val="1B7FA6">
              <a:alpha val="85000"/>
            </a:srgbClr>
          </a:solidFill>
          <a:ln w="12700">
            <a:solidFill>
              <a:srgbClr val="1B7FA6"/>
            </a:solidFill>
            <a:prstDash val="solid"/>
          </a:ln>
        </p:spPr>
      </p:sp>
      <p:sp>
        <p:nvSpPr>
          <p:cNvPr id="14" name="Text 12"/>
          <p:cNvSpPr/>
          <p:nvPr/>
        </p:nvSpPr>
        <p:spPr>
          <a:xfrm>
            <a:off x="4251960" y="1234440"/>
            <a:ext cx="685800" cy="6858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5" name="Text 13"/>
          <p:cNvSpPr/>
          <p:nvPr/>
        </p:nvSpPr>
        <p:spPr>
          <a:xfrm>
            <a:off x="3383280" y="2057400"/>
            <a:ext cx="2423160" cy="548640"/>
          </a:xfrm>
          <a:prstGeom prst="rect">
            <a:avLst/>
          </a:prstGeom>
          <a:noFill/>
          <a:ln/>
        </p:spPr>
        <p:txBody>
          <a:bodyPr wrap="square" lIns="50800" tIns="50800" rIns="50800" bIns="50800"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Data Elements</a:t>
            </a:r>
            <a:endParaRPr lang="en-US" sz="1300" dirty="0"/>
          </a:p>
        </p:txBody>
      </p:sp>
      <p:sp>
        <p:nvSpPr>
          <p:cNvPr id="16" name="Text 14"/>
          <p:cNvSpPr/>
          <p:nvPr/>
        </p:nvSpPr>
        <p:spPr>
          <a:xfrm>
            <a:off x="3383280" y="2651760"/>
            <a:ext cx="2423160" cy="1645920"/>
          </a:xfrm>
          <a:prstGeom prst="rect">
            <a:avLst/>
          </a:prstGeom>
          <a:noFill/>
          <a:ln/>
        </p:spPr>
        <p:txBody>
          <a:bodyPr wrap="square" lIns="76200" tIns="76200" rIns="76200" bIns="7620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Nested within Data Integration Manager. Can be updated independently.</a:t>
            </a:r>
            <a:endParaRPr lang="en-US" sz="1200" dirty="0"/>
          </a:p>
        </p:txBody>
      </p:sp>
      <p:sp>
        <p:nvSpPr>
          <p:cNvPr id="17" name="Shape 15"/>
          <p:cNvSpPr/>
          <p:nvPr/>
        </p:nvSpPr>
        <p:spPr>
          <a:xfrm>
            <a:off x="6126480" y="1051560"/>
            <a:ext cx="2697480" cy="3474720"/>
          </a:xfrm>
          <a:prstGeom prst="rect">
            <a:avLst/>
          </a:prstGeom>
          <a:solidFill>
            <a:srgbClr val="FFFFFF"/>
          </a:solidFill>
          <a:ln w="12700">
            <a:solidFill>
              <a:srgbClr val="CBD5E1"/>
            </a:solidFill>
            <a:prstDash val="solid"/>
          </a:ln>
          <a:effectLst>
            <a:outerShdw sx="100000" sy="100000" kx="0" ky="0" algn="bl" rotWithShape="0" blurRad="76200" dist="38100" dir="8100000">
              <a:srgbClr val="000000">
                <a:alpha val="9000"/>
              </a:srgbClr>
            </a:outerShdw>
          </a:effectLst>
        </p:spPr>
      </p:sp>
      <p:sp>
        <p:nvSpPr>
          <p:cNvPr id="18" name="Shape 16"/>
          <p:cNvSpPr/>
          <p:nvPr/>
        </p:nvSpPr>
        <p:spPr>
          <a:xfrm>
            <a:off x="6126480" y="1051560"/>
            <a:ext cx="2697480" cy="64008"/>
          </a:xfrm>
          <a:prstGeom prst="rect">
            <a:avLst/>
          </a:prstGeom>
          <a:solidFill>
            <a:srgbClr val="1B7FA6"/>
          </a:solidFill>
          <a:ln w="12700">
            <a:solidFill>
              <a:srgbClr val="1B7FA6"/>
            </a:solidFill>
            <a:prstDash val="solid"/>
          </a:ln>
        </p:spPr>
      </p:sp>
      <p:sp>
        <p:nvSpPr>
          <p:cNvPr id="19" name="Shape 17"/>
          <p:cNvSpPr/>
          <p:nvPr/>
        </p:nvSpPr>
        <p:spPr>
          <a:xfrm>
            <a:off x="7132320" y="1234440"/>
            <a:ext cx="685800" cy="685800"/>
          </a:xfrm>
          <a:prstGeom prst="ellipse">
            <a:avLst/>
          </a:prstGeom>
          <a:solidFill>
            <a:srgbClr val="1B7FA6">
              <a:alpha val="85000"/>
            </a:srgbClr>
          </a:solidFill>
          <a:ln w="12700">
            <a:solidFill>
              <a:srgbClr val="1B7FA6"/>
            </a:solidFill>
            <a:prstDash val="solid"/>
          </a:ln>
        </p:spPr>
      </p:sp>
      <p:sp>
        <p:nvSpPr>
          <p:cNvPr id="20" name="Text 18"/>
          <p:cNvSpPr/>
          <p:nvPr/>
        </p:nvSpPr>
        <p:spPr>
          <a:xfrm>
            <a:off x="7132320" y="1234440"/>
            <a:ext cx="685800" cy="6858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1" name="Text 19"/>
          <p:cNvSpPr/>
          <p:nvPr/>
        </p:nvSpPr>
        <p:spPr>
          <a:xfrm>
            <a:off x="6263640" y="2057400"/>
            <a:ext cx="2423160" cy="548640"/>
          </a:xfrm>
          <a:prstGeom prst="rect">
            <a:avLst/>
          </a:prstGeom>
          <a:noFill/>
          <a:ln/>
        </p:spPr>
        <p:txBody>
          <a:bodyPr wrap="square" lIns="50800" tIns="50800" rIns="50800" bIns="50800"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Detection Process</a:t>
            </a:r>
            <a:endParaRPr lang="en-US" sz="1300" dirty="0"/>
          </a:p>
        </p:txBody>
      </p:sp>
      <p:sp>
        <p:nvSpPr>
          <p:cNvPr id="22" name="Text 20"/>
          <p:cNvSpPr/>
          <p:nvPr/>
        </p:nvSpPr>
        <p:spPr>
          <a:xfrm>
            <a:off x="6263640" y="2651760"/>
            <a:ext cx="2423160" cy="1645920"/>
          </a:xfrm>
          <a:prstGeom prst="rect">
            <a:avLst/>
          </a:prstGeom>
          <a:noFill/>
          <a:ln/>
        </p:spPr>
        <p:txBody>
          <a:bodyPr wrap="square" lIns="76200" tIns="76200" rIns="76200" bIns="7620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Nested within Data Integration Manager. Configure detection logic per data stream.</a:t>
            </a:r>
            <a:endParaRPr lang="en-US" sz="1200" dirty="0"/>
          </a:p>
        </p:txBody>
      </p:sp>
    </p:spTree>
  </p:cSld>
  <p:clrMapOvr>
    <a:masterClrMapping/>
  </p:clrMapOvr>
  <p:transition spd="med" advClick="1" advTm="0">
    <p:fade/>
  </p:transition>
  <p:timing>
    <p:tnLst>
      <p:par>
        <p:cTn id="6000" dur="indefin" restart="whenNotActive" nodeType="tmRoot">
          <p:childTnLst>
            <p:par>
              <p:cTn id="6001" fill="hold" nodeType="mainSeq">
                <p:stCondLst>
                  <p:cond delay="indefin"/>
                </p:stCondLst>
                <p:childTnLst>
                  <p:par>
                    <p:cTn id="6002" fill="hold">
                      <p:stCondLst>
                        <p:cond delay="0"/>
                      </p:stCondLst>
                      <p:childTnLst>
                        <p:par>
                          <p:cTn id="201" grpId="0" nodeType="withPrev">
                            <p:stCondLst>
                              <p:cond delay="0"/>
                            </p:stCondLst>
                            <p:childTnLst>
                              <p:set>
                                <p:cBhvr>
                                  <p:cTn id="202" dur="1" fill="hold"/>
                                  <p:tgtEl>
                                    <p:spTgt spid="2"/>
                                  </p:tgtEl>
                                  <p:attrNameLst>
                                    <p:attrName>style.visibility</p:attrName>
                                  </p:attrNameLst>
                                </p:cBhvr>
                                <p:to>
                                  <p:strVal val="visible"/>
                                </p:to>
                              </p:set>
                              <p:animEffect transition="in" filter="fade">
                                <p:cBhvr>
                                  <p:cTn id="203" dur="500" fill="hold"/>
                                  <p:tgtEl>
                                    <p:spTgt spid="2"/>
                                  </p:tgtEl>
                                </p:cBhvr>
                              </p:animEffect>
                            </p:childTnLst>
                          </p:cTn>
                        </p:par>
                        <p:par>
                          <p:cTn id="301" grpId="0" nodeType="withPrev">
                            <p:stCondLst>
                              <p:cond delay="0"/>
                            </p:stCondLst>
                            <p:childTnLst>
                              <p:set>
                                <p:cBhvr>
                                  <p:cTn id="302" dur="1" fill="hold"/>
                                  <p:tgtEl>
                                    <p:spTgt spid="3"/>
                                  </p:tgtEl>
                                  <p:attrNameLst>
                                    <p:attrName>style.visibility</p:attrName>
                                  </p:attrNameLst>
                                </p:cBhvr>
                                <p:to>
                                  <p:strVal val="visible"/>
                                </p:to>
                              </p:set>
                              <p:animEffect transition="in" filter="fade">
                                <p:cBhvr>
                                  <p:cTn id="303" dur="500" fill="hold"/>
                                  <p:tgtEl>
                                    <p:spTgt spid="3"/>
                                  </p:tgtEl>
                                </p:cBhvr>
                              </p:animEffect>
                            </p:childTnLst>
                          </p:cTn>
                        </p:par>
                        <p:par>
                          <p:cTn id="401" grpId="0" nodeType="withPrev">
                            <p:stCondLst>
                              <p:cond delay="0"/>
                            </p:stCondLst>
                            <p:childTnLst>
                              <p:set>
                                <p:cBhvr>
                                  <p:cTn id="402" dur="1" fill="hold"/>
                                  <p:tgtEl>
                                    <p:spTgt spid="4"/>
                                  </p:tgtEl>
                                  <p:attrNameLst>
                                    <p:attrName>style.visibility</p:attrName>
                                  </p:attrNameLst>
                                </p:cBhvr>
                                <p:to>
                                  <p:strVal val="visible"/>
                                </p:to>
                              </p:set>
                              <p:animEffect transition="in" filter="fade">
                                <p:cBhvr>
                                  <p:cTn id="403" dur="500" fill="hold"/>
                                  <p:tgtEl>
                                    <p:spTgt spid="4"/>
                                  </p:tgtEl>
                                </p:cBhvr>
                              </p:animEffect>
                            </p:childTnLst>
                          </p:cTn>
                        </p:par>
                        <p:par>
                          <p:cTn id="501" grpId="0" nodeType="withPrev">
                            <p:stCondLst>
                              <p:cond delay="400"/>
                            </p:stCondLst>
                            <p:childTnLst>
                              <p:set>
                                <p:cBhvr>
                                  <p:cTn id="502" dur="1" fill="hold"/>
                                  <p:tgtEl>
                                    <p:spTgt spid="5"/>
                                  </p:tgtEl>
                                  <p:attrNameLst>
                                    <p:attrName>style.visibility</p:attrName>
                                  </p:attrNameLst>
                                </p:cBhvr>
                                <p:to>
                                  <p:strVal val="visible"/>
                                </p:to>
                              </p:set>
                              <p:animEffect transition="in" filter="circle">
                                <p:cBhvr>
                                  <p:cTn id="503" dur="400" fill="hold"/>
                                  <p:tgtEl>
                                    <p:spTgt spid="5"/>
                                  </p:tgtEl>
                                </p:cBhvr>
                              </p:animEffect>
                            </p:childTnLst>
                          </p:cTn>
                        </p:par>
                        <p:par>
                          <p:cTn id="601" grpId="0" nodeType="withPrev">
                            <p:stCondLst>
                              <p:cond delay="400"/>
                            </p:stCondLst>
                            <p:childTnLst>
                              <p:set>
                                <p:cBhvr>
                                  <p:cTn id="602" dur="1" fill="hold"/>
                                  <p:tgtEl>
                                    <p:spTgt spid="6"/>
                                  </p:tgtEl>
                                  <p:attrNameLst>
                                    <p:attrName>style.visibility</p:attrName>
                                  </p:attrNameLst>
                                </p:cBhvr>
                                <p:to>
                                  <p:strVal val="visible"/>
                                </p:to>
                              </p:set>
                              <p:animEffect transition="in" filter="circle">
                                <p:cBhvr>
                                  <p:cTn id="603" dur="400" fill="hold"/>
                                  <p:tgtEl>
                                    <p:spTgt spid="6"/>
                                  </p:tgtEl>
                                </p:cBhvr>
                              </p:animEffect>
                            </p:childTnLst>
                          </p:cTn>
                        </p:par>
                        <p:par>
                          <p:cTn id="701" grpId="0" nodeType="withPrev">
                            <p:stCondLst>
                              <p:cond delay="400"/>
                            </p:stCondLst>
                            <p:childTnLst>
                              <p:set>
                                <p:cBhvr>
                                  <p:cTn id="702" dur="1" fill="hold"/>
                                  <p:tgtEl>
                                    <p:spTgt spid="7"/>
                                  </p:tgtEl>
                                  <p:attrNameLst>
                                    <p:attrName>style.visibility</p:attrName>
                                  </p:attrNameLst>
                                </p:cBhvr>
                                <p:to>
                                  <p:strVal val="visible"/>
                                </p:to>
                              </p:set>
                              <p:animEffect transition="in" filter="circle">
                                <p:cBhvr>
                                  <p:cTn id="703" dur="400" fill="hold"/>
                                  <p:tgtEl>
                                    <p:spTgt spid="7"/>
                                  </p:tgtEl>
                                </p:cBhvr>
                              </p:animEffect>
                            </p:childTnLst>
                          </p:cTn>
                        </p:par>
                        <p:par>
                          <p:cTn id="801" grpId="0" nodeType="withPrev">
                            <p:stCondLst>
                              <p:cond delay="400"/>
                            </p:stCondLst>
                            <p:childTnLst>
                              <p:set>
                                <p:cBhvr>
                                  <p:cTn id="802" dur="1" fill="hold"/>
                                  <p:tgtEl>
                                    <p:spTgt spid="8"/>
                                  </p:tgtEl>
                                  <p:attrNameLst>
                                    <p:attrName>style.visibility</p:attrName>
                                  </p:attrNameLst>
                                </p:cBhvr>
                                <p:to>
                                  <p:strVal val="visible"/>
                                </p:to>
                              </p:set>
                              <p:animEffect transition="in" filter="fade">
                                <p:cBhvr>
                                  <p:cTn id="803" dur="500" fill="hold"/>
                                  <p:tgtEl>
                                    <p:spTgt spid="8"/>
                                  </p:tgtEl>
                                </p:cBhvr>
                              </p:animEffect>
                            </p:childTnLst>
                          </p:cTn>
                        </p:par>
                        <p:par>
                          <p:cTn id="901" grpId="0" nodeType="withPrev">
                            <p:stCondLst>
                              <p:cond delay="400"/>
                            </p:stCondLst>
                            <p:childTnLst>
                              <p:set>
                                <p:cBhvr>
                                  <p:cTn id="902" dur="1" fill="hold"/>
                                  <p:tgtEl>
                                    <p:spTgt spid="9"/>
                                  </p:tgtEl>
                                  <p:attrNameLst>
                                    <p:attrName>style.visibility</p:attrName>
                                  </p:attrNameLst>
                                </p:cBhvr>
                                <p:to>
                                  <p:strVal val="visible"/>
                                </p:to>
                              </p:set>
                              <p:animEffect transition="in" filter="fade">
                                <p:cBhvr>
                                  <p:cTn id="903" dur="500" fill="hold"/>
                                  <p:tgtEl>
                                    <p:spTgt spid="9"/>
                                  </p:tgtEl>
                                </p:cBhvr>
                              </p:animEffect>
                            </p:childTnLst>
                          </p:cTn>
                        </p:par>
                        <p:par>
                          <p:cTn id="1001" grpId="0" nodeType="withPrev">
                            <p:stCondLst>
                              <p:cond delay="400"/>
                            </p:stCondLst>
                            <p:childTnLst>
                              <p:set>
                                <p:cBhvr>
                                  <p:cTn id="1002" dur="1" fill="hold"/>
                                  <p:tgtEl>
                                    <p:spTgt spid="10"/>
                                  </p:tgtEl>
                                  <p:attrNameLst>
                                    <p:attrName>style.visibility</p:attrName>
                                  </p:attrNameLst>
                                </p:cBhvr>
                                <p:to>
                                  <p:strVal val="visible"/>
                                </p:to>
                              </p:set>
                              <p:animEffect transition="in" filter="fade">
                                <p:cBhvr>
                                  <p:cTn id="1003" dur="500" fill="hold"/>
                                  <p:tgtEl>
                                    <p:spTgt spid="10"/>
                                  </p:tgtEl>
                                </p:cBhvr>
                              </p:animEffect>
                            </p:childTnLst>
                          </p:cTn>
                        </p:par>
                        <p:par>
                          <p:cTn id="1101" grpId="0" nodeType="withPrev">
                            <p:stCondLst>
                              <p:cond delay="700"/>
                            </p:stCondLst>
                            <p:childTnLst>
                              <p:set>
                                <p:cBhvr>
                                  <p:cTn id="1102" dur="1" fill="hold"/>
                                  <p:tgtEl>
                                    <p:spTgt spid="11"/>
                                  </p:tgtEl>
                                  <p:attrNameLst>
                                    <p:attrName>style.visibility</p:attrName>
                                  </p:attrNameLst>
                                </p:cBhvr>
                                <p:to>
                                  <p:strVal val="visible"/>
                                </p:to>
                              </p:set>
                              <p:animEffect transition="in" filter="circle">
                                <p:cBhvr>
                                  <p:cTn id="1103" dur="400" fill="hold"/>
                                  <p:tgtEl>
                                    <p:spTgt spid="11"/>
                                  </p:tgtEl>
                                </p:cBhvr>
                              </p:animEffect>
                            </p:childTnLst>
                          </p:cTn>
                        </p:par>
                        <p:par>
                          <p:cTn id="1201" grpId="0" nodeType="withPrev">
                            <p:stCondLst>
                              <p:cond delay="700"/>
                            </p:stCondLst>
                            <p:childTnLst>
                              <p:set>
                                <p:cBhvr>
                                  <p:cTn id="1202" dur="1" fill="hold"/>
                                  <p:tgtEl>
                                    <p:spTgt spid="12"/>
                                  </p:tgtEl>
                                  <p:attrNameLst>
                                    <p:attrName>style.visibility</p:attrName>
                                  </p:attrNameLst>
                                </p:cBhvr>
                                <p:to>
                                  <p:strVal val="visible"/>
                                </p:to>
                              </p:set>
                              <p:animEffect transition="in" filter="circle">
                                <p:cBhvr>
                                  <p:cTn id="1203" dur="400" fill="hold"/>
                                  <p:tgtEl>
                                    <p:spTgt spid="12"/>
                                  </p:tgtEl>
                                </p:cBhvr>
                              </p:animEffect>
                            </p:childTnLst>
                          </p:cTn>
                        </p:par>
                        <p:par>
                          <p:cTn id="1301" grpId="0" nodeType="withPrev">
                            <p:stCondLst>
                              <p:cond delay="700"/>
                            </p:stCondLst>
                            <p:childTnLst>
                              <p:set>
                                <p:cBhvr>
                                  <p:cTn id="1302" dur="1" fill="hold"/>
                                  <p:tgtEl>
                                    <p:spTgt spid="13"/>
                                  </p:tgtEl>
                                  <p:attrNameLst>
                                    <p:attrName>style.visibility</p:attrName>
                                  </p:attrNameLst>
                                </p:cBhvr>
                                <p:to>
                                  <p:strVal val="visible"/>
                                </p:to>
                              </p:set>
                              <p:animEffect transition="in" filter="circle">
                                <p:cBhvr>
                                  <p:cTn id="1303" dur="400" fill="hold"/>
                                  <p:tgtEl>
                                    <p:spTgt spid="13"/>
                                  </p:tgtEl>
                                </p:cBhvr>
                              </p:animEffect>
                            </p:childTnLst>
                          </p:cTn>
                        </p:par>
                        <p:par>
                          <p:cTn id="1401" grpId="0" nodeType="withPrev">
                            <p:stCondLst>
                              <p:cond delay="700"/>
                            </p:stCondLst>
                            <p:childTnLst>
                              <p:set>
                                <p:cBhvr>
                                  <p:cTn id="1402" dur="1" fill="hold"/>
                                  <p:tgtEl>
                                    <p:spTgt spid="14"/>
                                  </p:tgtEl>
                                  <p:attrNameLst>
                                    <p:attrName>style.visibility</p:attrName>
                                  </p:attrNameLst>
                                </p:cBhvr>
                                <p:to>
                                  <p:strVal val="visible"/>
                                </p:to>
                              </p:set>
                              <p:animEffect transition="in" filter="fade">
                                <p:cBhvr>
                                  <p:cTn id="1403" dur="500" fill="hold"/>
                                  <p:tgtEl>
                                    <p:spTgt spid="14"/>
                                  </p:tgtEl>
                                </p:cBhvr>
                              </p:animEffect>
                            </p:childTnLst>
                          </p:cTn>
                        </p:par>
                        <p:par>
                          <p:cTn id="1501" grpId="0" nodeType="withPrev">
                            <p:stCondLst>
                              <p:cond delay="700"/>
                            </p:stCondLst>
                            <p:childTnLst>
                              <p:set>
                                <p:cBhvr>
                                  <p:cTn id="1502" dur="1" fill="hold"/>
                                  <p:tgtEl>
                                    <p:spTgt spid="15"/>
                                  </p:tgtEl>
                                  <p:attrNameLst>
                                    <p:attrName>style.visibility</p:attrName>
                                  </p:attrNameLst>
                                </p:cBhvr>
                                <p:to>
                                  <p:strVal val="visible"/>
                                </p:to>
                              </p:set>
                              <p:animEffect transition="in" filter="fade">
                                <p:cBhvr>
                                  <p:cTn id="1503" dur="500" fill="hold"/>
                                  <p:tgtEl>
                                    <p:spTgt spid="15"/>
                                  </p:tgtEl>
                                </p:cBhvr>
                              </p:animEffect>
                            </p:childTnLst>
                          </p:cTn>
                        </p:par>
                        <p:par>
                          <p:cTn id="1601" grpId="0" nodeType="withPrev">
                            <p:stCondLst>
                              <p:cond delay="700"/>
                            </p:stCondLst>
                            <p:childTnLst>
                              <p:set>
                                <p:cBhvr>
                                  <p:cTn id="1602" dur="1" fill="hold"/>
                                  <p:tgtEl>
                                    <p:spTgt spid="16"/>
                                  </p:tgtEl>
                                  <p:attrNameLst>
                                    <p:attrName>style.visibility</p:attrName>
                                  </p:attrNameLst>
                                </p:cBhvr>
                                <p:to>
                                  <p:strVal val="visible"/>
                                </p:to>
                              </p:set>
                              <p:animEffect transition="in" filter="fade">
                                <p:cBhvr>
                                  <p:cTn id="1603" dur="500" fill="hold"/>
                                  <p:tgtEl>
                                    <p:spTgt spid="16"/>
                                  </p:tgtEl>
                                </p:cBhvr>
                              </p:animEffect>
                            </p:childTnLst>
                          </p:cTn>
                        </p:par>
                        <p:par>
                          <p:cTn id="1701" grpId="0" nodeType="withPrev">
                            <p:stCondLst>
                              <p:cond delay="1000"/>
                            </p:stCondLst>
                            <p:childTnLst>
                              <p:set>
                                <p:cBhvr>
                                  <p:cTn id="1702" dur="1" fill="hold"/>
                                  <p:tgtEl>
                                    <p:spTgt spid="17"/>
                                  </p:tgtEl>
                                  <p:attrNameLst>
                                    <p:attrName>style.visibility</p:attrName>
                                  </p:attrNameLst>
                                </p:cBhvr>
                                <p:to>
                                  <p:strVal val="visible"/>
                                </p:to>
                              </p:set>
                              <p:animEffect transition="in" filter="circle">
                                <p:cBhvr>
                                  <p:cTn id="1703" dur="400" fill="hold"/>
                                  <p:tgtEl>
                                    <p:spTgt spid="17"/>
                                  </p:tgtEl>
                                </p:cBhvr>
                              </p:animEffect>
                            </p:childTnLst>
                          </p:cTn>
                        </p:par>
                        <p:par>
                          <p:cTn id="1801" grpId="0" nodeType="withPrev">
                            <p:stCondLst>
                              <p:cond delay="1000"/>
                            </p:stCondLst>
                            <p:childTnLst>
                              <p:set>
                                <p:cBhvr>
                                  <p:cTn id="1802" dur="1" fill="hold"/>
                                  <p:tgtEl>
                                    <p:spTgt spid="18"/>
                                  </p:tgtEl>
                                  <p:attrNameLst>
                                    <p:attrName>style.visibility</p:attrName>
                                  </p:attrNameLst>
                                </p:cBhvr>
                                <p:to>
                                  <p:strVal val="visible"/>
                                </p:to>
                              </p:set>
                              <p:animEffect transition="in" filter="circle">
                                <p:cBhvr>
                                  <p:cTn id="1803" dur="400" fill="hold"/>
                                  <p:tgtEl>
                                    <p:spTgt spid="18"/>
                                  </p:tgtEl>
                                </p:cBhvr>
                              </p:animEffect>
                            </p:childTnLst>
                          </p:cTn>
                        </p:par>
                        <p:par>
                          <p:cTn id="1901" grpId="0" nodeType="withPrev">
                            <p:stCondLst>
                              <p:cond delay="1000"/>
                            </p:stCondLst>
                            <p:childTnLst>
                              <p:set>
                                <p:cBhvr>
                                  <p:cTn id="1902" dur="1" fill="hold"/>
                                  <p:tgtEl>
                                    <p:spTgt spid="19"/>
                                  </p:tgtEl>
                                  <p:attrNameLst>
                                    <p:attrName>style.visibility</p:attrName>
                                  </p:attrNameLst>
                                </p:cBhvr>
                                <p:to>
                                  <p:strVal val="visible"/>
                                </p:to>
                              </p:set>
                              <p:animEffect transition="in" filter="circle">
                                <p:cBhvr>
                                  <p:cTn id="1903" dur="400" fill="hold"/>
                                  <p:tgtEl>
                                    <p:spTgt spid="19"/>
                                  </p:tgtEl>
                                </p:cBhvr>
                              </p:animEffect>
                            </p:childTnLst>
                          </p:cTn>
                        </p:par>
                        <p:par>
                          <p:cTn id="2001" grpId="0" nodeType="withPrev">
                            <p:stCondLst>
                              <p:cond delay="1000"/>
                            </p:stCondLst>
                            <p:childTnLst>
                              <p:set>
                                <p:cBhvr>
                                  <p:cTn id="2002" dur="1" fill="hold"/>
                                  <p:tgtEl>
                                    <p:spTgt spid="20"/>
                                  </p:tgtEl>
                                  <p:attrNameLst>
                                    <p:attrName>style.visibility</p:attrName>
                                  </p:attrNameLst>
                                </p:cBhvr>
                                <p:to>
                                  <p:strVal val="visible"/>
                                </p:to>
                              </p:set>
                              <p:animEffect transition="in" filter="fade">
                                <p:cBhvr>
                                  <p:cTn id="2003" dur="500" fill="hold"/>
                                  <p:tgtEl>
                                    <p:spTgt spid="20"/>
                                  </p:tgtEl>
                                </p:cBhvr>
                              </p:animEffect>
                            </p:childTnLst>
                          </p:cTn>
                        </p:par>
                      </p:childTnLst>
                    </p:cTn>
                  </p:par>
                </p:childTnLst>
              </p:cTn>
            </p:par>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Configure Platform Lists for Data Streams</a:t>
            </a:r>
            <a:endParaRPr lang="en-US" sz="2200" dirty="0"/>
          </a:p>
        </p:txBody>
      </p:sp>
      <p:sp>
        <p:nvSpPr>
          <p:cNvPr id="5" name="Shape 3"/>
          <p:cNvSpPr/>
          <p:nvPr/>
        </p:nvSpPr>
        <p:spPr>
          <a:xfrm>
            <a:off x="457200" y="1097280"/>
            <a:ext cx="502920" cy="502920"/>
          </a:xfrm>
          <a:prstGeom prst="rect">
            <a:avLst/>
          </a:prstGeom>
          <a:solidFill>
            <a:srgbClr val="1B7FA6"/>
          </a:solidFill>
          <a:ln w="12700">
            <a:solidFill>
              <a:srgbClr val="1B7FA6"/>
            </a:solidFill>
            <a:prstDash val="solid"/>
          </a:ln>
        </p:spPr>
      </p:sp>
      <p:sp>
        <p:nvSpPr>
          <p:cNvPr id="6" name="Text 4"/>
          <p:cNvSpPr/>
          <p:nvPr/>
        </p:nvSpPr>
        <p:spPr>
          <a:xfrm>
            <a:off x="457200" y="10972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Shape 5"/>
          <p:cNvSpPr/>
          <p:nvPr/>
        </p:nvSpPr>
        <p:spPr>
          <a:xfrm>
            <a:off x="1097280" y="1115568"/>
            <a:ext cx="7498080" cy="457200"/>
          </a:xfrm>
          <a:prstGeom prst="rect">
            <a:avLst/>
          </a:prstGeom>
          <a:solidFill>
            <a:srgbClr val="FFFFFF"/>
          </a:solidFill>
          <a:ln w="12700">
            <a:solidFill>
              <a:srgbClr val="CBD5E1"/>
            </a:solidFill>
            <a:prstDash val="solid"/>
          </a:ln>
        </p:spPr>
      </p:sp>
      <p:sp>
        <p:nvSpPr>
          <p:cNvPr id="8" name="Text 6"/>
          <p:cNvSpPr/>
          <p:nvPr/>
        </p:nvSpPr>
        <p:spPr>
          <a:xfrm>
            <a:off x="1234440" y="1115568"/>
            <a:ext cx="7315200" cy="45720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Log on to AdminOne</a:t>
            </a:r>
            <a:endParaRPr lang="en-US" sz="1400" dirty="0"/>
          </a:p>
        </p:txBody>
      </p:sp>
      <p:sp>
        <p:nvSpPr>
          <p:cNvPr id="9" name="Shape 7"/>
          <p:cNvSpPr/>
          <p:nvPr/>
        </p:nvSpPr>
        <p:spPr>
          <a:xfrm>
            <a:off x="457200" y="1965960"/>
            <a:ext cx="502920" cy="502920"/>
          </a:xfrm>
          <a:prstGeom prst="rect">
            <a:avLst/>
          </a:prstGeom>
          <a:solidFill>
            <a:srgbClr val="1B7FA6"/>
          </a:solidFill>
          <a:ln w="12700">
            <a:solidFill>
              <a:srgbClr val="1B7FA6"/>
            </a:solidFill>
            <a:prstDash val="solid"/>
          </a:ln>
        </p:spPr>
      </p:sp>
      <p:sp>
        <p:nvSpPr>
          <p:cNvPr id="10" name="Text 8"/>
          <p:cNvSpPr/>
          <p:nvPr/>
        </p:nvSpPr>
        <p:spPr>
          <a:xfrm>
            <a:off x="457200"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1" name="Shape 9"/>
          <p:cNvSpPr/>
          <p:nvPr/>
        </p:nvSpPr>
        <p:spPr>
          <a:xfrm>
            <a:off x="1097280" y="1984248"/>
            <a:ext cx="7498080" cy="457200"/>
          </a:xfrm>
          <a:prstGeom prst="rect">
            <a:avLst/>
          </a:prstGeom>
          <a:solidFill>
            <a:srgbClr val="FFFFFF"/>
          </a:solidFill>
          <a:ln w="12700">
            <a:solidFill>
              <a:srgbClr val="CBD5E1"/>
            </a:solidFill>
            <a:prstDash val="solid"/>
          </a:ln>
        </p:spPr>
      </p:sp>
      <p:sp>
        <p:nvSpPr>
          <p:cNvPr id="12" name="Text 10"/>
          <p:cNvSpPr/>
          <p:nvPr/>
        </p:nvSpPr>
        <p:spPr>
          <a:xfrm>
            <a:off x="1234440" y="1984248"/>
            <a:ext cx="7315200" cy="45720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Navigate to the Settings tab</a:t>
            </a:r>
            <a:endParaRPr lang="en-US" sz="1400" dirty="0"/>
          </a:p>
        </p:txBody>
      </p:sp>
      <p:sp>
        <p:nvSpPr>
          <p:cNvPr id="13" name="Shape 11"/>
          <p:cNvSpPr/>
          <p:nvPr/>
        </p:nvSpPr>
        <p:spPr>
          <a:xfrm>
            <a:off x="457200" y="2834640"/>
            <a:ext cx="502920" cy="502920"/>
          </a:xfrm>
          <a:prstGeom prst="rect">
            <a:avLst/>
          </a:prstGeom>
          <a:solidFill>
            <a:srgbClr val="1B7FA6"/>
          </a:solidFill>
          <a:ln w="12700">
            <a:solidFill>
              <a:srgbClr val="1B7FA6"/>
            </a:solidFill>
            <a:prstDash val="solid"/>
          </a:ln>
        </p:spPr>
      </p:sp>
      <p:sp>
        <p:nvSpPr>
          <p:cNvPr id="14" name="Text 12"/>
          <p:cNvSpPr/>
          <p:nvPr/>
        </p:nvSpPr>
        <p:spPr>
          <a:xfrm>
            <a:off x="457200" y="28346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5" name="Shape 13"/>
          <p:cNvSpPr/>
          <p:nvPr/>
        </p:nvSpPr>
        <p:spPr>
          <a:xfrm>
            <a:off x="1097280" y="2852928"/>
            <a:ext cx="7498080" cy="457200"/>
          </a:xfrm>
          <a:prstGeom prst="rect">
            <a:avLst/>
          </a:prstGeom>
          <a:solidFill>
            <a:srgbClr val="FFFFFF"/>
          </a:solidFill>
          <a:ln w="12700">
            <a:solidFill>
              <a:srgbClr val="CBD5E1"/>
            </a:solidFill>
            <a:prstDash val="solid"/>
          </a:ln>
        </p:spPr>
      </p:sp>
      <p:sp>
        <p:nvSpPr>
          <p:cNvPr id="16" name="Text 14"/>
          <p:cNvSpPr/>
          <p:nvPr/>
        </p:nvSpPr>
        <p:spPr>
          <a:xfrm>
            <a:off x="1234440" y="2852928"/>
            <a:ext cx="7315200" cy="45720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Select Platform Lists from the menu</a:t>
            </a:r>
            <a:endParaRPr lang="en-US" sz="1400" dirty="0"/>
          </a:p>
        </p:txBody>
      </p:sp>
      <p:sp>
        <p:nvSpPr>
          <p:cNvPr id="17" name="Shape 15"/>
          <p:cNvSpPr/>
          <p:nvPr/>
        </p:nvSpPr>
        <p:spPr>
          <a:xfrm>
            <a:off x="457200" y="3703320"/>
            <a:ext cx="502920" cy="502920"/>
          </a:xfrm>
          <a:prstGeom prst="rect">
            <a:avLst/>
          </a:prstGeom>
          <a:solidFill>
            <a:srgbClr val="1B7FA6"/>
          </a:solidFill>
          <a:ln w="12700">
            <a:solidFill>
              <a:srgbClr val="1B7FA6"/>
            </a:solidFill>
            <a:prstDash val="solid"/>
          </a:ln>
        </p:spPr>
      </p:sp>
      <p:sp>
        <p:nvSpPr>
          <p:cNvPr id="18" name="Text 16"/>
          <p:cNvSpPr/>
          <p:nvPr/>
        </p:nvSpPr>
        <p:spPr>
          <a:xfrm>
            <a:off x="457200" y="3703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9" name="Shape 17"/>
          <p:cNvSpPr/>
          <p:nvPr/>
        </p:nvSpPr>
        <p:spPr>
          <a:xfrm>
            <a:off x="1097280" y="3721608"/>
            <a:ext cx="7498080" cy="457200"/>
          </a:xfrm>
          <a:prstGeom prst="rect">
            <a:avLst/>
          </a:prstGeom>
          <a:solidFill>
            <a:srgbClr val="FFFFFF"/>
          </a:solidFill>
          <a:ln w="12700">
            <a:solidFill>
              <a:srgbClr val="CBD5E1"/>
            </a:solidFill>
            <a:prstDash val="solid"/>
          </a:ln>
        </p:spPr>
      </p:sp>
      <p:sp>
        <p:nvSpPr>
          <p:cNvPr id="20" name="Text 18"/>
          <p:cNvSpPr/>
          <p:nvPr/>
        </p:nvSpPr>
        <p:spPr>
          <a:xfrm>
            <a:off x="1234440" y="3721608"/>
            <a:ext cx="7315200" cy="45720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You will see the Platform List Items screen</a:t>
            </a:r>
            <a:endParaRPr lang="en-US" sz="1400" dirty="0"/>
          </a:p>
        </p:txBody>
      </p:sp>
    </p:spTree>
  </p:cSld>
  <p:clrMapOvr>
    <a:masterClrMapping/>
  </p:clrMapOvr>
  <p:transition spd="med" advClick="1" advTm="0">
    <p:fade/>
  </p:transition>
  <p:timing>
    <p:tnLst>
      <p:par>
        <p:cTn id="7000" dur="indefin" restart="whenNotActive" nodeType="tmRoot">
          <p:childTnLst>
            <p:par>
              <p:cTn id="7001" fill="hold" nodeType="mainSeq">
                <p:stCondLst>
                  <p:cond delay="indefin"/>
                </p:stCondLst>
                <p:childTnLst>
                  <p:par>
                    <p:cTn id="7002" fill="hold">
                      <p:stCondLst>
                        <p:cond delay="0"/>
                      </p:stCondLst>
                      <p:childTnLst>
                        <p:par>
                          <p:cTn id="201" grpId="0" nodeType="withPrev">
                            <p:stCondLst>
                              <p:cond delay="0"/>
                            </p:stCondLst>
                            <p:childTnLst>
                              <p:set>
                                <p:cBhvr>
                                  <p:cTn id="202" dur="1" fill="hold"/>
                                  <p:tgtEl>
                                    <p:spTgt spid="2"/>
                                  </p:tgtEl>
                                  <p:attrNameLst>
                                    <p:attrName>style.visibility</p:attrName>
                                  </p:attrNameLst>
                                </p:cBhvr>
                                <p:to>
                                  <p:strVal val="visible"/>
                                </p:to>
                              </p:set>
                              <p:animEffect transition="in" filter="fade">
                                <p:cBhvr>
                                  <p:cTn id="203" dur="500" fill="hold"/>
                                  <p:tgtEl>
                                    <p:spTgt spid="2"/>
                                  </p:tgtEl>
                                </p:cBhvr>
                              </p:animEffect>
                            </p:childTnLst>
                          </p:cTn>
                        </p:par>
                        <p:par>
                          <p:cTn id="301" grpId="0" nodeType="withPrev">
                            <p:stCondLst>
                              <p:cond delay="0"/>
                            </p:stCondLst>
                            <p:childTnLst>
                              <p:set>
                                <p:cBhvr>
                                  <p:cTn id="302" dur="1" fill="hold"/>
                                  <p:tgtEl>
                                    <p:spTgt spid="3"/>
                                  </p:tgtEl>
                                  <p:attrNameLst>
                                    <p:attrName>style.visibility</p:attrName>
                                  </p:attrNameLst>
                                </p:cBhvr>
                                <p:to>
                                  <p:strVal val="visible"/>
                                </p:to>
                              </p:set>
                              <p:animEffect transition="in" filter="fade">
                                <p:cBhvr>
                                  <p:cTn id="303" dur="500" fill="hold"/>
                                  <p:tgtEl>
                                    <p:spTgt spid="3"/>
                                  </p:tgtEl>
                                </p:cBhvr>
                              </p:animEffect>
                            </p:childTnLst>
                          </p:cTn>
                        </p:par>
                        <p:par>
                          <p:cTn id="401" grpId="0" nodeType="withPrev">
                            <p:stCondLst>
                              <p:cond delay="0"/>
                            </p:stCondLst>
                            <p:childTnLst>
                              <p:set>
                                <p:cBhvr>
                                  <p:cTn id="402" dur="1" fill="hold"/>
                                  <p:tgtEl>
                                    <p:spTgt spid="4"/>
                                  </p:tgtEl>
                                  <p:attrNameLst>
                                    <p:attrName>style.visibility</p:attrName>
                                  </p:attrNameLst>
                                </p:cBhvr>
                                <p:to>
                                  <p:strVal val="visible"/>
                                </p:to>
                              </p:set>
                              <p:animEffect transition="in" filter="fade">
                                <p:cBhvr>
                                  <p:cTn id="403" dur="500" fill="hold"/>
                                  <p:tgtEl>
                                    <p:spTgt spid="4"/>
                                  </p:tgtEl>
                                </p:cBhvr>
                              </p:animEffect>
                            </p:childTnLst>
                          </p:cTn>
                        </p:par>
                        <p:par>
                          <p:cTn id="501" grpId="0" nodeType="withPrev">
                            <p:stCondLst>
                              <p:cond delay="400"/>
                            </p:stCondLst>
                            <p:childTnLst>
                              <p:set>
                                <p:cBhvr>
                                  <p:cTn id="502" dur="1" fill="hold"/>
                                  <p:tgtEl>
                                    <p:spTgt spid="5"/>
                                  </p:tgtEl>
                                  <p:attrNameLst>
                                    <p:attrName>style.visibility</p:attrName>
                                  </p:attrNameLst>
                                </p:cBhvr>
                                <p:to>
                                  <p:strVal val="visible"/>
                                </p:to>
                              </p:set>
                              <p:animEffect transition="in" filter="wipe(up)">
                                <p:cBhvr>
                                  <p:cTn id="503" dur="400" fill="hold"/>
                                  <p:tgtEl>
                                    <p:spTgt spid="5"/>
                                  </p:tgtEl>
                                </p:cBhvr>
                              </p:animEffect>
                            </p:childTnLst>
                          </p:cTn>
                        </p:par>
                        <p:par>
                          <p:cTn id="601" grpId="0" nodeType="withPrev">
                            <p:stCondLst>
                              <p:cond delay="400"/>
                            </p:stCondLst>
                            <p:childTnLst>
                              <p:set>
                                <p:cBhvr>
                                  <p:cTn id="602" dur="1" fill="hold"/>
                                  <p:tgtEl>
                                    <p:spTgt spid="6"/>
                                  </p:tgtEl>
                                  <p:attrNameLst>
                                    <p:attrName>style.visibility</p:attrName>
                                  </p:attrNameLst>
                                </p:cBhvr>
                                <p:to>
                                  <p:strVal val="visible"/>
                                </p:to>
                              </p:set>
                              <p:animEffect transition="in" filter="wipe(up)">
                                <p:cBhvr>
                                  <p:cTn id="603" dur="400" fill="hold"/>
                                  <p:tgtEl>
                                    <p:spTgt spid="6"/>
                                  </p:tgtEl>
                                </p:cBhvr>
                              </p:animEffect>
                            </p:childTnLst>
                          </p:cTn>
                        </p:par>
                        <p:par>
                          <p:cTn id="701" grpId="0" nodeType="withPrev">
                            <p:stCondLst>
                              <p:cond delay="700"/>
                            </p:stCondLst>
                            <p:childTnLst>
                              <p:set>
                                <p:cBhvr>
                                  <p:cTn id="702" dur="1" fill="hold"/>
                                  <p:tgtEl>
                                    <p:spTgt spid="7"/>
                                  </p:tgtEl>
                                  <p:attrNameLst>
                                    <p:attrName>style.visibility</p:attrName>
                                  </p:attrNameLst>
                                </p:cBhvr>
                                <p:to>
                                  <p:strVal val="visible"/>
                                </p:to>
                              </p:set>
                              <p:animEffect transition="in" filter="wipe(up)">
                                <p:cBhvr>
                                  <p:cTn id="703" dur="400" fill="hold"/>
                                  <p:tgtEl>
                                    <p:spTgt spid="7"/>
                                  </p:tgtEl>
                                </p:cBhvr>
                              </p:animEffect>
                            </p:childTnLst>
                          </p:cTn>
                        </p:par>
                        <p:par>
                          <p:cTn id="801" grpId="0" nodeType="withPrev">
                            <p:stCondLst>
                              <p:cond delay="700"/>
                            </p:stCondLst>
                            <p:childTnLst>
                              <p:set>
                                <p:cBhvr>
                                  <p:cTn id="802" dur="1" fill="hold"/>
                                  <p:tgtEl>
                                    <p:spTgt spid="8"/>
                                  </p:tgtEl>
                                  <p:attrNameLst>
                                    <p:attrName>style.visibility</p:attrName>
                                  </p:attrNameLst>
                                </p:cBhvr>
                                <p:to>
                                  <p:strVal val="visible"/>
                                </p:to>
                              </p:set>
                              <p:animEffect transition="in" filter="wipe(up)">
                                <p:cBhvr>
                                  <p:cTn id="803" dur="400" fill="hold"/>
                                  <p:tgtEl>
                                    <p:spTgt spid="8"/>
                                  </p:tgtEl>
                                </p:cBhvr>
                              </p:animEffect>
                            </p:childTnLst>
                          </p:cTn>
                        </p:par>
                        <p:par>
                          <p:cTn id="901" grpId="0" nodeType="withPrev">
                            <p:stCondLst>
                              <p:cond delay="1000"/>
                            </p:stCondLst>
                            <p:childTnLst>
                              <p:set>
                                <p:cBhvr>
                                  <p:cTn id="902" dur="1" fill="hold"/>
                                  <p:tgtEl>
                                    <p:spTgt spid="9"/>
                                  </p:tgtEl>
                                  <p:attrNameLst>
                                    <p:attrName>style.visibility</p:attrName>
                                  </p:attrNameLst>
                                </p:cBhvr>
                                <p:to>
                                  <p:strVal val="visible"/>
                                </p:to>
                              </p:set>
                              <p:animEffect transition="in" filter="wipe(up)">
                                <p:cBhvr>
                                  <p:cTn id="903" dur="400" fill="hold"/>
                                  <p:tgtEl>
                                    <p:spTgt spid="9"/>
                                  </p:tgtEl>
                                </p:cBhvr>
                              </p:animEffect>
                            </p:childTnLst>
                          </p:cTn>
                        </p:par>
                        <p:par>
                          <p:cTn id="1001" grpId="0" nodeType="withPrev">
                            <p:stCondLst>
                              <p:cond delay="1000"/>
                            </p:stCondLst>
                            <p:childTnLst>
                              <p:set>
                                <p:cBhvr>
                                  <p:cTn id="1002" dur="1" fill="hold"/>
                                  <p:tgtEl>
                                    <p:spTgt spid="10"/>
                                  </p:tgtEl>
                                  <p:attrNameLst>
                                    <p:attrName>style.visibility</p:attrName>
                                  </p:attrNameLst>
                                </p:cBhvr>
                                <p:to>
                                  <p:strVal val="visible"/>
                                </p:to>
                              </p:set>
                              <p:animEffect transition="in" filter="wipe(up)">
                                <p:cBhvr>
                                  <p:cTn id="1003" dur="400" fill="hold"/>
                                  <p:tgtEl>
                                    <p:spTgt spid="10"/>
                                  </p:tgtEl>
                                </p:cBhvr>
                              </p:animEffect>
                            </p:childTnLst>
                          </p:cTn>
                        </p:par>
                        <p:par>
                          <p:cTn id="1101" grpId="0" nodeType="withPrev">
                            <p:stCondLst>
                              <p:cond delay="1300"/>
                            </p:stCondLst>
                            <p:childTnLst>
                              <p:set>
                                <p:cBhvr>
                                  <p:cTn id="1102" dur="1" fill="hold"/>
                                  <p:tgtEl>
                                    <p:spTgt spid="11"/>
                                  </p:tgtEl>
                                  <p:attrNameLst>
                                    <p:attrName>style.visibility</p:attrName>
                                  </p:attrNameLst>
                                </p:cBhvr>
                                <p:to>
                                  <p:strVal val="visible"/>
                                </p:to>
                              </p:set>
                              <p:animEffect transition="in" filter="wipe(up)">
                                <p:cBhvr>
                                  <p:cTn id="1103" dur="400" fill="hold"/>
                                  <p:tgtEl>
                                    <p:spTgt spid="11"/>
                                  </p:tgtEl>
                                </p:cBhvr>
                              </p:animEffect>
                            </p:childTnLst>
                          </p:cTn>
                        </p:par>
                        <p:par>
                          <p:cTn id="1201" grpId="0" nodeType="withPrev">
                            <p:stCondLst>
                              <p:cond delay="1300"/>
                            </p:stCondLst>
                            <p:childTnLst>
                              <p:set>
                                <p:cBhvr>
                                  <p:cTn id="1202" dur="1" fill="hold"/>
                                  <p:tgtEl>
                                    <p:spTgt spid="12"/>
                                  </p:tgtEl>
                                  <p:attrNameLst>
                                    <p:attrName>style.visibility</p:attrName>
                                  </p:attrNameLst>
                                </p:cBhvr>
                                <p:to>
                                  <p:strVal val="visible"/>
                                </p:to>
                              </p:set>
                              <p:animEffect transition="in" filter="wipe(up)">
                                <p:cBhvr>
                                  <p:cTn id="1203" dur="400" fill="hold"/>
                                  <p:tgtEl>
                                    <p:spTgt spid="12"/>
                                  </p:tgtEl>
                                </p:cBhvr>
                              </p:animEffect>
                            </p:childTnLst>
                          </p:cTn>
                        </p:par>
                        <p:par>
                          <p:cTn id="1301" grpId="0" nodeType="withPrev">
                            <p:stCondLst>
                              <p:cond delay="1600"/>
                            </p:stCondLst>
                            <p:childTnLst>
                              <p:set>
                                <p:cBhvr>
                                  <p:cTn id="1302" dur="1" fill="hold"/>
                                  <p:tgtEl>
                                    <p:spTgt spid="13"/>
                                  </p:tgtEl>
                                  <p:attrNameLst>
                                    <p:attrName>style.visibility</p:attrName>
                                  </p:attrNameLst>
                                </p:cBhvr>
                                <p:to>
                                  <p:strVal val="visible"/>
                                </p:to>
                              </p:set>
                              <p:animEffect transition="in" filter="wipe(up)">
                                <p:cBhvr>
                                  <p:cTn id="1303" dur="400" fill="hold"/>
                                  <p:tgtEl>
                                    <p:spTgt spid="13"/>
                                  </p:tgtEl>
                                </p:cBhvr>
                              </p:animEffect>
                            </p:childTnLst>
                          </p:cTn>
                        </p:par>
                        <p:par>
                          <p:cTn id="1401" grpId="0" nodeType="withPrev">
                            <p:stCondLst>
                              <p:cond delay="1600"/>
                            </p:stCondLst>
                            <p:childTnLst>
                              <p:set>
                                <p:cBhvr>
                                  <p:cTn id="1402" dur="1" fill="hold"/>
                                  <p:tgtEl>
                                    <p:spTgt spid="14"/>
                                  </p:tgtEl>
                                  <p:attrNameLst>
                                    <p:attrName>style.visibility</p:attrName>
                                  </p:attrNameLst>
                                </p:cBhvr>
                                <p:to>
                                  <p:strVal val="visible"/>
                                </p:to>
                              </p:set>
                              <p:animEffect transition="in" filter="wipe(up)">
                                <p:cBhvr>
                                  <p:cTn id="1403" dur="400" fill="hold"/>
                                  <p:tgtEl>
                                    <p:spTgt spid="14"/>
                                  </p:tgtEl>
                                </p:cBhvr>
                              </p:animEffect>
                            </p:childTnLst>
                          </p:cTn>
                        </p:par>
                        <p:par>
                          <p:cTn id="1501" grpId="0" nodeType="withPrev">
                            <p:stCondLst>
                              <p:cond delay="1600"/>
                            </p:stCondLst>
                            <p:childTnLst>
                              <p:set>
                                <p:cBhvr>
                                  <p:cTn id="1502" dur="1" fill="hold"/>
                                  <p:tgtEl>
                                    <p:spTgt spid="15"/>
                                  </p:tgtEl>
                                  <p:attrNameLst>
                                    <p:attrName>style.visibility</p:attrName>
                                  </p:attrNameLst>
                                </p:cBhvr>
                                <p:to>
                                  <p:strVal val="visible"/>
                                </p:to>
                              </p:set>
                              <p:animEffect transition="in" filter="wipe(up)">
                                <p:cBhvr>
                                  <p:cTn id="1503" dur="400" fill="hold"/>
                                  <p:tgtEl>
                                    <p:spTgt spid="15"/>
                                  </p:tgtEl>
                                </p:cBhvr>
                              </p:animEffect>
                            </p:childTnLst>
                          </p:cTn>
                        </p:par>
                        <p:par>
                          <p:cTn id="1601" grpId="0" nodeType="withPrev">
                            <p:stCondLst>
                              <p:cond delay="1600"/>
                            </p:stCondLst>
                            <p:childTnLst>
                              <p:set>
                                <p:cBhvr>
                                  <p:cTn id="1602" dur="1" fill="hold"/>
                                  <p:tgtEl>
                                    <p:spTgt spid="16"/>
                                  </p:tgtEl>
                                  <p:attrNameLst>
                                    <p:attrName>style.visibility</p:attrName>
                                  </p:attrNameLst>
                                </p:cBhvr>
                                <p:to>
                                  <p:strVal val="visible"/>
                                </p:to>
                              </p:set>
                              <p:animEffect transition="in" filter="wipe(up)">
                                <p:cBhvr>
                                  <p:cTn id="1603" dur="400" fill="hold"/>
                                  <p:tgtEl>
                                    <p:spTgt spid="16"/>
                                  </p:tgtEl>
                                </p:cBhvr>
                              </p:animEffect>
                            </p:childTnLst>
                          </p:cTn>
                        </p:par>
                        <p:par>
                          <p:cTn id="1701" grpId="0" nodeType="withPrev">
                            <p:stCondLst>
                              <p:cond delay="1600"/>
                            </p:stCondLst>
                            <p:childTnLst>
                              <p:set>
                                <p:cBhvr>
                                  <p:cTn id="1702" dur="1" fill="hold"/>
                                  <p:tgtEl>
                                    <p:spTgt spid="17"/>
                                  </p:tgtEl>
                                  <p:attrNameLst>
                                    <p:attrName>style.visibility</p:attrName>
                                  </p:attrNameLst>
                                </p:cBhvr>
                                <p:to>
                                  <p:strVal val="visible"/>
                                </p:to>
                              </p:set>
                              <p:animEffect transition="in" filter="wipe(up)">
                                <p:cBhvr>
                                  <p:cTn id="1703" dur="400" fill="hold"/>
                                  <p:tgtEl>
                                    <p:spTgt spid="17"/>
                                  </p:tgtEl>
                                </p:cBhvr>
                              </p:animEffect>
                            </p:childTnLst>
                          </p:cTn>
                        </p:par>
                        <p:par>
                          <p:cTn id="1801" grpId="0" nodeType="withPrev">
                            <p:stCondLst>
                              <p:cond delay="1600"/>
                            </p:stCondLst>
                            <p:childTnLst>
                              <p:set>
                                <p:cBhvr>
                                  <p:cTn id="1802" dur="1" fill="hold"/>
                                  <p:tgtEl>
                                    <p:spTgt spid="18"/>
                                  </p:tgtEl>
                                  <p:attrNameLst>
                                    <p:attrName>style.visibility</p:attrName>
                                  </p:attrNameLst>
                                </p:cBhvr>
                                <p:to>
                                  <p:strVal val="visible"/>
                                </p:to>
                              </p:set>
                              <p:animEffect transition="in" filter="wipe(up)">
                                <p:cBhvr>
                                  <p:cTn id="1803" dur="400" fill="hold"/>
                                  <p:tgtEl>
                                    <p:spTgt spid="18"/>
                                  </p:tgtEl>
                                </p:cBhvr>
                              </p:animEffect>
                            </p:childTnLst>
                          </p:cTn>
                        </p:par>
                        <p:par>
                          <p:cTn id="1901" grpId="0" nodeType="withPrev">
                            <p:stCondLst>
                              <p:cond delay="1600"/>
                            </p:stCondLst>
                            <p:childTnLst>
                              <p:set>
                                <p:cBhvr>
                                  <p:cTn id="1902" dur="1" fill="hold"/>
                                  <p:tgtEl>
                                    <p:spTgt spid="19"/>
                                  </p:tgtEl>
                                  <p:attrNameLst>
                                    <p:attrName>style.visibility</p:attrName>
                                  </p:attrNameLst>
                                </p:cBhvr>
                                <p:to>
                                  <p:strVal val="visible"/>
                                </p:to>
                              </p:set>
                              <p:animEffect transition="in" filter="wipe(up)">
                                <p:cBhvr>
                                  <p:cTn id="1903" dur="400" fill="hold"/>
                                  <p:tgtEl>
                                    <p:spTgt spid="19"/>
                                  </p:tgtEl>
                                </p:cBhvr>
                              </p:animEffect>
                            </p:childTnLst>
                          </p:cTn>
                        </p:par>
                        <p:par>
                          <p:cTn id="2001" grpId="0" nodeType="withPrev">
                            <p:stCondLst>
                              <p:cond delay="1600"/>
                            </p:stCondLst>
                            <p:childTnLst>
                              <p:set>
                                <p:cBhvr>
                                  <p:cTn id="2002" dur="1" fill="hold"/>
                                  <p:tgtEl>
                                    <p:spTgt spid="20"/>
                                  </p:tgtEl>
                                  <p:attrNameLst>
                                    <p:attrName>style.visibility</p:attrName>
                                  </p:attrNameLst>
                                </p:cBhvr>
                                <p:to>
                                  <p:strVal val="visible"/>
                                </p:to>
                              </p:set>
                              <p:animEffect transition="in" filter="wipe(up)">
                                <p:cBhvr>
                                  <p:cTn id="2003" dur="400" fill="hold"/>
                                  <p:tgtEl>
                                    <p:spTgt spid="20"/>
                                  </p:tgtEl>
                                </p:cBhvr>
                              </p:animEffect>
                            </p:childTnLst>
                          </p:cTn>
                        </p:par>
                      </p:childTnLst>
                    </p:cTn>
                  </p:par>
                </p:childTnLst>
              </p:cTn>
            </p:par>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Select Data Integration Manager</a:t>
            </a:r>
            <a:endParaRPr lang="en-US" sz="2200" dirty="0"/>
          </a:p>
        </p:txBody>
      </p:sp>
      <p:sp>
        <p:nvSpPr>
          <p:cNvPr id="5" name="Shape 3"/>
          <p:cNvSpPr/>
          <p:nvPr/>
        </p:nvSpPr>
        <p:spPr>
          <a:xfrm>
            <a:off x="457200" y="1051560"/>
            <a:ext cx="8229600" cy="3566160"/>
          </a:xfrm>
          <a:prstGeom prst="rect">
            <a:avLst/>
          </a:prstGeom>
          <a:solidFill>
            <a:srgbClr val="FFFFFF"/>
          </a:solidFill>
          <a:ln w="12700">
            <a:solidFill>
              <a:srgbClr val="CBD5E1"/>
            </a:solidFill>
            <a:prstDash val="solid"/>
          </a:ln>
        </p:spPr>
      </p:sp>
      <p:sp>
        <p:nvSpPr>
          <p:cNvPr id="6" name="Shape 4"/>
          <p:cNvSpPr/>
          <p:nvPr/>
        </p:nvSpPr>
        <p:spPr>
          <a:xfrm>
            <a:off x="457200" y="1051560"/>
            <a:ext cx="8229600" cy="411480"/>
          </a:xfrm>
          <a:prstGeom prst="rect">
            <a:avLst/>
          </a:prstGeom>
          <a:solidFill>
            <a:srgbClr val="0D1B2A"/>
          </a:solidFill>
          <a:ln w="12700">
            <a:solidFill>
              <a:srgbClr val="0D1B2A"/>
            </a:solidFill>
            <a:prstDash val="solid"/>
          </a:ln>
        </p:spPr>
      </p:sp>
      <p:sp>
        <p:nvSpPr>
          <p:cNvPr id="7" name="Text 5"/>
          <p:cNvSpPr/>
          <p:nvPr/>
        </p:nvSpPr>
        <p:spPr>
          <a:xfrm>
            <a:off x="640080" y="1051560"/>
            <a:ext cx="731520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Platform List Items</a:t>
            </a:r>
            <a:endParaRPr lang="en-US" sz="1300" dirty="0"/>
          </a:p>
        </p:txBody>
      </p:sp>
      <p:sp>
        <p:nvSpPr>
          <p:cNvPr id="8" name="Shape 6"/>
          <p:cNvSpPr/>
          <p:nvPr/>
        </p:nvSpPr>
        <p:spPr>
          <a:xfrm>
            <a:off x="457200" y="1463040"/>
            <a:ext cx="8229600" cy="457200"/>
          </a:xfrm>
          <a:prstGeom prst="rect">
            <a:avLst/>
          </a:prstGeom>
          <a:solidFill>
            <a:srgbClr val="1B7FA6"/>
          </a:solidFill>
          <a:ln w="6350">
            <a:solidFill>
              <a:srgbClr val="CBD5E1"/>
            </a:solidFill>
            <a:prstDash val="solid"/>
          </a:ln>
        </p:spPr>
      </p:sp>
      <p:sp>
        <p:nvSpPr>
          <p:cNvPr id="9" name="Shape 7"/>
          <p:cNvSpPr/>
          <p:nvPr/>
        </p:nvSpPr>
        <p:spPr>
          <a:xfrm>
            <a:off x="457200" y="1463040"/>
            <a:ext cx="54864" cy="457200"/>
          </a:xfrm>
          <a:prstGeom prst="rect">
            <a:avLst/>
          </a:prstGeom>
          <a:solidFill>
            <a:srgbClr val="02C39A"/>
          </a:solidFill>
          <a:ln w="12700">
            <a:solidFill>
              <a:srgbClr val="02C39A"/>
            </a:solidFill>
            <a:prstDash val="solid"/>
          </a:ln>
        </p:spPr>
      </p:sp>
      <p:sp>
        <p:nvSpPr>
          <p:cNvPr id="10" name="Text 8"/>
          <p:cNvSpPr/>
          <p:nvPr/>
        </p:nvSpPr>
        <p:spPr>
          <a:xfrm>
            <a:off x="640080" y="1463040"/>
            <a:ext cx="640080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Integration Manager</a:t>
            </a:r>
            <a:endParaRPr lang="en-US" sz="1300" dirty="0"/>
          </a:p>
        </p:txBody>
      </p:sp>
      <p:sp>
        <p:nvSpPr>
          <p:cNvPr id="11" name="Text 9"/>
          <p:cNvSpPr/>
          <p:nvPr/>
        </p:nvSpPr>
        <p:spPr>
          <a:xfrm>
            <a:off x="6858000" y="1463040"/>
            <a:ext cx="1645920" cy="457200"/>
          </a:xfrm>
          <a:prstGeom prst="rect">
            <a:avLst/>
          </a:prstGeom>
          <a:noFill/>
          <a:ln/>
        </p:spPr>
        <p:txBody>
          <a:bodyPr wrap="square" rtlCol="0" anchor="ctr"/>
          <a:lstStyle/>
          <a:p>
            <a:pPr algn="r" indent="0" marL="0">
              <a:buNone/>
            </a:pPr>
            <a:r>
              <a:rPr lang="en-US" sz="1100" i="1" dirty="0">
                <a:solidFill>
                  <a:srgbClr val="02C39A"/>
                </a:solidFill>
                <a:latin typeface="Calibri" pitchFamily="34" charset="0"/>
                <a:ea typeface="Calibri" pitchFamily="34" charset="-122"/>
                <a:cs typeface="Calibri" pitchFamily="34" charset="-120"/>
              </a:rPr>
              <a:t>← Select this</a:t>
            </a:r>
            <a:endParaRPr lang="en-US" sz="1100" dirty="0"/>
          </a:p>
        </p:txBody>
      </p:sp>
      <p:sp>
        <p:nvSpPr>
          <p:cNvPr id="12" name="Shape 10"/>
          <p:cNvSpPr/>
          <p:nvPr/>
        </p:nvSpPr>
        <p:spPr>
          <a:xfrm>
            <a:off x="457200" y="1938528"/>
            <a:ext cx="8229600" cy="457200"/>
          </a:xfrm>
          <a:prstGeom prst="rect">
            <a:avLst/>
          </a:prstGeom>
          <a:solidFill>
            <a:srgbClr val="FFFFFF"/>
          </a:solidFill>
          <a:ln w="6350">
            <a:solidFill>
              <a:srgbClr val="CBD5E1"/>
            </a:solidFill>
            <a:prstDash val="solid"/>
          </a:ln>
        </p:spPr>
      </p:sp>
      <p:sp>
        <p:nvSpPr>
          <p:cNvPr id="13" name="Text 11"/>
          <p:cNvSpPr/>
          <p:nvPr/>
        </p:nvSpPr>
        <p:spPr>
          <a:xfrm>
            <a:off x="640080" y="1938528"/>
            <a:ext cx="6400800" cy="45720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Data Elements</a:t>
            </a:r>
            <a:endParaRPr lang="en-US" sz="1300" dirty="0"/>
          </a:p>
        </p:txBody>
      </p:sp>
      <p:sp>
        <p:nvSpPr>
          <p:cNvPr id="14" name="Shape 12"/>
          <p:cNvSpPr/>
          <p:nvPr/>
        </p:nvSpPr>
        <p:spPr>
          <a:xfrm>
            <a:off x="457200" y="2414016"/>
            <a:ext cx="8229600" cy="457200"/>
          </a:xfrm>
          <a:prstGeom prst="rect">
            <a:avLst/>
          </a:prstGeom>
          <a:solidFill>
            <a:srgbClr val="F8FAFC"/>
          </a:solidFill>
          <a:ln w="6350">
            <a:solidFill>
              <a:srgbClr val="CBD5E1"/>
            </a:solidFill>
            <a:prstDash val="solid"/>
          </a:ln>
        </p:spPr>
      </p:sp>
      <p:sp>
        <p:nvSpPr>
          <p:cNvPr id="15" name="Text 13"/>
          <p:cNvSpPr/>
          <p:nvPr/>
        </p:nvSpPr>
        <p:spPr>
          <a:xfrm>
            <a:off x="640080" y="2414016"/>
            <a:ext cx="6400800" cy="45720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Detection Process</a:t>
            </a:r>
            <a:endParaRPr lang="en-US" sz="1300" dirty="0"/>
          </a:p>
        </p:txBody>
      </p:sp>
      <p:sp>
        <p:nvSpPr>
          <p:cNvPr id="16" name="Shape 14"/>
          <p:cNvSpPr/>
          <p:nvPr/>
        </p:nvSpPr>
        <p:spPr>
          <a:xfrm>
            <a:off x="457200" y="2889504"/>
            <a:ext cx="8229600" cy="457200"/>
          </a:xfrm>
          <a:prstGeom prst="rect">
            <a:avLst/>
          </a:prstGeom>
          <a:solidFill>
            <a:srgbClr val="FFFFFF"/>
          </a:solidFill>
          <a:ln w="6350">
            <a:solidFill>
              <a:srgbClr val="CBD5E1"/>
            </a:solidFill>
            <a:prstDash val="solid"/>
          </a:ln>
        </p:spPr>
      </p:sp>
      <p:sp>
        <p:nvSpPr>
          <p:cNvPr id="17" name="Text 15"/>
          <p:cNvSpPr/>
          <p:nvPr/>
        </p:nvSpPr>
        <p:spPr>
          <a:xfrm>
            <a:off x="640080" y="2889504"/>
            <a:ext cx="6400800" cy="45720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System Configuration</a:t>
            </a:r>
            <a:endParaRPr lang="en-US" sz="1300" dirty="0"/>
          </a:p>
        </p:txBody>
      </p:sp>
      <p:sp>
        <p:nvSpPr>
          <p:cNvPr id="18" name="Shape 16"/>
          <p:cNvSpPr/>
          <p:nvPr/>
        </p:nvSpPr>
        <p:spPr>
          <a:xfrm>
            <a:off x="457200" y="3364992"/>
            <a:ext cx="8229600" cy="457200"/>
          </a:xfrm>
          <a:prstGeom prst="rect">
            <a:avLst/>
          </a:prstGeom>
          <a:solidFill>
            <a:srgbClr val="F8FAFC"/>
          </a:solidFill>
          <a:ln w="6350">
            <a:solidFill>
              <a:srgbClr val="CBD5E1"/>
            </a:solidFill>
            <a:prstDash val="solid"/>
          </a:ln>
        </p:spPr>
      </p:sp>
      <p:sp>
        <p:nvSpPr>
          <p:cNvPr id="19" name="Text 17"/>
          <p:cNvSpPr/>
          <p:nvPr/>
        </p:nvSpPr>
        <p:spPr>
          <a:xfrm>
            <a:off x="640080" y="3364992"/>
            <a:ext cx="6400800" cy="45720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Alert Rules</a:t>
            </a:r>
            <a:endParaRPr lang="en-US" sz="1300" dirty="0"/>
          </a:p>
        </p:txBody>
      </p:sp>
    </p:spTree>
  </p:cSld>
  <p:clrMapOvr>
    <a:masterClrMapping/>
  </p:clrMapOvr>
  <p:transition spd="med" advClick="1" advTm="0">
    <p:fade/>
  </p:transition>
  <p:timing>
    <p:tnLst>
      <p:par>
        <p:cTn id="8000" dur="indefin" restart="whenNotActive" nodeType="tmRoot">
          <p:childTnLst>
            <p:par>
              <p:cTn id="8001" fill="hold" nodeType="mainSeq">
                <p:stCondLst>
                  <p:cond delay="indefin"/>
                </p:stCondLst>
                <p:childTnLst>
                  <p:par>
                    <p:cTn id="8002" fill="hold">
                      <p:stCondLst>
                        <p:cond delay="0"/>
                      </p:stCondLst>
                      <p:childTnLst>
                        <p:par>
                          <p:cTn id="201" grpId="0" nodeType="withPrev">
                            <p:stCondLst>
                              <p:cond delay="0"/>
                            </p:stCondLst>
                            <p:childTnLst>
                              <p:set>
                                <p:cBhvr>
                                  <p:cTn id="202" dur="1" fill="hold"/>
                                  <p:tgtEl>
                                    <p:spTgt spid="2"/>
                                  </p:tgtEl>
                                  <p:attrNameLst>
                                    <p:attrName>style.visibility</p:attrName>
                                  </p:attrNameLst>
                                </p:cBhvr>
                                <p:to>
                                  <p:strVal val="visible"/>
                                </p:to>
                              </p:set>
                              <p:animEffect transition="in" filter="fade">
                                <p:cBhvr>
                                  <p:cTn id="203" dur="500" fill="hold"/>
                                  <p:tgtEl>
                                    <p:spTgt spid="2"/>
                                  </p:tgtEl>
                                </p:cBhvr>
                              </p:animEffect>
                            </p:childTnLst>
                          </p:cTn>
                        </p:par>
                        <p:par>
                          <p:cTn id="301" grpId="0" nodeType="withPrev">
                            <p:stCondLst>
                              <p:cond delay="0"/>
                            </p:stCondLst>
                            <p:childTnLst>
                              <p:set>
                                <p:cBhvr>
                                  <p:cTn id="302" dur="1" fill="hold"/>
                                  <p:tgtEl>
                                    <p:spTgt spid="3"/>
                                  </p:tgtEl>
                                  <p:attrNameLst>
                                    <p:attrName>style.visibility</p:attrName>
                                  </p:attrNameLst>
                                </p:cBhvr>
                                <p:to>
                                  <p:strVal val="visible"/>
                                </p:to>
                              </p:set>
                              <p:animEffect transition="in" filter="fade">
                                <p:cBhvr>
                                  <p:cTn id="303" dur="500" fill="hold"/>
                                  <p:tgtEl>
                                    <p:spTgt spid="3"/>
                                  </p:tgtEl>
                                </p:cBhvr>
                              </p:animEffect>
                            </p:childTnLst>
                          </p:cTn>
                        </p:par>
                        <p:par>
                          <p:cTn id="401" grpId="0" nodeType="withPrev">
                            <p:stCondLst>
                              <p:cond delay="0"/>
                            </p:stCondLst>
                            <p:childTnLst>
                              <p:set>
                                <p:cBhvr>
                                  <p:cTn id="402" dur="1" fill="hold"/>
                                  <p:tgtEl>
                                    <p:spTgt spid="4"/>
                                  </p:tgtEl>
                                  <p:attrNameLst>
                                    <p:attrName>style.visibility</p:attrName>
                                  </p:attrNameLst>
                                </p:cBhvr>
                                <p:to>
                                  <p:strVal val="visible"/>
                                </p:to>
                              </p:set>
                              <p:animEffect transition="in" filter="fade">
                                <p:cBhvr>
                                  <p:cTn id="403" dur="500" fill="hold"/>
                                  <p:tgtEl>
                                    <p:spTgt spid="4"/>
                                  </p:tgtEl>
                                </p:cBhvr>
                              </p:animEffect>
                            </p:childTnLst>
                          </p:cTn>
                        </p:par>
                        <p:par>
                          <p:cTn id="501" grpId="0" nodeType="withPrev">
                            <p:stCondLst>
                              <p:cond delay="300"/>
                            </p:stCondLst>
                            <p:childTnLst>
                              <p:set>
                                <p:cBhvr>
                                  <p:cTn id="502" dur="1" fill="hold"/>
                                  <p:tgtEl>
                                    <p:spTgt spid="5"/>
                                  </p:tgtEl>
                                  <p:attrNameLst>
                                    <p:attrName>style.visibility</p:attrName>
                                  </p:attrNameLst>
                                </p:cBhvr>
                                <p:to>
                                  <p:strVal val="visible"/>
                                </p:to>
                              </p:set>
                              <p:animEffect transition="in" filter="fade">
                                <p:cBhvr>
                                  <p:cTn id="503" dur="500" fill="hold"/>
                                  <p:tgtEl>
                                    <p:spTgt spid="5"/>
                                  </p:tgtEl>
                                </p:cBhvr>
                              </p:animEffect>
                            </p:childTnLst>
                          </p:cTn>
                        </p:par>
                        <p:par>
                          <p:cTn id="601" grpId="0" nodeType="withPrev">
                            <p:stCondLst>
                              <p:cond delay="300"/>
                            </p:stCondLst>
                            <p:childTnLst>
                              <p:set>
                                <p:cBhvr>
                                  <p:cTn id="602" dur="1" fill="hold"/>
                                  <p:tgtEl>
                                    <p:spTgt spid="6"/>
                                  </p:tgtEl>
                                  <p:attrNameLst>
                                    <p:attrName>style.visibility</p:attrName>
                                  </p:attrNameLst>
                                </p:cBhvr>
                                <p:to>
                                  <p:strVal val="visible"/>
                                </p:to>
                              </p:set>
                              <p:animEffect transition="in" filter="fade">
                                <p:cBhvr>
                                  <p:cTn id="603" dur="500" fill="hold"/>
                                  <p:tgtEl>
                                    <p:spTgt spid="6"/>
                                  </p:tgtEl>
                                </p:cBhvr>
                              </p:animEffect>
                            </p:childTnLst>
                          </p:cTn>
                        </p:par>
                        <p:par>
                          <p:cTn id="701" grpId="0" nodeType="withPrev">
                            <p:stCondLst>
                              <p:cond delay="300"/>
                            </p:stCondLst>
                            <p:childTnLst>
                              <p:set>
                                <p:cBhvr>
                                  <p:cTn id="702" dur="1" fill="hold"/>
                                  <p:tgtEl>
                                    <p:spTgt spid="7"/>
                                  </p:tgtEl>
                                  <p:attrNameLst>
                                    <p:attrName>style.visibility</p:attrName>
                                  </p:attrNameLst>
                                </p:cBhvr>
                                <p:to>
                                  <p:strVal val="visible"/>
                                </p:to>
                              </p:set>
                              <p:animEffect transition="in" filter="fade">
                                <p:cBhvr>
                                  <p:cTn id="703" dur="500" fill="hold"/>
                                  <p:tgtEl>
                                    <p:spTgt spid="7"/>
                                  </p:tgtEl>
                                </p:cBhvr>
                              </p:animEffect>
                            </p:childTnLst>
                          </p:cTn>
                        </p:par>
                        <p:par>
                          <p:cTn id="801" grpId="0" nodeType="withPrev">
                            <p:stCondLst>
                              <p:cond delay="500"/>
                            </p:stCondLst>
                            <p:childTnLst>
                              <p:set>
                                <p:cBhvr>
                                  <p:cTn id="802" dur="1" fill="hold"/>
                                  <p:tgtEl>
                                    <p:spTgt spid="8"/>
                                  </p:tgtEl>
                                  <p:attrNameLst>
                                    <p:attrName>style.visibility</p:attrName>
                                  </p:attrNameLst>
                                </p:cBhvr>
                                <p:to>
                                  <p:strVal val="visible"/>
                                </p:to>
                              </p:set>
                              <p:animEffect transition="in" filter="wipe(up)">
                                <p:cBhvr>
                                  <p:cTn id="803" dur="400" fill="hold"/>
                                  <p:tgtEl>
                                    <p:spTgt spid="8"/>
                                  </p:tgtEl>
                                </p:cBhvr>
                              </p:animEffect>
                            </p:childTnLst>
                          </p:cTn>
                        </p:par>
                        <p:par>
                          <p:cTn id="901" grpId="0" nodeType="withPrev">
                            <p:stCondLst>
                              <p:cond delay="500"/>
                            </p:stCondLst>
                            <p:childTnLst>
                              <p:set>
                                <p:cBhvr>
                                  <p:cTn id="902" dur="1" fill="hold"/>
                                  <p:tgtEl>
                                    <p:spTgt spid="9"/>
                                  </p:tgtEl>
                                  <p:attrNameLst>
                                    <p:attrName>style.visibility</p:attrName>
                                  </p:attrNameLst>
                                </p:cBhvr>
                                <p:to>
                                  <p:strVal val="visible"/>
                                </p:to>
                              </p:set>
                              <p:animEffect transition="in" filter="wipe(up)">
                                <p:cBhvr>
                                  <p:cTn id="903" dur="400" fill="hold"/>
                                  <p:tgtEl>
                                    <p:spTgt spid="9"/>
                                  </p:tgtEl>
                                </p:cBhvr>
                              </p:animEffect>
                            </p:childTnLst>
                          </p:cTn>
                        </p:par>
                        <p:par>
                          <p:cTn id="1001" grpId="0" nodeType="withPrev">
                            <p:stCondLst>
                              <p:cond delay="500"/>
                            </p:stCondLst>
                            <p:childTnLst>
                              <p:set>
                                <p:cBhvr>
                                  <p:cTn id="1002" dur="1" fill="hold"/>
                                  <p:tgtEl>
                                    <p:spTgt spid="10"/>
                                  </p:tgtEl>
                                  <p:attrNameLst>
                                    <p:attrName>style.visibility</p:attrName>
                                  </p:attrNameLst>
                                </p:cBhvr>
                                <p:to>
                                  <p:strVal val="visible"/>
                                </p:to>
                              </p:set>
                              <p:animEffect transition="in" filter="wipe(up)">
                                <p:cBhvr>
                                  <p:cTn id="1003" dur="400" fill="hold"/>
                                  <p:tgtEl>
                                    <p:spTgt spid="10"/>
                                  </p:tgtEl>
                                </p:cBhvr>
                              </p:animEffect>
                            </p:childTnLst>
                          </p:cTn>
                        </p:par>
                        <p:par>
                          <p:cTn id="1101" grpId="0" nodeType="withPrev">
                            <p:stCondLst>
                              <p:cond delay="700"/>
                            </p:stCondLst>
                            <p:childTnLst>
                              <p:set>
                                <p:cBhvr>
                                  <p:cTn id="1102" dur="1" fill="hold"/>
                                  <p:tgtEl>
                                    <p:spTgt spid="11"/>
                                  </p:tgtEl>
                                  <p:attrNameLst>
                                    <p:attrName>style.visibility</p:attrName>
                                  </p:attrNameLst>
                                </p:cBhvr>
                                <p:to>
                                  <p:strVal val="visible"/>
                                </p:to>
                              </p:set>
                              <p:animEffect transition="in" filter="wipe(up)">
                                <p:cBhvr>
                                  <p:cTn id="1103" dur="400" fill="hold"/>
                                  <p:tgtEl>
                                    <p:spTgt spid="11"/>
                                  </p:tgtEl>
                                </p:cBhvr>
                              </p:animEffect>
                            </p:childTnLst>
                          </p:cTn>
                        </p:par>
                        <p:par>
                          <p:cTn id="1201" grpId="0" nodeType="withPrev">
                            <p:stCondLst>
                              <p:cond delay="900"/>
                            </p:stCondLst>
                            <p:childTnLst>
                              <p:set>
                                <p:cBhvr>
                                  <p:cTn id="1202" dur="1" fill="hold"/>
                                  <p:tgtEl>
                                    <p:spTgt spid="12"/>
                                  </p:tgtEl>
                                  <p:attrNameLst>
                                    <p:attrName>style.visibility</p:attrName>
                                  </p:attrNameLst>
                                </p:cBhvr>
                                <p:to>
                                  <p:strVal val="visible"/>
                                </p:to>
                              </p:set>
                              <p:animEffect transition="in" filter="wipe(up)">
                                <p:cBhvr>
                                  <p:cTn id="1203" dur="400" fill="hold"/>
                                  <p:tgtEl>
                                    <p:spTgt spid="12"/>
                                  </p:tgtEl>
                                </p:cBhvr>
                              </p:animEffect>
                            </p:childTnLst>
                          </p:cTn>
                        </p:par>
                        <p:par>
                          <p:cTn id="1301" grpId="0" nodeType="withPrev">
                            <p:stCondLst>
                              <p:cond delay="900"/>
                            </p:stCondLst>
                            <p:childTnLst>
                              <p:set>
                                <p:cBhvr>
                                  <p:cTn id="1302" dur="1" fill="hold"/>
                                  <p:tgtEl>
                                    <p:spTgt spid="13"/>
                                  </p:tgtEl>
                                  <p:attrNameLst>
                                    <p:attrName>style.visibility</p:attrName>
                                  </p:attrNameLst>
                                </p:cBhvr>
                                <p:to>
                                  <p:strVal val="visible"/>
                                </p:to>
                              </p:set>
                              <p:animEffect transition="in" filter="wipe(up)">
                                <p:cBhvr>
                                  <p:cTn id="1303" dur="400" fill="hold"/>
                                  <p:tgtEl>
                                    <p:spTgt spid="13"/>
                                  </p:tgtEl>
                                </p:cBhvr>
                              </p:animEffect>
                            </p:childTnLst>
                          </p:cTn>
                        </p:par>
                        <p:par>
                          <p:cTn id="1401" grpId="0" nodeType="withPrev">
                            <p:stCondLst>
                              <p:cond delay="1100"/>
                            </p:stCondLst>
                            <p:childTnLst>
                              <p:set>
                                <p:cBhvr>
                                  <p:cTn id="1402" dur="1" fill="hold"/>
                                  <p:tgtEl>
                                    <p:spTgt spid="14"/>
                                  </p:tgtEl>
                                  <p:attrNameLst>
                                    <p:attrName>style.visibility</p:attrName>
                                  </p:attrNameLst>
                                </p:cBhvr>
                                <p:to>
                                  <p:strVal val="visible"/>
                                </p:to>
                              </p:set>
                              <p:animEffect transition="in" filter="wipe(up)">
                                <p:cBhvr>
                                  <p:cTn id="1403" dur="400" fill="hold"/>
                                  <p:tgtEl>
                                    <p:spTgt spid="14"/>
                                  </p:tgtEl>
                                </p:cBhvr>
                              </p:animEffect>
                            </p:childTnLst>
                          </p:cTn>
                        </p:par>
                        <p:par>
                          <p:cTn id="1501" grpId="0" nodeType="withPrev">
                            <p:stCondLst>
                              <p:cond delay="1100"/>
                            </p:stCondLst>
                            <p:childTnLst>
                              <p:set>
                                <p:cBhvr>
                                  <p:cTn id="1502" dur="1" fill="hold"/>
                                  <p:tgtEl>
                                    <p:spTgt spid="15"/>
                                  </p:tgtEl>
                                  <p:attrNameLst>
                                    <p:attrName>style.visibility</p:attrName>
                                  </p:attrNameLst>
                                </p:cBhvr>
                                <p:to>
                                  <p:strVal val="visible"/>
                                </p:to>
                              </p:set>
                              <p:animEffect transition="in" filter="wipe(up)">
                                <p:cBhvr>
                                  <p:cTn id="1503" dur="400" fill="hold"/>
                                  <p:tgtEl>
                                    <p:spTgt spid="15"/>
                                  </p:tgtEl>
                                </p:cBhvr>
                              </p:animEffect>
                            </p:childTnLst>
                          </p:cTn>
                        </p:par>
                        <p:par>
                          <p:cTn id="1601" grpId="0" nodeType="withPrev">
                            <p:stCondLst>
                              <p:cond delay="1300"/>
                            </p:stCondLst>
                            <p:childTnLst>
                              <p:set>
                                <p:cBhvr>
                                  <p:cTn id="1602" dur="1" fill="hold"/>
                                  <p:tgtEl>
                                    <p:spTgt spid="16"/>
                                  </p:tgtEl>
                                  <p:attrNameLst>
                                    <p:attrName>style.visibility</p:attrName>
                                  </p:attrNameLst>
                                </p:cBhvr>
                                <p:to>
                                  <p:strVal val="visible"/>
                                </p:to>
                              </p:set>
                              <p:animEffect transition="in" filter="wipe(up)">
                                <p:cBhvr>
                                  <p:cTn id="1603" dur="400" fill="hold"/>
                                  <p:tgtEl>
                                    <p:spTgt spid="16"/>
                                  </p:tgtEl>
                                </p:cBhvr>
                              </p:animEffect>
                            </p:childTnLst>
                          </p:cTn>
                        </p:par>
                        <p:par>
                          <p:cTn id="1701" grpId="0" nodeType="withPrev">
                            <p:stCondLst>
                              <p:cond delay="1300"/>
                            </p:stCondLst>
                            <p:childTnLst>
                              <p:set>
                                <p:cBhvr>
                                  <p:cTn id="1702" dur="1" fill="hold"/>
                                  <p:tgtEl>
                                    <p:spTgt spid="17"/>
                                  </p:tgtEl>
                                  <p:attrNameLst>
                                    <p:attrName>style.visibility</p:attrName>
                                  </p:attrNameLst>
                                </p:cBhvr>
                                <p:to>
                                  <p:strVal val="visible"/>
                                </p:to>
                              </p:set>
                              <p:animEffect transition="in" filter="wipe(up)">
                                <p:cBhvr>
                                  <p:cTn id="1703" dur="400" fill="hold"/>
                                  <p:tgtEl>
                                    <p:spTgt spid="17"/>
                                  </p:tgtEl>
                                </p:cBhvr>
                              </p:animEffect>
                            </p:childTnLst>
                          </p:cTn>
                        </p:par>
                        <p:par>
                          <p:cTn id="1801" grpId="0" nodeType="withPrev">
                            <p:stCondLst>
                              <p:cond delay="1500"/>
                            </p:stCondLst>
                            <p:childTnLst>
                              <p:set>
                                <p:cBhvr>
                                  <p:cTn id="1802" dur="1" fill="hold"/>
                                  <p:tgtEl>
                                    <p:spTgt spid="18"/>
                                  </p:tgtEl>
                                  <p:attrNameLst>
                                    <p:attrName>style.visibility</p:attrName>
                                  </p:attrNameLst>
                                </p:cBhvr>
                                <p:to>
                                  <p:strVal val="visible"/>
                                </p:to>
                              </p:set>
                              <p:animEffect transition="in" filter="wipe(up)">
                                <p:cBhvr>
                                  <p:cTn id="1803" dur="400" fill="hold"/>
                                  <p:tgtEl>
                                    <p:spTgt spid="18"/>
                                  </p:tgtEl>
                                </p:cBhvr>
                              </p:animEffect>
                            </p:childTnLst>
                          </p:cTn>
                        </p:par>
                        <p:par>
                          <p:cTn id="1901" grpId="0" nodeType="withPrev">
                            <p:stCondLst>
                              <p:cond delay="1500"/>
                            </p:stCondLst>
                            <p:childTnLst>
                              <p:set>
                                <p:cBhvr>
                                  <p:cTn id="1902" dur="1" fill="hold"/>
                                  <p:tgtEl>
                                    <p:spTgt spid="19"/>
                                  </p:tgtEl>
                                  <p:attrNameLst>
                                    <p:attrName>style.visibility</p:attrName>
                                  </p:attrNameLst>
                                </p:cBhvr>
                                <p:to>
                                  <p:strVal val="visible"/>
                                </p:to>
                              </p:set>
                              <p:animEffect transition="in" filter="wipe(up)">
                                <p:cBhvr>
                                  <p:cTn id="1903" dur="400" fill="hold"/>
                                  <p:tgtEl>
                                    <p:spTgt spid="19"/>
                                  </p:tgtEl>
                                </p:cBhvr>
                              </p:animEffect>
                            </p:childTnLst>
                          </p:cTn>
                        </p:par>
                      </p:childTnLst>
                    </p:cTn>
                  </p:par>
                </p:childTnLst>
              </p:cTn>
            </p:par>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Add a New Platform List Item</a:t>
            </a:r>
            <a:endParaRPr lang="en-US" sz="2200" dirty="0"/>
          </a:p>
        </p:txBody>
      </p:sp>
      <p:sp>
        <p:nvSpPr>
          <p:cNvPr id="5" name="Text 3"/>
          <p:cNvSpPr/>
          <p:nvPr/>
        </p:nvSpPr>
        <p:spPr>
          <a:xfrm>
            <a:off x="457200" y="1097280"/>
            <a:ext cx="3931920" cy="365760"/>
          </a:xfrm>
          <a:prstGeom prst="rect">
            <a:avLst/>
          </a:prstGeom>
          <a:noFill/>
          <a:ln/>
        </p:spPr>
        <p:txBody>
          <a:bodyPr wrap="square" rtlCol="0" anchor="ctr"/>
          <a:lstStyle/>
          <a:p>
            <a:pPr indent="0" marL="0">
              <a:buNone/>
            </a:pPr>
            <a:r>
              <a:rPr lang="en-US" sz="1400" b="1" dirty="0">
                <a:solidFill>
                  <a:srgbClr val="0E5C7A"/>
                </a:solidFill>
                <a:latin typeface="Calibri" pitchFamily="34" charset="0"/>
                <a:ea typeface="Calibri" pitchFamily="34" charset="-122"/>
                <a:cs typeface="Calibri" pitchFamily="34" charset="-120"/>
              </a:rPr>
              <a:t>How to add a new item:</a:t>
            </a:r>
            <a:endParaRPr lang="en-US" sz="1400" dirty="0"/>
          </a:p>
        </p:txBody>
      </p:sp>
      <p:sp>
        <p:nvSpPr>
          <p:cNvPr id="6" name="Shape 4"/>
          <p:cNvSpPr/>
          <p:nvPr/>
        </p:nvSpPr>
        <p:spPr>
          <a:xfrm>
            <a:off x="457200" y="1572768"/>
            <a:ext cx="320040" cy="320040"/>
          </a:xfrm>
          <a:prstGeom prst="ellipse">
            <a:avLst/>
          </a:prstGeom>
          <a:solidFill>
            <a:srgbClr val="1B7FA6"/>
          </a:solidFill>
          <a:ln w="12700">
            <a:solidFill>
              <a:srgbClr val="1B7FA6"/>
            </a:solidFill>
            <a:prstDash val="solid"/>
          </a:ln>
        </p:spPr>
      </p:sp>
      <p:sp>
        <p:nvSpPr>
          <p:cNvPr id="7" name="Text 5"/>
          <p:cNvSpPr/>
          <p:nvPr/>
        </p:nvSpPr>
        <p:spPr>
          <a:xfrm>
            <a:off x="457200" y="1572768"/>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8" name="Text 6"/>
          <p:cNvSpPr/>
          <p:nvPr/>
        </p:nvSpPr>
        <p:spPr>
          <a:xfrm>
            <a:off x="914400" y="1572768"/>
            <a:ext cx="3474720" cy="548640"/>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Click the + New Item icon in the toolbar</a:t>
            </a:r>
            <a:endParaRPr lang="en-US" sz="1200" dirty="0"/>
          </a:p>
        </p:txBody>
      </p:sp>
      <p:sp>
        <p:nvSpPr>
          <p:cNvPr id="9" name="Shape 7"/>
          <p:cNvSpPr/>
          <p:nvPr/>
        </p:nvSpPr>
        <p:spPr>
          <a:xfrm>
            <a:off x="457200" y="2322576"/>
            <a:ext cx="320040" cy="320040"/>
          </a:xfrm>
          <a:prstGeom prst="ellipse">
            <a:avLst/>
          </a:prstGeom>
          <a:solidFill>
            <a:srgbClr val="1B7FA6"/>
          </a:solidFill>
          <a:ln w="12700">
            <a:solidFill>
              <a:srgbClr val="1B7FA6"/>
            </a:solidFill>
            <a:prstDash val="solid"/>
          </a:ln>
        </p:spPr>
      </p:sp>
      <p:sp>
        <p:nvSpPr>
          <p:cNvPr id="10" name="Text 8"/>
          <p:cNvSpPr/>
          <p:nvPr/>
        </p:nvSpPr>
        <p:spPr>
          <a:xfrm>
            <a:off x="457200" y="2322576"/>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Text 9"/>
          <p:cNvSpPr/>
          <p:nvPr/>
        </p:nvSpPr>
        <p:spPr>
          <a:xfrm>
            <a:off x="914400" y="2322576"/>
            <a:ext cx="3474720" cy="548640"/>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The New Platform List Item wizard opens</a:t>
            </a:r>
            <a:endParaRPr lang="en-US" sz="1200" dirty="0"/>
          </a:p>
        </p:txBody>
      </p:sp>
      <p:sp>
        <p:nvSpPr>
          <p:cNvPr id="12" name="Shape 10"/>
          <p:cNvSpPr/>
          <p:nvPr/>
        </p:nvSpPr>
        <p:spPr>
          <a:xfrm>
            <a:off x="457200" y="3072384"/>
            <a:ext cx="320040" cy="320040"/>
          </a:xfrm>
          <a:prstGeom prst="ellipse">
            <a:avLst/>
          </a:prstGeom>
          <a:solidFill>
            <a:srgbClr val="1B7FA6"/>
          </a:solidFill>
          <a:ln w="12700">
            <a:solidFill>
              <a:srgbClr val="1B7FA6"/>
            </a:solidFill>
            <a:prstDash val="solid"/>
          </a:ln>
        </p:spPr>
      </p:sp>
      <p:sp>
        <p:nvSpPr>
          <p:cNvPr id="13" name="Text 11"/>
          <p:cNvSpPr/>
          <p:nvPr/>
        </p:nvSpPr>
        <p:spPr>
          <a:xfrm>
            <a:off x="457200" y="3072384"/>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4" name="Text 12"/>
          <p:cNvSpPr/>
          <p:nvPr/>
        </p:nvSpPr>
        <p:spPr>
          <a:xfrm>
            <a:off x="914400" y="3072384"/>
            <a:ext cx="3474720" cy="548640"/>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Follow the wizard steps to configure the data stream</a:t>
            </a:r>
            <a:endParaRPr lang="en-US" sz="1200" dirty="0"/>
          </a:p>
        </p:txBody>
      </p:sp>
      <p:sp>
        <p:nvSpPr>
          <p:cNvPr id="15" name="Shape 13"/>
          <p:cNvSpPr/>
          <p:nvPr/>
        </p:nvSpPr>
        <p:spPr>
          <a:xfrm>
            <a:off x="4572000" y="1051560"/>
            <a:ext cx="4114800" cy="3749040"/>
          </a:xfrm>
          <a:prstGeom prst="rect">
            <a:avLst/>
          </a:prstGeom>
          <a:solidFill>
            <a:srgbClr val="FFFFFF"/>
          </a:solidFill>
          <a:ln w="19050">
            <a:solidFill>
              <a:srgbClr val="1B7FA6"/>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4572000" y="1051560"/>
            <a:ext cx="4114800" cy="457200"/>
          </a:xfrm>
          <a:prstGeom prst="rect">
            <a:avLst/>
          </a:prstGeom>
          <a:solidFill>
            <a:srgbClr val="1B7FA6"/>
          </a:solidFill>
          <a:ln w="12700">
            <a:solidFill>
              <a:srgbClr val="1B7FA6"/>
            </a:solidFill>
            <a:prstDash val="solid"/>
          </a:ln>
        </p:spPr>
      </p:sp>
      <p:sp>
        <p:nvSpPr>
          <p:cNvPr id="17" name="Text 15"/>
          <p:cNvSpPr/>
          <p:nvPr/>
        </p:nvSpPr>
        <p:spPr>
          <a:xfrm>
            <a:off x="4617720" y="1051560"/>
            <a:ext cx="402336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New Platform List Item</a:t>
            </a:r>
            <a:endParaRPr lang="en-US" sz="1300" dirty="0"/>
          </a:p>
        </p:txBody>
      </p:sp>
      <p:sp>
        <p:nvSpPr>
          <p:cNvPr id="18" name="Text 16"/>
          <p:cNvSpPr/>
          <p:nvPr/>
        </p:nvSpPr>
        <p:spPr>
          <a:xfrm>
            <a:off x="4709160" y="1627632"/>
            <a:ext cx="374904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Data Stream Identifier *</a:t>
            </a:r>
            <a:endParaRPr lang="en-US" sz="1100" dirty="0"/>
          </a:p>
        </p:txBody>
      </p:sp>
      <p:sp>
        <p:nvSpPr>
          <p:cNvPr id="19" name="Shape 17"/>
          <p:cNvSpPr/>
          <p:nvPr/>
        </p:nvSpPr>
        <p:spPr>
          <a:xfrm>
            <a:off x="4709160" y="1920240"/>
            <a:ext cx="3749040" cy="292608"/>
          </a:xfrm>
          <a:prstGeom prst="rect">
            <a:avLst/>
          </a:prstGeom>
          <a:solidFill>
            <a:srgbClr val="F8FAFC"/>
          </a:solidFill>
          <a:ln w="12700">
            <a:solidFill>
              <a:srgbClr val="CBD5E1"/>
            </a:solidFill>
            <a:prstDash val="solid"/>
          </a:ln>
        </p:spPr>
      </p:sp>
      <p:sp>
        <p:nvSpPr>
          <p:cNvPr id="20" name="Text 18"/>
          <p:cNvSpPr/>
          <p:nvPr/>
        </p:nvSpPr>
        <p:spPr>
          <a:xfrm>
            <a:off x="4709160" y="2450592"/>
            <a:ext cx="374904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Data Stream Name *</a:t>
            </a:r>
            <a:endParaRPr lang="en-US" sz="1100" dirty="0"/>
          </a:p>
        </p:txBody>
      </p:sp>
      <p:sp>
        <p:nvSpPr>
          <p:cNvPr id="21" name="Shape 19"/>
          <p:cNvSpPr/>
          <p:nvPr/>
        </p:nvSpPr>
        <p:spPr>
          <a:xfrm>
            <a:off x="4709160" y="2743200"/>
            <a:ext cx="3749040" cy="292608"/>
          </a:xfrm>
          <a:prstGeom prst="rect">
            <a:avLst/>
          </a:prstGeom>
          <a:solidFill>
            <a:srgbClr val="F8FAFC"/>
          </a:solidFill>
          <a:ln w="12700">
            <a:solidFill>
              <a:srgbClr val="CBD5E1"/>
            </a:solidFill>
            <a:prstDash val="solid"/>
          </a:ln>
        </p:spPr>
      </p:sp>
      <p:sp>
        <p:nvSpPr>
          <p:cNvPr id="22" name="Text 20"/>
          <p:cNvSpPr/>
          <p:nvPr/>
        </p:nvSpPr>
        <p:spPr>
          <a:xfrm>
            <a:off x="4709160" y="3273552"/>
            <a:ext cx="374904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Description</a:t>
            </a:r>
            <a:endParaRPr lang="en-US" sz="1100" dirty="0"/>
          </a:p>
        </p:txBody>
      </p:sp>
      <p:sp>
        <p:nvSpPr>
          <p:cNvPr id="23" name="Shape 21"/>
          <p:cNvSpPr/>
          <p:nvPr/>
        </p:nvSpPr>
        <p:spPr>
          <a:xfrm>
            <a:off x="4709160" y="3566160"/>
            <a:ext cx="3749040" cy="292608"/>
          </a:xfrm>
          <a:prstGeom prst="rect">
            <a:avLst/>
          </a:prstGeom>
          <a:solidFill>
            <a:srgbClr val="F8FAFC"/>
          </a:solidFill>
          <a:ln w="12700">
            <a:solidFill>
              <a:srgbClr val="CBD5E1"/>
            </a:solidFill>
            <a:prstDash val="solid"/>
          </a:ln>
        </p:spPr>
      </p:sp>
      <p:sp>
        <p:nvSpPr>
          <p:cNvPr id="24" name="Text 22"/>
          <p:cNvSpPr/>
          <p:nvPr/>
        </p:nvSpPr>
        <p:spPr>
          <a:xfrm>
            <a:off x="4709160" y="4297680"/>
            <a:ext cx="374904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 Required fields</a:t>
            </a:r>
            <a:endParaRPr lang="en-US" sz="1000" dirty="0"/>
          </a:p>
        </p:txBody>
      </p:sp>
    </p:spTree>
  </p:cSld>
  <p:clrMapOvr>
    <a:masterClrMapping/>
  </p:clrMapOvr>
  <p:transition spd="med" advClick="1" advTm="0">
    <p:fade/>
  </p:transition>
  <p:timing>
    <p:tnLst>
      <p:par>
        <p:cTn id="9000" dur="indefin" restart="whenNotActive" nodeType="tmRoot">
          <p:childTnLst>
            <p:par>
              <p:cTn id="9001" fill="hold" nodeType="mainSeq">
                <p:stCondLst>
                  <p:cond delay="indefin"/>
                </p:stCondLst>
                <p:childTnLst>
                  <p:par>
                    <p:cTn id="9002" fill="hold">
                      <p:stCondLst>
                        <p:cond delay="0"/>
                      </p:stCondLst>
                      <p:childTnLst>
                        <p:par>
                          <p:cTn id="201" grpId="0" nodeType="withPrev">
                            <p:stCondLst>
                              <p:cond delay="0"/>
                            </p:stCondLst>
                            <p:childTnLst>
                              <p:set>
                                <p:cBhvr>
                                  <p:cTn id="202" dur="1" fill="hold"/>
                                  <p:tgtEl>
                                    <p:spTgt spid="2"/>
                                  </p:tgtEl>
                                  <p:attrNameLst>
                                    <p:attrName>style.visibility</p:attrName>
                                  </p:attrNameLst>
                                </p:cBhvr>
                                <p:to>
                                  <p:strVal val="visible"/>
                                </p:to>
                              </p:set>
                              <p:animEffect transition="in" filter="fade">
                                <p:cBhvr>
                                  <p:cTn id="203" dur="500" fill="hold"/>
                                  <p:tgtEl>
                                    <p:spTgt spid="2"/>
                                  </p:tgtEl>
                                </p:cBhvr>
                              </p:animEffect>
                            </p:childTnLst>
                          </p:cTn>
                        </p:par>
                        <p:par>
                          <p:cTn id="301" grpId="0" nodeType="withPrev">
                            <p:stCondLst>
                              <p:cond delay="0"/>
                            </p:stCondLst>
                            <p:childTnLst>
                              <p:set>
                                <p:cBhvr>
                                  <p:cTn id="302" dur="1" fill="hold"/>
                                  <p:tgtEl>
                                    <p:spTgt spid="3"/>
                                  </p:tgtEl>
                                  <p:attrNameLst>
                                    <p:attrName>style.visibility</p:attrName>
                                  </p:attrNameLst>
                                </p:cBhvr>
                                <p:to>
                                  <p:strVal val="visible"/>
                                </p:to>
                              </p:set>
                              <p:animEffect transition="in" filter="fade">
                                <p:cBhvr>
                                  <p:cTn id="303" dur="500" fill="hold"/>
                                  <p:tgtEl>
                                    <p:spTgt spid="3"/>
                                  </p:tgtEl>
                                </p:cBhvr>
                              </p:animEffect>
                            </p:childTnLst>
                          </p:cTn>
                        </p:par>
                        <p:par>
                          <p:cTn id="401" grpId="0" nodeType="withPrev">
                            <p:stCondLst>
                              <p:cond delay="0"/>
                            </p:stCondLst>
                            <p:childTnLst>
                              <p:set>
                                <p:cBhvr>
                                  <p:cTn id="402" dur="1" fill="hold"/>
                                  <p:tgtEl>
                                    <p:spTgt spid="4"/>
                                  </p:tgtEl>
                                  <p:attrNameLst>
                                    <p:attrName>style.visibility</p:attrName>
                                  </p:attrNameLst>
                                </p:cBhvr>
                                <p:to>
                                  <p:strVal val="visible"/>
                                </p:to>
                              </p:set>
                              <p:animEffect transition="in" filter="fade">
                                <p:cBhvr>
                                  <p:cTn id="403" dur="500" fill="hold"/>
                                  <p:tgtEl>
                                    <p:spTgt spid="4"/>
                                  </p:tgtEl>
                                </p:cBhvr>
                              </p:animEffect>
                            </p:childTnLst>
                          </p:cTn>
                        </p:par>
                        <p:par>
                          <p:cTn id="501" grpId="0" nodeType="withPrev">
                            <p:stCondLst>
                              <p:cond delay="300"/>
                            </p:stCondLst>
                            <p:childTnLst>
                              <p:set>
                                <p:cBhvr>
                                  <p:cTn id="502" dur="1" fill="hold"/>
                                  <p:tgtEl>
                                    <p:spTgt spid="5"/>
                                  </p:tgtEl>
                                  <p:attrNameLst>
                                    <p:attrName>style.visibility</p:attrName>
                                  </p:attrNameLst>
                                </p:cBhvr>
                                <p:to>
                                  <p:strVal val="visible"/>
                                </p:to>
                              </p:set>
                              <p:animEffect transition="in" filter="wipe(up)">
                                <p:cBhvr>
                                  <p:cTn id="503" dur="400" fill="hold"/>
                                  <p:tgtEl>
                                    <p:spTgt spid="5"/>
                                  </p:tgtEl>
                                </p:cBhvr>
                              </p:animEffect>
                            </p:childTnLst>
                          </p:cTn>
                        </p:par>
                        <p:par>
                          <p:cTn id="601" grpId="0" nodeType="withPrev">
                            <p:stCondLst>
                              <p:cond delay="400"/>
                            </p:stCondLst>
                            <p:childTnLst>
                              <p:set>
                                <p:cBhvr>
                                  <p:cTn id="602" dur="1" fill="hold"/>
                                  <p:tgtEl>
                                    <p:spTgt spid="6"/>
                                  </p:tgtEl>
                                  <p:attrNameLst>
                                    <p:attrName>style.visibility</p:attrName>
                                  </p:attrNameLst>
                                </p:cBhvr>
                                <p:to>
                                  <p:strVal val="visible"/>
                                </p:to>
                              </p:set>
                              <p:animEffect transition="in" filter="wipe(up)">
                                <p:cBhvr>
                                  <p:cTn id="603" dur="400" fill="hold"/>
                                  <p:tgtEl>
                                    <p:spTgt spid="6"/>
                                  </p:tgtEl>
                                </p:cBhvr>
                              </p:animEffect>
                            </p:childTnLst>
                          </p:cTn>
                        </p:par>
                        <p:par>
                          <p:cTn id="701" grpId="0" nodeType="withPrev">
                            <p:stCondLst>
                              <p:cond delay="600"/>
                            </p:stCondLst>
                            <p:childTnLst>
                              <p:set>
                                <p:cBhvr>
                                  <p:cTn id="702" dur="1" fill="hold"/>
                                  <p:tgtEl>
                                    <p:spTgt spid="7"/>
                                  </p:tgtEl>
                                  <p:attrNameLst>
                                    <p:attrName>style.visibility</p:attrName>
                                  </p:attrNameLst>
                                </p:cBhvr>
                                <p:to>
                                  <p:strVal val="visible"/>
                                </p:to>
                              </p:set>
                              <p:animEffect transition="in" filter="wipe(up)">
                                <p:cBhvr>
                                  <p:cTn id="703" dur="400" fill="hold"/>
                                  <p:tgtEl>
                                    <p:spTgt spid="7"/>
                                  </p:tgtEl>
                                </p:cBhvr>
                              </p:animEffect>
                            </p:childTnLst>
                          </p:cTn>
                        </p:par>
                        <p:par>
                          <p:cTn id="801" grpId="0" nodeType="withPrev">
                            <p:stCondLst>
                              <p:cond delay="600"/>
                            </p:stCondLst>
                            <p:childTnLst>
                              <p:set>
                                <p:cBhvr>
                                  <p:cTn id="802" dur="1" fill="hold"/>
                                  <p:tgtEl>
                                    <p:spTgt spid="8"/>
                                  </p:tgtEl>
                                  <p:attrNameLst>
                                    <p:attrName>style.visibility</p:attrName>
                                  </p:attrNameLst>
                                </p:cBhvr>
                                <p:to>
                                  <p:strVal val="visible"/>
                                </p:to>
                              </p:set>
                              <p:animEffect transition="in" filter="wipe(up)">
                                <p:cBhvr>
                                  <p:cTn id="803" dur="400" fill="hold"/>
                                  <p:tgtEl>
                                    <p:spTgt spid="8"/>
                                  </p:tgtEl>
                                </p:cBhvr>
                              </p:animEffect>
                            </p:childTnLst>
                          </p:cTn>
                        </p:par>
                        <p:par>
                          <p:cTn id="901" grpId="0" nodeType="withPrev">
                            <p:stCondLst>
                              <p:cond delay="800"/>
                            </p:stCondLst>
                            <p:childTnLst>
                              <p:set>
                                <p:cBhvr>
                                  <p:cTn id="902" dur="1" fill="hold"/>
                                  <p:tgtEl>
                                    <p:spTgt spid="9"/>
                                  </p:tgtEl>
                                  <p:attrNameLst>
                                    <p:attrName>style.visibility</p:attrName>
                                  </p:attrNameLst>
                                </p:cBhvr>
                                <p:to>
                                  <p:strVal val="visible"/>
                                </p:to>
                              </p:set>
                              <p:animEffect transition="in" filter="wipe(up)">
                                <p:cBhvr>
                                  <p:cTn id="903" dur="400" fill="hold"/>
                                  <p:tgtEl>
                                    <p:spTgt spid="9"/>
                                  </p:tgtEl>
                                </p:cBhvr>
                              </p:animEffect>
                            </p:childTnLst>
                          </p:cTn>
                        </p:par>
                        <p:par>
                          <p:cTn id="1001" grpId="0" nodeType="withPrev">
                            <p:stCondLst>
                              <p:cond delay="800"/>
                            </p:stCondLst>
                            <p:childTnLst>
                              <p:set>
                                <p:cBhvr>
                                  <p:cTn id="1002" dur="1" fill="hold"/>
                                  <p:tgtEl>
                                    <p:spTgt spid="10"/>
                                  </p:tgtEl>
                                  <p:attrNameLst>
                                    <p:attrName>style.visibility</p:attrName>
                                  </p:attrNameLst>
                                </p:cBhvr>
                                <p:to>
                                  <p:strVal val="visible"/>
                                </p:to>
                              </p:set>
                              <p:animEffect transition="in" filter="wipe(up)">
                                <p:cBhvr>
                                  <p:cTn id="1003" dur="400" fill="hold"/>
                                  <p:tgtEl>
                                    <p:spTgt spid="10"/>
                                  </p:tgtEl>
                                </p:cBhvr>
                              </p:animEffect>
                            </p:childTnLst>
                          </p:cTn>
                        </p:par>
                        <p:par>
                          <p:cTn id="1101" grpId="0" nodeType="withPrev">
                            <p:stCondLst>
                              <p:cond delay="1000"/>
                            </p:stCondLst>
                            <p:childTnLst>
                              <p:set>
                                <p:cBhvr>
                                  <p:cTn id="1102" dur="1" fill="hold"/>
                                  <p:tgtEl>
                                    <p:spTgt spid="11"/>
                                  </p:tgtEl>
                                  <p:attrNameLst>
                                    <p:attrName>style.visibility</p:attrName>
                                  </p:attrNameLst>
                                </p:cBhvr>
                                <p:to>
                                  <p:strVal val="visible"/>
                                </p:to>
                              </p:set>
                              <p:animEffect transition="in" filter="wipe(up)">
                                <p:cBhvr>
                                  <p:cTn id="1103" dur="400" fill="hold"/>
                                  <p:tgtEl>
                                    <p:spTgt spid="11"/>
                                  </p:tgtEl>
                                </p:cBhvr>
                              </p:animEffect>
                            </p:childTnLst>
                          </p:cTn>
                        </p:par>
                        <p:par>
                          <p:cTn id="1201" grpId="0" nodeType="withPrev">
                            <p:stCondLst>
                              <p:cond delay="1000"/>
                            </p:stCondLst>
                            <p:childTnLst>
                              <p:set>
                                <p:cBhvr>
                                  <p:cTn id="1202" dur="1" fill="hold"/>
                                  <p:tgtEl>
                                    <p:spTgt spid="12"/>
                                  </p:tgtEl>
                                  <p:attrNameLst>
                                    <p:attrName>style.visibility</p:attrName>
                                  </p:attrNameLst>
                                </p:cBhvr>
                                <p:to>
                                  <p:strVal val="visible"/>
                                </p:to>
                              </p:set>
                              <p:animEffect transition="in" filter="wipe(up)">
                                <p:cBhvr>
                                  <p:cTn id="1203" dur="400" fill="hold"/>
                                  <p:tgtEl>
                                    <p:spTgt spid="12"/>
                                  </p:tgtEl>
                                </p:cBhvr>
                              </p:animEffect>
                            </p:childTnLst>
                          </p:cTn>
                        </p:par>
                        <p:par>
                          <p:cTn id="1301" grpId="0" nodeType="withPrev">
                            <p:stCondLst>
                              <p:cond delay="1200"/>
                            </p:stCondLst>
                            <p:childTnLst>
                              <p:set>
                                <p:cBhvr>
                                  <p:cTn id="1302" dur="1" fill="hold"/>
                                  <p:tgtEl>
                                    <p:spTgt spid="13"/>
                                  </p:tgtEl>
                                  <p:attrNameLst>
                                    <p:attrName>style.visibility</p:attrName>
                                  </p:attrNameLst>
                                </p:cBhvr>
                                <p:to>
                                  <p:strVal val="visible"/>
                                </p:to>
                              </p:set>
                              <p:animEffect transition="in" filter="circle">
                                <p:cBhvr>
                                  <p:cTn id="1303" dur="400" fill="hold"/>
                                  <p:tgtEl>
                                    <p:spTgt spid="13"/>
                                  </p:tgtEl>
                                </p:cBhvr>
                              </p:animEffect>
                            </p:childTnLst>
                          </p:cTn>
                        </p:par>
                        <p:par>
                          <p:cTn id="1401" grpId="0" nodeType="withPrev">
                            <p:stCondLst>
                              <p:cond delay="1200"/>
                            </p:stCondLst>
                            <p:childTnLst>
                              <p:set>
                                <p:cBhvr>
                                  <p:cTn id="1402" dur="1" fill="hold"/>
                                  <p:tgtEl>
                                    <p:spTgt spid="14"/>
                                  </p:tgtEl>
                                  <p:attrNameLst>
                                    <p:attrName>style.visibility</p:attrName>
                                  </p:attrNameLst>
                                </p:cBhvr>
                                <p:to>
                                  <p:strVal val="visible"/>
                                </p:to>
                              </p:set>
                              <p:animEffect transition="in" filter="circle">
                                <p:cBhvr>
                                  <p:cTn id="1403" dur="400" fill="hold"/>
                                  <p:tgtEl>
                                    <p:spTgt spid="14"/>
                                  </p:tgtEl>
                                </p:cBhvr>
                              </p:animEffect>
                            </p:childTnLst>
                          </p:cTn>
                        </p:par>
                        <p:par>
                          <p:cTn id="1501" grpId="0" nodeType="withPrev">
                            <p:stCondLst>
                              <p:cond delay="1400"/>
                            </p:stCondLst>
                            <p:childTnLst>
                              <p:set>
                                <p:cBhvr>
                                  <p:cTn id="1502" dur="1" fill="hold"/>
                                  <p:tgtEl>
                                    <p:spTgt spid="15"/>
                                  </p:tgtEl>
                                  <p:attrNameLst>
                                    <p:attrName>style.visibility</p:attrName>
                                  </p:attrNameLst>
                                </p:cBhvr>
                                <p:to>
                                  <p:strVal val="visible"/>
                                </p:to>
                              </p:set>
                              <p:animEffect transition="in" filter="fade">
                                <p:cBhvr>
                                  <p:cTn id="1503" dur="500" fill="hold"/>
                                  <p:tgtEl>
                                    <p:spTgt spid="15"/>
                                  </p:tgtEl>
                                </p:cBhvr>
                              </p:animEffect>
                            </p:childTnLst>
                          </p:cTn>
                        </p:par>
                        <p:par>
                          <p:cTn id="1601" grpId="0" nodeType="withPrev">
                            <p:stCondLst>
                              <p:cond delay="1500"/>
                            </p:stCondLst>
                            <p:childTnLst>
                              <p:set>
                                <p:cBhvr>
                                  <p:cTn id="1602" dur="1" fill="hold"/>
                                  <p:tgtEl>
                                    <p:spTgt spid="16"/>
                                  </p:tgtEl>
                                  <p:attrNameLst>
                                    <p:attrName>style.visibility</p:attrName>
                                  </p:attrNameLst>
                                </p:cBhvr>
                                <p:to>
                                  <p:strVal val="visible"/>
                                </p:to>
                              </p:set>
                              <p:animEffect transition="in" filter="fade">
                                <p:cBhvr>
                                  <p:cTn id="1603" dur="500" fill="hold"/>
                                  <p:tgtEl>
                                    <p:spTgt spid="16"/>
                                  </p:tgtEl>
                                </p:cBhvr>
                              </p:animEffect>
                            </p:childTnLst>
                          </p:cTn>
                        </p:par>
                        <p:par>
                          <p:cTn id="1701" grpId="0" nodeType="withPrev">
                            <p:stCondLst>
                              <p:cond delay="1600"/>
                            </p:stCondLst>
                            <p:childTnLst>
                              <p:set>
                                <p:cBhvr>
                                  <p:cTn id="1702" dur="1" fill="hold"/>
                                  <p:tgtEl>
                                    <p:spTgt spid="17"/>
                                  </p:tgtEl>
                                  <p:attrNameLst>
                                    <p:attrName>style.visibility</p:attrName>
                                  </p:attrNameLst>
                                </p:cBhvr>
                                <p:to>
                                  <p:strVal val="visible"/>
                                </p:to>
                              </p:set>
                              <p:animEffect transition="in" filter="fade">
                                <p:cBhvr>
                                  <p:cTn id="1703" dur="500" fill="hold"/>
                                  <p:tgtEl>
                                    <p:spTgt spid="17"/>
                                  </p:tgtEl>
                                </p:cBhvr>
                              </p:animEffect>
                            </p:childTnLst>
                          </p:cTn>
                        </p:par>
                        <p:par>
                          <p:cTn id="1801" grpId="0" nodeType="withPrev">
                            <p:stCondLst>
                              <p:cond delay="1700"/>
                            </p:stCondLst>
                            <p:childTnLst>
                              <p:set>
                                <p:cBhvr>
                                  <p:cTn id="1802" dur="1" fill="hold"/>
                                  <p:tgtEl>
                                    <p:spTgt spid="18"/>
                                  </p:tgtEl>
                                  <p:attrNameLst>
                                    <p:attrName>style.visibility</p:attrName>
                                  </p:attrNameLst>
                                </p:cBhvr>
                                <p:to>
                                  <p:strVal val="visible"/>
                                </p:to>
                              </p:set>
                              <p:animEffect transition="in" filter="fade">
                                <p:cBhvr>
                                  <p:cTn id="1803" dur="500" fill="hold"/>
                                  <p:tgtEl>
                                    <p:spTgt spid="18"/>
                                  </p:tgtEl>
                                </p:cBhvr>
                              </p:animEffect>
                            </p:childTnLst>
                          </p:cTn>
                        </p:par>
                        <p:par>
                          <p:cTn id="1901" grpId="0" nodeType="withPrev">
                            <p:stCondLst>
                              <p:cond delay="1800"/>
                            </p:stCondLst>
                            <p:childTnLst>
                              <p:set>
                                <p:cBhvr>
                                  <p:cTn id="1902" dur="1" fill="hold"/>
                                  <p:tgtEl>
                                    <p:spTgt spid="19"/>
                                  </p:tgtEl>
                                  <p:attrNameLst>
                                    <p:attrName>style.visibility</p:attrName>
                                  </p:attrNameLst>
                                </p:cBhvr>
                                <p:to>
                                  <p:strVal val="visible"/>
                                </p:to>
                              </p:set>
                              <p:animEffect transition="in" filter="fade">
                                <p:cBhvr>
                                  <p:cTn id="1903" dur="500" fill="hold"/>
                                  <p:tgtEl>
                                    <p:spTgt spid="19"/>
                                  </p:tgtEl>
                                </p:cBhvr>
                              </p:animEffect>
                            </p:childTnLst>
                          </p:cTn>
                        </p:par>
                        <p:par>
                          <p:cTn id="2001" grpId="0" nodeType="withPrev">
                            <p:stCondLst>
                              <p:cond delay="1800"/>
                            </p:stCondLst>
                            <p:childTnLst>
                              <p:set>
                                <p:cBhvr>
                                  <p:cTn id="2002" dur="1" fill="hold"/>
                                  <p:tgtEl>
                                    <p:spTgt spid="20"/>
                                  </p:tgtEl>
                                  <p:attrNameLst>
                                    <p:attrName>style.visibility</p:attrName>
                                  </p:attrNameLst>
                                </p:cBhvr>
                                <p:to>
                                  <p:strVal val="visible"/>
                                </p:to>
                              </p:set>
                              <p:animEffect transition="in" filter="fade">
                                <p:cBhvr>
                                  <p:cTn id="2003" dur="500" fill="hold"/>
                                  <p:tgtEl>
                                    <p:spTgt spid="20"/>
                                  </p:tgtEl>
                                </p:cBhvr>
                              </p:animEffect>
                            </p:childTnLst>
                          </p:cTn>
                        </p:par>
                      </p:childTnLst>
                    </p:cTn>
                  </p:par>
                </p:childTnLst>
              </p:cTn>
            </p:par>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Configuring Data Stream Fields</a:t>
            </a:r>
            <a:endParaRPr lang="en-US" sz="2200" dirty="0"/>
          </a:p>
        </p:txBody>
      </p:sp>
      <p:sp>
        <p:nvSpPr>
          <p:cNvPr id="5" name="Shape 3"/>
          <p:cNvSpPr/>
          <p:nvPr/>
        </p:nvSpPr>
        <p:spPr>
          <a:xfrm>
            <a:off x="365760" y="1051560"/>
            <a:ext cx="8412480" cy="1097280"/>
          </a:xfrm>
          <a:prstGeom prst="rect">
            <a:avLst/>
          </a:prstGeom>
          <a:solidFill>
            <a:srgbClr val="FFFFFF"/>
          </a:solidFill>
          <a:ln w="12700">
            <a:solidFill>
              <a:srgbClr val="CBD5E1"/>
            </a:solidFill>
            <a:prstDash val="solid"/>
          </a:ln>
          <a:effectLst>
            <a:outerShdw sx="100000" sy="100000" kx="0" ky="0" algn="bl" rotWithShape="0" blurRad="38100" dist="25400" dir="8100000">
              <a:srgbClr val="000000">
                <a:alpha val="7000"/>
              </a:srgbClr>
            </a:outerShdw>
          </a:effectLst>
        </p:spPr>
      </p:sp>
      <p:sp>
        <p:nvSpPr>
          <p:cNvPr id="6" name="Shape 4"/>
          <p:cNvSpPr/>
          <p:nvPr/>
        </p:nvSpPr>
        <p:spPr>
          <a:xfrm>
            <a:off x="365760" y="1051560"/>
            <a:ext cx="64008" cy="1097280"/>
          </a:xfrm>
          <a:prstGeom prst="rect">
            <a:avLst/>
          </a:prstGeom>
          <a:solidFill>
            <a:srgbClr val="1B7FA6"/>
          </a:solidFill>
          <a:ln w="12700">
            <a:solidFill>
              <a:srgbClr val="1B7FA6"/>
            </a:solidFill>
            <a:prstDash val="solid"/>
          </a:ln>
        </p:spPr>
      </p:sp>
      <p:sp>
        <p:nvSpPr>
          <p:cNvPr id="7" name="Text 5"/>
          <p:cNvSpPr/>
          <p:nvPr/>
        </p:nvSpPr>
        <p:spPr>
          <a:xfrm>
            <a:off x="594360" y="1143000"/>
            <a:ext cx="4572000" cy="365760"/>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Data Stream Identifier</a:t>
            </a:r>
            <a:endParaRPr lang="en-US" sz="1400" dirty="0"/>
          </a:p>
        </p:txBody>
      </p:sp>
      <p:sp>
        <p:nvSpPr>
          <p:cNvPr id="8" name="Shape 6"/>
          <p:cNvSpPr/>
          <p:nvPr/>
        </p:nvSpPr>
        <p:spPr>
          <a:xfrm>
            <a:off x="5303520" y="1188720"/>
            <a:ext cx="1005840" cy="256032"/>
          </a:xfrm>
          <a:prstGeom prst="roundRect">
            <a:avLst>
              <a:gd name="adj" fmla="val 17857"/>
            </a:avLst>
          </a:prstGeom>
          <a:solidFill>
            <a:srgbClr val="1B7FA6">
              <a:alpha val="30000"/>
            </a:srgbClr>
          </a:solidFill>
          <a:ln w="12700">
            <a:solidFill>
              <a:srgbClr val="1B7FA6"/>
            </a:solidFill>
            <a:prstDash val="solid"/>
          </a:ln>
        </p:spPr>
      </p:sp>
      <p:sp>
        <p:nvSpPr>
          <p:cNvPr id="9" name="Text 7"/>
          <p:cNvSpPr/>
          <p:nvPr/>
        </p:nvSpPr>
        <p:spPr>
          <a:xfrm>
            <a:off x="5303520" y="1188720"/>
            <a:ext cx="1005840" cy="256032"/>
          </a:xfrm>
          <a:prstGeom prst="rect">
            <a:avLst/>
          </a:prstGeom>
          <a:noFill/>
          <a:ln/>
        </p:spPr>
        <p:txBody>
          <a:bodyPr wrap="square" lIns="0" tIns="0" rIns="0" bIns="0" rtlCol="0" anchor="ctr"/>
          <a:lstStyle/>
          <a:p>
            <a:pPr algn="ctr" indent="0" marL="0">
              <a:buNone/>
            </a:pPr>
            <a:r>
              <a:rPr lang="en-US" sz="900" b="1" dirty="0">
                <a:solidFill>
                  <a:srgbClr val="0E5C7A"/>
                </a:solidFill>
              </a:rPr>
              <a:t>REQUIRED</a:t>
            </a:r>
            <a:endParaRPr lang="en-US" sz="900" dirty="0"/>
          </a:p>
        </p:txBody>
      </p:sp>
      <p:sp>
        <p:nvSpPr>
          <p:cNvPr id="10" name="Text 8"/>
          <p:cNvSpPr/>
          <p:nvPr/>
        </p:nvSpPr>
        <p:spPr>
          <a:xfrm>
            <a:off x="594360" y="1554480"/>
            <a:ext cx="777240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Select from existing data streams. Mandatory and must be unique.</a:t>
            </a:r>
            <a:endParaRPr lang="en-US" sz="1200" dirty="0"/>
          </a:p>
        </p:txBody>
      </p:sp>
      <p:sp>
        <p:nvSpPr>
          <p:cNvPr id="11" name="Shape 9"/>
          <p:cNvSpPr/>
          <p:nvPr/>
        </p:nvSpPr>
        <p:spPr>
          <a:xfrm>
            <a:off x="365760" y="2313432"/>
            <a:ext cx="8412480" cy="1097280"/>
          </a:xfrm>
          <a:prstGeom prst="rect">
            <a:avLst/>
          </a:prstGeom>
          <a:solidFill>
            <a:srgbClr val="FFFFFF"/>
          </a:solidFill>
          <a:ln w="12700">
            <a:solidFill>
              <a:srgbClr val="CBD5E1"/>
            </a:solidFill>
            <a:prstDash val="solid"/>
          </a:ln>
          <a:effectLst>
            <a:outerShdw sx="100000" sy="100000" kx="0" ky="0" algn="bl" rotWithShape="0" blurRad="38100" dist="25400" dir="8100000">
              <a:srgbClr val="000000">
                <a:alpha val="7000"/>
              </a:srgbClr>
            </a:outerShdw>
          </a:effectLst>
        </p:spPr>
      </p:sp>
      <p:sp>
        <p:nvSpPr>
          <p:cNvPr id="12" name="Shape 10"/>
          <p:cNvSpPr/>
          <p:nvPr/>
        </p:nvSpPr>
        <p:spPr>
          <a:xfrm>
            <a:off x="365760" y="2313432"/>
            <a:ext cx="64008" cy="1097280"/>
          </a:xfrm>
          <a:prstGeom prst="rect">
            <a:avLst/>
          </a:prstGeom>
          <a:solidFill>
            <a:srgbClr val="1B7FA6"/>
          </a:solidFill>
          <a:ln w="12700">
            <a:solidFill>
              <a:srgbClr val="1B7FA6"/>
            </a:solidFill>
            <a:prstDash val="solid"/>
          </a:ln>
        </p:spPr>
      </p:sp>
      <p:sp>
        <p:nvSpPr>
          <p:cNvPr id="13" name="Text 11"/>
          <p:cNvSpPr/>
          <p:nvPr/>
        </p:nvSpPr>
        <p:spPr>
          <a:xfrm>
            <a:off x="594360" y="2404872"/>
            <a:ext cx="4572000" cy="365760"/>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Data Stream Name</a:t>
            </a:r>
            <a:endParaRPr lang="en-US" sz="1400" dirty="0"/>
          </a:p>
        </p:txBody>
      </p:sp>
      <p:sp>
        <p:nvSpPr>
          <p:cNvPr id="14" name="Shape 12"/>
          <p:cNvSpPr/>
          <p:nvPr/>
        </p:nvSpPr>
        <p:spPr>
          <a:xfrm>
            <a:off x="5303520" y="2450592"/>
            <a:ext cx="1005840" cy="256032"/>
          </a:xfrm>
          <a:prstGeom prst="roundRect">
            <a:avLst>
              <a:gd name="adj" fmla="val 17857"/>
            </a:avLst>
          </a:prstGeom>
          <a:solidFill>
            <a:srgbClr val="1B7FA6">
              <a:alpha val="30000"/>
            </a:srgbClr>
          </a:solidFill>
          <a:ln w="12700">
            <a:solidFill>
              <a:srgbClr val="1B7FA6"/>
            </a:solidFill>
            <a:prstDash val="solid"/>
          </a:ln>
        </p:spPr>
      </p:sp>
      <p:sp>
        <p:nvSpPr>
          <p:cNvPr id="15" name="Text 13"/>
          <p:cNvSpPr/>
          <p:nvPr/>
        </p:nvSpPr>
        <p:spPr>
          <a:xfrm>
            <a:off x="5303520" y="2450592"/>
            <a:ext cx="1005840" cy="256032"/>
          </a:xfrm>
          <a:prstGeom prst="rect">
            <a:avLst/>
          </a:prstGeom>
          <a:noFill/>
          <a:ln/>
        </p:spPr>
        <p:txBody>
          <a:bodyPr wrap="square" lIns="0" tIns="0" rIns="0" bIns="0" rtlCol="0" anchor="ctr"/>
          <a:lstStyle/>
          <a:p>
            <a:pPr algn="ctr" indent="0" marL="0">
              <a:buNone/>
            </a:pPr>
            <a:r>
              <a:rPr lang="en-US" sz="900" b="1" dirty="0">
                <a:solidFill>
                  <a:srgbClr val="0E5C7A"/>
                </a:solidFill>
              </a:rPr>
              <a:t>REQUIRED</a:t>
            </a:r>
            <a:endParaRPr lang="en-US" sz="900" dirty="0"/>
          </a:p>
        </p:txBody>
      </p:sp>
      <p:sp>
        <p:nvSpPr>
          <p:cNvPr id="16" name="Text 14"/>
          <p:cNvSpPr/>
          <p:nvPr/>
        </p:nvSpPr>
        <p:spPr>
          <a:xfrm>
            <a:off x="594360" y="2816352"/>
            <a:ext cx="777240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Business display name. Must be unique. Maximum 50 characters.</a:t>
            </a:r>
            <a:endParaRPr lang="en-US" sz="1200" dirty="0"/>
          </a:p>
        </p:txBody>
      </p:sp>
      <p:sp>
        <p:nvSpPr>
          <p:cNvPr id="17" name="Shape 15"/>
          <p:cNvSpPr/>
          <p:nvPr/>
        </p:nvSpPr>
        <p:spPr>
          <a:xfrm>
            <a:off x="365760" y="3575304"/>
            <a:ext cx="8412480" cy="1097280"/>
          </a:xfrm>
          <a:prstGeom prst="rect">
            <a:avLst/>
          </a:prstGeom>
          <a:solidFill>
            <a:srgbClr val="FFFFFF"/>
          </a:solidFill>
          <a:ln w="12700">
            <a:solidFill>
              <a:srgbClr val="CBD5E1"/>
            </a:solidFill>
            <a:prstDash val="solid"/>
          </a:ln>
          <a:effectLst>
            <a:outerShdw sx="100000" sy="100000" kx="0" ky="0" algn="bl" rotWithShape="0" blurRad="38100" dist="25400" dir="8100000">
              <a:srgbClr val="000000">
                <a:alpha val="7000"/>
              </a:srgbClr>
            </a:outerShdw>
          </a:effectLst>
        </p:spPr>
      </p:sp>
      <p:sp>
        <p:nvSpPr>
          <p:cNvPr id="18" name="Shape 16"/>
          <p:cNvSpPr/>
          <p:nvPr/>
        </p:nvSpPr>
        <p:spPr>
          <a:xfrm>
            <a:off x="365760" y="3575304"/>
            <a:ext cx="64008" cy="1097280"/>
          </a:xfrm>
          <a:prstGeom prst="rect">
            <a:avLst/>
          </a:prstGeom>
          <a:solidFill>
            <a:srgbClr val="1B7FA6"/>
          </a:solidFill>
          <a:ln w="12700">
            <a:solidFill>
              <a:srgbClr val="1B7FA6"/>
            </a:solidFill>
            <a:prstDash val="solid"/>
          </a:ln>
        </p:spPr>
      </p:sp>
      <p:sp>
        <p:nvSpPr>
          <p:cNvPr id="19" name="Text 17"/>
          <p:cNvSpPr/>
          <p:nvPr/>
        </p:nvSpPr>
        <p:spPr>
          <a:xfrm>
            <a:off x="594360" y="3666744"/>
            <a:ext cx="4572000" cy="365760"/>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Description</a:t>
            </a:r>
            <a:endParaRPr lang="en-US" sz="1400" dirty="0"/>
          </a:p>
        </p:txBody>
      </p:sp>
      <p:sp>
        <p:nvSpPr>
          <p:cNvPr id="20" name="Text 18"/>
          <p:cNvSpPr/>
          <p:nvPr/>
        </p:nvSpPr>
        <p:spPr>
          <a:xfrm>
            <a:off x="594360" y="4078224"/>
            <a:ext cx="777240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Additional information related to the data stream.</a:t>
            </a:r>
            <a:endParaRPr lang="en-US" sz="1200" dirty="0"/>
          </a:p>
        </p:txBody>
      </p:sp>
    </p:spTree>
  </p:cSld>
  <p:clrMapOvr>
    <a:masterClrMapping/>
  </p:clrMapOvr>
  <p:transition spd="med" advClick="1" advTm="0">
    <p:fade/>
  </p:transition>
  <p:timing>
    <p:tnLst>
      <p:par>
        <p:cTn id="10000" dur="indefin" restart="whenNotActive" nodeType="tmRoot">
          <p:childTnLst>
            <p:par>
              <p:cTn id="10001" fill="hold" nodeType="mainSeq">
                <p:stCondLst>
                  <p:cond delay="indefin"/>
                </p:stCondLst>
                <p:childTnLst>
                  <p:par>
                    <p:cTn id="10002" fill="hold">
                      <p:stCondLst>
                        <p:cond delay="0"/>
                      </p:stCondLst>
                      <p:childTnLst>
                        <p:par>
                          <p:cTn id="201" grpId="0" nodeType="withPrev">
                            <p:stCondLst>
                              <p:cond delay="0"/>
                            </p:stCondLst>
                            <p:childTnLst>
                              <p:set>
                                <p:cBhvr>
                                  <p:cTn id="202" dur="1" fill="hold"/>
                                  <p:tgtEl>
                                    <p:spTgt spid="2"/>
                                  </p:tgtEl>
                                  <p:attrNameLst>
                                    <p:attrName>style.visibility</p:attrName>
                                  </p:attrNameLst>
                                </p:cBhvr>
                                <p:to>
                                  <p:strVal val="visible"/>
                                </p:to>
                              </p:set>
                              <p:animEffect transition="in" filter="fade">
                                <p:cBhvr>
                                  <p:cTn id="203" dur="500" fill="hold"/>
                                  <p:tgtEl>
                                    <p:spTgt spid="2"/>
                                  </p:tgtEl>
                                </p:cBhvr>
                              </p:animEffect>
                            </p:childTnLst>
                          </p:cTn>
                        </p:par>
                        <p:par>
                          <p:cTn id="301" grpId="0" nodeType="withPrev">
                            <p:stCondLst>
                              <p:cond delay="0"/>
                            </p:stCondLst>
                            <p:childTnLst>
                              <p:set>
                                <p:cBhvr>
                                  <p:cTn id="302" dur="1" fill="hold"/>
                                  <p:tgtEl>
                                    <p:spTgt spid="3"/>
                                  </p:tgtEl>
                                  <p:attrNameLst>
                                    <p:attrName>style.visibility</p:attrName>
                                  </p:attrNameLst>
                                </p:cBhvr>
                                <p:to>
                                  <p:strVal val="visible"/>
                                </p:to>
                              </p:set>
                              <p:animEffect transition="in" filter="fade">
                                <p:cBhvr>
                                  <p:cTn id="303" dur="500" fill="hold"/>
                                  <p:tgtEl>
                                    <p:spTgt spid="3"/>
                                  </p:tgtEl>
                                </p:cBhvr>
                              </p:animEffect>
                            </p:childTnLst>
                          </p:cTn>
                        </p:par>
                        <p:par>
                          <p:cTn id="401" grpId="0" nodeType="withPrev">
                            <p:stCondLst>
                              <p:cond delay="0"/>
                            </p:stCondLst>
                            <p:childTnLst>
                              <p:set>
                                <p:cBhvr>
                                  <p:cTn id="402" dur="1" fill="hold"/>
                                  <p:tgtEl>
                                    <p:spTgt spid="4"/>
                                  </p:tgtEl>
                                  <p:attrNameLst>
                                    <p:attrName>style.visibility</p:attrName>
                                  </p:attrNameLst>
                                </p:cBhvr>
                                <p:to>
                                  <p:strVal val="visible"/>
                                </p:to>
                              </p:set>
                              <p:animEffect transition="in" filter="fade">
                                <p:cBhvr>
                                  <p:cTn id="403" dur="500" fill="hold"/>
                                  <p:tgtEl>
                                    <p:spTgt spid="4"/>
                                  </p:tgtEl>
                                </p:cBhvr>
                              </p:animEffect>
                            </p:childTnLst>
                          </p:cTn>
                        </p:par>
                        <p:par>
                          <p:cTn id="501" grpId="0" nodeType="withPrev">
                            <p:stCondLst>
                              <p:cond delay="300"/>
                            </p:stCondLst>
                            <p:childTnLst>
                              <p:set>
                                <p:cBhvr>
                                  <p:cTn id="502" dur="1" fill="hold"/>
                                  <p:tgtEl>
                                    <p:spTgt spid="5"/>
                                  </p:tgtEl>
                                  <p:attrNameLst>
                                    <p:attrName>style.visibility</p:attrName>
                                  </p:attrNameLst>
                                </p:cBhvr>
                                <p:to>
                                  <p:strVal val="visible"/>
                                </p:to>
                              </p:set>
                              <p:animEffect transition="in" filter="wipe(up)">
                                <p:cBhvr>
                                  <p:cTn id="503" dur="400" fill="hold"/>
                                  <p:tgtEl>
                                    <p:spTgt spid="5"/>
                                  </p:tgtEl>
                                </p:cBhvr>
                              </p:animEffect>
                            </p:childTnLst>
                          </p:cTn>
                        </p:par>
                        <p:par>
                          <p:cTn id="601" grpId="0" nodeType="withPrev">
                            <p:stCondLst>
                              <p:cond delay="300"/>
                            </p:stCondLst>
                            <p:childTnLst>
                              <p:set>
                                <p:cBhvr>
                                  <p:cTn id="602" dur="1" fill="hold"/>
                                  <p:tgtEl>
                                    <p:spTgt spid="6"/>
                                  </p:tgtEl>
                                  <p:attrNameLst>
                                    <p:attrName>style.visibility</p:attrName>
                                  </p:attrNameLst>
                                </p:cBhvr>
                                <p:to>
                                  <p:strVal val="visible"/>
                                </p:to>
                              </p:set>
                              <p:animEffect transition="in" filter="wipe(up)">
                                <p:cBhvr>
                                  <p:cTn id="603" dur="400" fill="hold"/>
                                  <p:tgtEl>
                                    <p:spTgt spid="6"/>
                                  </p:tgtEl>
                                </p:cBhvr>
                              </p:animEffect>
                            </p:childTnLst>
                          </p:cTn>
                        </p:par>
                        <p:par>
                          <p:cTn id="701" grpId="0" nodeType="withPrev">
                            <p:stCondLst>
                              <p:cond delay="500"/>
                            </p:stCondLst>
                            <p:childTnLst>
                              <p:set>
                                <p:cBhvr>
                                  <p:cTn id="702" dur="1" fill="hold"/>
                                  <p:tgtEl>
                                    <p:spTgt spid="7"/>
                                  </p:tgtEl>
                                  <p:attrNameLst>
                                    <p:attrName>style.visibility</p:attrName>
                                  </p:attrNameLst>
                                </p:cBhvr>
                                <p:to>
                                  <p:strVal val="visible"/>
                                </p:to>
                              </p:set>
                              <p:animEffect transition="in" filter="wipe(up)">
                                <p:cBhvr>
                                  <p:cTn id="703" dur="400" fill="hold"/>
                                  <p:tgtEl>
                                    <p:spTgt spid="7"/>
                                  </p:tgtEl>
                                </p:cBhvr>
                              </p:animEffect>
                            </p:childTnLst>
                          </p:cTn>
                        </p:par>
                        <p:par>
                          <p:cTn id="801" grpId="0" nodeType="withPrev">
                            <p:stCondLst>
                              <p:cond delay="700"/>
                            </p:stCondLst>
                            <p:childTnLst>
                              <p:set>
                                <p:cBhvr>
                                  <p:cTn id="802" dur="1" fill="hold"/>
                                  <p:tgtEl>
                                    <p:spTgt spid="8"/>
                                  </p:tgtEl>
                                  <p:attrNameLst>
                                    <p:attrName>style.visibility</p:attrName>
                                  </p:attrNameLst>
                                </p:cBhvr>
                                <p:to>
                                  <p:strVal val="visible"/>
                                </p:to>
                              </p:set>
                              <p:animEffect transition="in" filter="wipe(up)">
                                <p:cBhvr>
                                  <p:cTn id="803" dur="400" fill="hold"/>
                                  <p:tgtEl>
                                    <p:spTgt spid="8"/>
                                  </p:tgtEl>
                                </p:cBhvr>
                              </p:animEffect>
                            </p:childTnLst>
                          </p:cTn>
                        </p:par>
                        <p:par>
                          <p:cTn id="901" grpId="0" nodeType="withPrev">
                            <p:stCondLst>
                              <p:cond delay="700"/>
                            </p:stCondLst>
                            <p:childTnLst>
                              <p:set>
                                <p:cBhvr>
                                  <p:cTn id="902" dur="1" fill="hold"/>
                                  <p:tgtEl>
                                    <p:spTgt spid="9"/>
                                  </p:tgtEl>
                                  <p:attrNameLst>
                                    <p:attrName>style.visibility</p:attrName>
                                  </p:attrNameLst>
                                </p:cBhvr>
                                <p:to>
                                  <p:strVal val="visible"/>
                                </p:to>
                              </p:set>
                              <p:animEffect transition="in" filter="wipe(up)">
                                <p:cBhvr>
                                  <p:cTn id="903" dur="400" fill="hold"/>
                                  <p:tgtEl>
                                    <p:spTgt spid="9"/>
                                  </p:tgtEl>
                                </p:cBhvr>
                              </p:animEffect>
                            </p:childTnLst>
                          </p:cTn>
                        </p:par>
                        <p:par>
                          <p:cTn id="1001" grpId="0" nodeType="withPrev">
                            <p:stCondLst>
                              <p:cond delay="900"/>
                            </p:stCondLst>
                            <p:childTnLst>
                              <p:set>
                                <p:cBhvr>
                                  <p:cTn id="1002" dur="1" fill="hold"/>
                                  <p:tgtEl>
                                    <p:spTgt spid="10"/>
                                  </p:tgtEl>
                                  <p:attrNameLst>
                                    <p:attrName>style.visibility</p:attrName>
                                  </p:attrNameLst>
                                </p:cBhvr>
                                <p:to>
                                  <p:strVal val="visible"/>
                                </p:to>
                              </p:set>
                              <p:animEffect transition="in" filter="wipe(up)">
                                <p:cBhvr>
                                  <p:cTn id="1003" dur="400" fill="hold"/>
                                  <p:tgtEl>
                                    <p:spTgt spid="10"/>
                                  </p:tgtEl>
                                </p:cBhvr>
                              </p:animEffect>
                            </p:childTnLst>
                          </p:cTn>
                        </p:par>
                        <p:par>
                          <p:cTn id="1101" grpId="0" nodeType="withPrev">
                            <p:stCondLst>
                              <p:cond delay="1100"/>
                            </p:stCondLst>
                            <p:childTnLst>
                              <p:set>
                                <p:cBhvr>
                                  <p:cTn id="1102" dur="1" fill="hold"/>
                                  <p:tgtEl>
                                    <p:spTgt spid="11"/>
                                  </p:tgtEl>
                                  <p:attrNameLst>
                                    <p:attrName>style.visibility</p:attrName>
                                  </p:attrNameLst>
                                </p:cBhvr>
                                <p:to>
                                  <p:strVal val="visible"/>
                                </p:to>
                              </p:set>
                              <p:animEffect transition="in" filter="wipe(up)">
                                <p:cBhvr>
                                  <p:cTn id="1103" dur="400" fill="hold"/>
                                  <p:tgtEl>
                                    <p:spTgt spid="11"/>
                                  </p:tgtEl>
                                </p:cBhvr>
                              </p:animEffect>
                            </p:childTnLst>
                          </p:cTn>
                        </p:par>
                        <p:par>
                          <p:cTn id="1201" grpId="0" nodeType="withPrev">
                            <p:stCondLst>
                              <p:cond delay="1100"/>
                            </p:stCondLst>
                            <p:childTnLst>
                              <p:set>
                                <p:cBhvr>
                                  <p:cTn id="1202" dur="1" fill="hold"/>
                                  <p:tgtEl>
                                    <p:spTgt spid="12"/>
                                  </p:tgtEl>
                                  <p:attrNameLst>
                                    <p:attrName>style.visibility</p:attrName>
                                  </p:attrNameLst>
                                </p:cBhvr>
                                <p:to>
                                  <p:strVal val="visible"/>
                                </p:to>
                              </p:set>
                              <p:animEffect transition="in" filter="wipe(up)">
                                <p:cBhvr>
                                  <p:cTn id="1203" dur="400" fill="hold"/>
                                  <p:tgtEl>
                                    <p:spTgt spid="12"/>
                                  </p:tgtEl>
                                </p:cBhvr>
                              </p:animEffect>
                            </p:childTnLst>
                          </p:cTn>
                        </p:par>
                        <p:par>
                          <p:cTn id="1301" grpId="0" nodeType="withPrev">
                            <p:stCondLst>
                              <p:cond delay="1300"/>
                            </p:stCondLst>
                            <p:childTnLst>
                              <p:set>
                                <p:cBhvr>
                                  <p:cTn id="1302" dur="1" fill="hold"/>
                                  <p:tgtEl>
                                    <p:spTgt spid="13"/>
                                  </p:tgtEl>
                                  <p:attrNameLst>
                                    <p:attrName>style.visibility</p:attrName>
                                  </p:attrNameLst>
                                </p:cBhvr>
                                <p:to>
                                  <p:strVal val="visible"/>
                                </p:to>
                              </p:set>
                              <p:animEffect transition="in" filter="wipe(up)">
                                <p:cBhvr>
                                  <p:cTn id="1303" dur="400" fill="hold"/>
                                  <p:tgtEl>
                                    <p:spTgt spid="13"/>
                                  </p:tgtEl>
                                </p:cBhvr>
                              </p:animEffect>
                            </p:childTnLst>
                          </p:cTn>
                        </p:par>
                        <p:par>
                          <p:cTn id="1401" grpId="0" nodeType="withPrev">
                            <p:stCondLst>
                              <p:cond delay="1300"/>
                            </p:stCondLst>
                            <p:childTnLst>
                              <p:set>
                                <p:cBhvr>
                                  <p:cTn id="1402" dur="1" fill="hold"/>
                                  <p:tgtEl>
                                    <p:spTgt spid="14"/>
                                  </p:tgtEl>
                                  <p:attrNameLst>
                                    <p:attrName>style.visibility</p:attrName>
                                  </p:attrNameLst>
                                </p:cBhvr>
                                <p:to>
                                  <p:strVal val="visible"/>
                                </p:to>
                              </p:set>
                              <p:animEffect transition="in" filter="wipe(up)">
                                <p:cBhvr>
                                  <p:cTn id="1403" dur="400" fill="hold"/>
                                  <p:tgtEl>
                                    <p:spTgt spid="14"/>
                                  </p:tgtEl>
                                </p:cBhvr>
                              </p:animEffect>
                            </p:childTnLst>
                          </p:cTn>
                        </p:par>
                        <p:par>
                          <p:cTn id="1501" grpId="0" nodeType="withPrev">
                            <p:stCondLst>
                              <p:cond delay="1300"/>
                            </p:stCondLst>
                            <p:childTnLst>
                              <p:set>
                                <p:cBhvr>
                                  <p:cTn id="1502" dur="1" fill="hold"/>
                                  <p:tgtEl>
                                    <p:spTgt spid="15"/>
                                  </p:tgtEl>
                                  <p:attrNameLst>
                                    <p:attrName>style.visibility</p:attrName>
                                  </p:attrNameLst>
                                </p:cBhvr>
                                <p:to>
                                  <p:strVal val="visible"/>
                                </p:to>
                              </p:set>
                              <p:animEffect transition="in" filter="wipe(up)">
                                <p:cBhvr>
                                  <p:cTn id="1503" dur="400" fill="hold"/>
                                  <p:tgtEl>
                                    <p:spTgt spid="15"/>
                                  </p:tgtEl>
                                </p:cBhvr>
                              </p:animEffect>
                            </p:childTnLst>
                          </p:cTn>
                        </p:par>
                        <p:par>
                          <p:cTn id="1601" grpId="0" nodeType="withPrev">
                            <p:stCondLst>
                              <p:cond delay="1300"/>
                            </p:stCondLst>
                            <p:childTnLst>
                              <p:set>
                                <p:cBhvr>
                                  <p:cTn id="1602" dur="1" fill="hold"/>
                                  <p:tgtEl>
                                    <p:spTgt spid="16"/>
                                  </p:tgtEl>
                                  <p:attrNameLst>
                                    <p:attrName>style.visibility</p:attrName>
                                  </p:attrNameLst>
                                </p:cBhvr>
                                <p:to>
                                  <p:strVal val="visible"/>
                                </p:to>
                              </p:set>
                              <p:animEffect transition="in" filter="wipe(up)">
                                <p:cBhvr>
                                  <p:cTn id="1603" dur="400" fill="hold"/>
                                  <p:tgtEl>
                                    <p:spTgt spid="16"/>
                                  </p:tgtEl>
                                </p:cBhvr>
                              </p:animEffect>
                            </p:childTnLst>
                          </p:cTn>
                        </p:par>
                        <p:par>
                          <p:cTn id="1701" grpId="0" nodeType="withPrev">
                            <p:stCondLst>
                              <p:cond delay="1300"/>
                            </p:stCondLst>
                            <p:childTnLst>
                              <p:set>
                                <p:cBhvr>
                                  <p:cTn id="1702" dur="1" fill="hold"/>
                                  <p:tgtEl>
                                    <p:spTgt spid="17"/>
                                  </p:tgtEl>
                                  <p:attrNameLst>
                                    <p:attrName>style.visibility</p:attrName>
                                  </p:attrNameLst>
                                </p:cBhvr>
                                <p:to>
                                  <p:strVal val="visible"/>
                                </p:to>
                              </p:set>
                              <p:animEffect transition="in" filter="wipe(up)">
                                <p:cBhvr>
                                  <p:cTn id="1703" dur="400" fill="hold"/>
                                  <p:tgtEl>
                                    <p:spTgt spid="17"/>
                                  </p:tgtEl>
                                </p:cBhvr>
                              </p:animEffect>
                            </p:childTnLst>
                          </p:cTn>
                        </p:par>
                        <p:par>
                          <p:cTn id="1801" grpId="0" nodeType="withPrev">
                            <p:stCondLst>
                              <p:cond delay="1300"/>
                            </p:stCondLst>
                            <p:childTnLst>
                              <p:set>
                                <p:cBhvr>
                                  <p:cTn id="1802" dur="1" fill="hold"/>
                                  <p:tgtEl>
                                    <p:spTgt spid="18"/>
                                  </p:tgtEl>
                                  <p:attrNameLst>
                                    <p:attrName>style.visibility</p:attrName>
                                  </p:attrNameLst>
                                </p:cBhvr>
                                <p:to>
                                  <p:strVal val="visible"/>
                                </p:to>
                              </p:set>
                              <p:animEffect transition="in" filter="wipe(up)">
                                <p:cBhvr>
                                  <p:cTn id="1803" dur="400" fill="hold"/>
                                  <p:tgtEl>
                                    <p:spTgt spid="18"/>
                                  </p:tgtEl>
                                </p:cBhvr>
                              </p:animEffect>
                            </p:childTnLst>
                          </p:cTn>
                        </p:par>
                        <p:par>
                          <p:cTn id="1901" grpId="0" nodeType="withPrev">
                            <p:stCondLst>
                              <p:cond delay="1300"/>
                            </p:stCondLst>
                            <p:childTnLst>
                              <p:set>
                                <p:cBhvr>
                                  <p:cTn id="1902" dur="1" fill="hold"/>
                                  <p:tgtEl>
                                    <p:spTgt spid="19"/>
                                  </p:tgtEl>
                                  <p:attrNameLst>
                                    <p:attrName>style.visibility</p:attrName>
                                  </p:attrNameLst>
                                </p:cBhvr>
                                <p:to>
                                  <p:strVal val="visible"/>
                                </p:to>
                              </p:set>
                              <p:animEffect transition="in" filter="wipe(up)">
                                <p:cBhvr>
                                  <p:cTn id="1903" dur="400" fill="hold"/>
                                  <p:tgtEl>
                                    <p:spTgt spid="19"/>
                                  </p:tgtEl>
                                </p:cBhvr>
                              </p:animEffect>
                            </p:childTnLst>
                          </p:cTn>
                        </p:par>
                        <p:par>
                          <p:cTn id="2001" grpId="0" nodeType="withPrev">
                            <p:stCondLst>
                              <p:cond delay="1300"/>
                            </p:stCondLst>
                            <p:childTnLst>
                              <p:set>
                                <p:cBhvr>
                                  <p:cTn id="2002" dur="1" fill="hold"/>
                                  <p:tgtEl>
                                    <p:spTgt spid="20"/>
                                  </p:tgtEl>
                                  <p:attrNameLst>
                                    <p:attrName>style.visibility</p:attrName>
                                  </p:attrNameLst>
                                </p:cBhvr>
                                <p:to>
                                  <p:strVal val="visible"/>
                                </p:to>
                              </p:set>
                              <p:animEffect transition="in" filter="wipe(up)">
                                <p:cBhvr>
                                  <p:cTn id="2003" dur="400" fill="hold"/>
                                  <p:tgtEl>
                                    <p:spTgt spid="20"/>
                                  </p:tgtEl>
                                </p:cBhvr>
                              </p:animEffect>
                            </p:childTnLst>
                          </p:cTn>
                        </p:par>
                      </p:childTnLst>
                    </p:cTn>
                  </p:par>
                </p:childTnLst>
              </p:cTn>
            </p:par>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Configuring Fields Further</a:t>
            </a:r>
            <a:endParaRPr lang="en-US" sz="2200" dirty="0"/>
          </a:p>
        </p:txBody>
      </p:sp>
      <p:sp>
        <p:nvSpPr>
          <p:cNvPr id="5" name="Text 3"/>
          <p:cNvSpPr/>
          <p:nvPr/>
        </p:nvSpPr>
        <p:spPr>
          <a:xfrm>
            <a:off x="457200" y="1005840"/>
            <a:ext cx="8229600" cy="64008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Once a data stream is defined, click the arrow icon (→) in the first column to access additional configuration tabs.</a:t>
            </a:r>
            <a:endParaRPr lang="en-US" sz="1400" dirty="0"/>
          </a:p>
        </p:txBody>
      </p:sp>
      <p:sp>
        <p:nvSpPr>
          <p:cNvPr id="6" name="Shape 4"/>
          <p:cNvSpPr/>
          <p:nvPr/>
        </p:nvSpPr>
        <p:spPr>
          <a:xfrm>
            <a:off x="457200" y="1783080"/>
            <a:ext cx="4023360" cy="292608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9000"/>
              </a:srgbClr>
            </a:outerShdw>
          </a:effectLst>
        </p:spPr>
      </p:sp>
      <p:sp>
        <p:nvSpPr>
          <p:cNvPr id="7" name="Shape 5"/>
          <p:cNvSpPr/>
          <p:nvPr/>
        </p:nvSpPr>
        <p:spPr>
          <a:xfrm>
            <a:off x="457200" y="1783080"/>
            <a:ext cx="4023360" cy="502920"/>
          </a:xfrm>
          <a:prstGeom prst="rect">
            <a:avLst/>
          </a:prstGeom>
          <a:solidFill>
            <a:srgbClr val="1B7FA6"/>
          </a:solidFill>
          <a:ln w="12700">
            <a:solidFill>
              <a:srgbClr val="1B7FA6"/>
            </a:solidFill>
            <a:prstDash val="solid"/>
          </a:ln>
        </p:spPr>
      </p:sp>
      <p:sp>
        <p:nvSpPr>
          <p:cNvPr id="8" name="Text 6"/>
          <p:cNvSpPr/>
          <p:nvPr/>
        </p:nvSpPr>
        <p:spPr>
          <a:xfrm>
            <a:off x="594360" y="1783080"/>
            <a:ext cx="3749040" cy="5029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Data Elements</a:t>
            </a:r>
            <a:endParaRPr lang="en-US" sz="1500" dirty="0"/>
          </a:p>
        </p:txBody>
      </p:sp>
      <p:sp>
        <p:nvSpPr>
          <p:cNvPr id="9" name="Text 7"/>
          <p:cNvSpPr/>
          <p:nvPr/>
        </p:nvSpPr>
        <p:spPr>
          <a:xfrm>
            <a:off x="594360" y="2377440"/>
            <a:ext cx="3749040" cy="2194560"/>
          </a:xfrm>
          <a:prstGeom prst="rect">
            <a:avLst/>
          </a:prstGeom>
          <a:noFill/>
          <a:ln/>
        </p:spPr>
        <p:txBody>
          <a:bodyPr wrap="square" lIns="76200" tIns="76200" rIns="76200" bIns="7620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Configure field-level metadata: key identifiers, business names, data types, and scrambling methods for data persistence.</a:t>
            </a:r>
            <a:endParaRPr lang="en-US" sz="1200" dirty="0"/>
          </a:p>
        </p:txBody>
      </p:sp>
      <p:sp>
        <p:nvSpPr>
          <p:cNvPr id="10" name="Shape 8"/>
          <p:cNvSpPr/>
          <p:nvPr/>
        </p:nvSpPr>
        <p:spPr>
          <a:xfrm>
            <a:off x="4846320" y="1783080"/>
            <a:ext cx="4023360" cy="292608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9000"/>
              </a:srgbClr>
            </a:outerShdw>
          </a:effectLst>
        </p:spPr>
      </p:sp>
      <p:sp>
        <p:nvSpPr>
          <p:cNvPr id="11" name="Shape 9"/>
          <p:cNvSpPr/>
          <p:nvPr/>
        </p:nvSpPr>
        <p:spPr>
          <a:xfrm>
            <a:off x="4846320" y="1783080"/>
            <a:ext cx="4023360" cy="502920"/>
          </a:xfrm>
          <a:prstGeom prst="rect">
            <a:avLst/>
          </a:prstGeom>
          <a:solidFill>
            <a:srgbClr val="02C39A"/>
          </a:solidFill>
          <a:ln w="12700">
            <a:solidFill>
              <a:srgbClr val="02C39A"/>
            </a:solidFill>
            <a:prstDash val="solid"/>
          </a:ln>
        </p:spPr>
      </p:sp>
      <p:sp>
        <p:nvSpPr>
          <p:cNvPr id="12" name="Text 10"/>
          <p:cNvSpPr/>
          <p:nvPr/>
        </p:nvSpPr>
        <p:spPr>
          <a:xfrm>
            <a:off x="4983480" y="1783080"/>
            <a:ext cx="3749040" cy="5029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Detection Process</a:t>
            </a:r>
            <a:endParaRPr lang="en-US" sz="1500" dirty="0"/>
          </a:p>
        </p:txBody>
      </p:sp>
      <p:sp>
        <p:nvSpPr>
          <p:cNvPr id="13" name="Text 11"/>
          <p:cNvSpPr/>
          <p:nvPr/>
        </p:nvSpPr>
        <p:spPr>
          <a:xfrm>
            <a:off x="4983480" y="2377440"/>
            <a:ext cx="3749040" cy="2194560"/>
          </a:xfrm>
          <a:prstGeom prst="rect">
            <a:avLst/>
          </a:prstGeom>
          <a:noFill/>
          <a:ln/>
        </p:spPr>
        <p:txBody>
          <a:bodyPr wrap="square" lIns="76200" tIns="76200" rIns="76200" bIns="7620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Define detection logic and processing rules applied when the data stream is active in the platform.</a:t>
            </a:r>
            <a:endParaRPr lang="en-US" sz="1200" dirty="0"/>
          </a:p>
        </p:txBody>
      </p:sp>
    </p:spTree>
  </p:cSld>
  <p:clrMapOvr>
    <a:masterClrMapping/>
  </p:clrMapOvr>
  <p:transition spd="med" advClick="1" advTm="0">
    <p:fade/>
  </p:transition>
  <p:timing>
    <p:tnLst>
      <p:par>
        <p:cTn id="11000" dur="indefin" restart="whenNotActive" nodeType="tmRoot">
          <p:childTnLst>
            <p:par>
              <p:cTn id="11001" fill="hold" nodeType="mainSeq">
                <p:stCondLst>
                  <p:cond delay="indefin"/>
                </p:stCondLst>
                <p:childTnLst>
                  <p:par>
                    <p:cTn id="11002" fill="hold">
                      <p:stCondLst>
                        <p:cond delay="0"/>
                      </p:stCondLst>
                      <p:childTnLst>
                        <p:par>
                          <p:cTn id="201" grpId="0" nodeType="withPrev">
                            <p:stCondLst>
                              <p:cond delay="0"/>
                            </p:stCondLst>
                            <p:childTnLst>
                              <p:set>
                                <p:cBhvr>
                                  <p:cTn id="202" dur="1" fill="hold"/>
                                  <p:tgtEl>
                                    <p:spTgt spid="2"/>
                                  </p:tgtEl>
                                  <p:attrNameLst>
                                    <p:attrName>style.visibility</p:attrName>
                                  </p:attrNameLst>
                                </p:cBhvr>
                                <p:to>
                                  <p:strVal val="visible"/>
                                </p:to>
                              </p:set>
                              <p:animEffect transition="in" filter="fade">
                                <p:cBhvr>
                                  <p:cTn id="203" dur="500" fill="hold"/>
                                  <p:tgtEl>
                                    <p:spTgt spid="2"/>
                                  </p:tgtEl>
                                </p:cBhvr>
                              </p:animEffect>
                            </p:childTnLst>
                          </p:cTn>
                        </p:par>
                        <p:par>
                          <p:cTn id="301" grpId="0" nodeType="withPrev">
                            <p:stCondLst>
                              <p:cond delay="0"/>
                            </p:stCondLst>
                            <p:childTnLst>
                              <p:set>
                                <p:cBhvr>
                                  <p:cTn id="302" dur="1" fill="hold"/>
                                  <p:tgtEl>
                                    <p:spTgt spid="3"/>
                                  </p:tgtEl>
                                  <p:attrNameLst>
                                    <p:attrName>style.visibility</p:attrName>
                                  </p:attrNameLst>
                                </p:cBhvr>
                                <p:to>
                                  <p:strVal val="visible"/>
                                </p:to>
                              </p:set>
                              <p:animEffect transition="in" filter="fade">
                                <p:cBhvr>
                                  <p:cTn id="303" dur="500" fill="hold"/>
                                  <p:tgtEl>
                                    <p:spTgt spid="3"/>
                                  </p:tgtEl>
                                </p:cBhvr>
                              </p:animEffect>
                            </p:childTnLst>
                          </p:cTn>
                        </p:par>
                        <p:par>
                          <p:cTn id="401" grpId="0" nodeType="withPrev">
                            <p:stCondLst>
                              <p:cond delay="0"/>
                            </p:stCondLst>
                            <p:childTnLst>
                              <p:set>
                                <p:cBhvr>
                                  <p:cTn id="402" dur="1" fill="hold"/>
                                  <p:tgtEl>
                                    <p:spTgt spid="4"/>
                                  </p:tgtEl>
                                  <p:attrNameLst>
                                    <p:attrName>style.visibility</p:attrName>
                                  </p:attrNameLst>
                                </p:cBhvr>
                                <p:to>
                                  <p:strVal val="visible"/>
                                </p:to>
                              </p:set>
                              <p:animEffect transition="in" filter="fade">
                                <p:cBhvr>
                                  <p:cTn id="403" dur="500" fill="hold"/>
                                  <p:tgtEl>
                                    <p:spTgt spid="4"/>
                                  </p:tgtEl>
                                </p:cBhvr>
                              </p:animEffect>
                            </p:childTnLst>
                          </p:cTn>
                        </p:par>
                        <p:par>
                          <p:cTn id="501" grpId="0" nodeType="withPrev">
                            <p:stCondLst>
                              <p:cond delay="300"/>
                            </p:stCondLst>
                            <p:childTnLst>
                              <p:set>
                                <p:cBhvr>
                                  <p:cTn id="502" dur="1" fill="hold"/>
                                  <p:tgtEl>
                                    <p:spTgt spid="5"/>
                                  </p:tgtEl>
                                  <p:attrNameLst>
                                    <p:attrName>style.visibility</p:attrName>
                                  </p:attrNameLst>
                                </p:cBhvr>
                                <p:to>
                                  <p:strVal val="visible"/>
                                </p:to>
                              </p:set>
                              <p:animEffect transition="in" filter="wipe(up)">
                                <p:cBhvr>
                                  <p:cTn id="503" dur="400" fill="hold"/>
                                  <p:tgtEl>
                                    <p:spTgt spid="5"/>
                                  </p:tgtEl>
                                </p:cBhvr>
                              </p:animEffect>
                            </p:childTnLst>
                          </p:cTn>
                        </p:par>
                        <p:par>
                          <p:cTn id="601" grpId="0" nodeType="withPrev">
                            <p:stCondLst>
                              <p:cond delay="600"/>
                            </p:stCondLst>
                            <p:childTnLst>
                              <p:set>
                                <p:cBhvr>
                                  <p:cTn id="602" dur="1" fill="hold"/>
                                  <p:tgtEl>
                                    <p:spTgt spid="6"/>
                                  </p:tgtEl>
                                  <p:attrNameLst>
                                    <p:attrName>style.visibility</p:attrName>
                                  </p:attrNameLst>
                                </p:cBhvr>
                                <p:to>
                                  <p:strVal val="visible"/>
                                </p:to>
                              </p:set>
                              <p:animEffect transition="in" filter="circle">
                                <p:cBhvr>
                                  <p:cTn id="603" dur="400" fill="hold"/>
                                  <p:tgtEl>
                                    <p:spTgt spid="6"/>
                                  </p:tgtEl>
                                </p:cBhvr>
                              </p:animEffect>
                            </p:childTnLst>
                          </p:cTn>
                        </p:par>
                        <p:par>
                          <p:cTn id="701" grpId="0" nodeType="withPrev">
                            <p:stCondLst>
                              <p:cond delay="600"/>
                            </p:stCondLst>
                            <p:childTnLst>
                              <p:set>
                                <p:cBhvr>
                                  <p:cTn id="702" dur="1" fill="hold"/>
                                  <p:tgtEl>
                                    <p:spTgt spid="7"/>
                                  </p:tgtEl>
                                  <p:attrNameLst>
                                    <p:attrName>style.visibility</p:attrName>
                                  </p:attrNameLst>
                                </p:cBhvr>
                                <p:to>
                                  <p:strVal val="visible"/>
                                </p:to>
                              </p:set>
                              <p:animEffect transition="in" filter="circle">
                                <p:cBhvr>
                                  <p:cTn id="703" dur="400" fill="hold"/>
                                  <p:tgtEl>
                                    <p:spTgt spid="7"/>
                                  </p:tgtEl>
                                </p:cBhvr>
                              </p:animEffect>
                            </p:childTnLst>
                          </p:cTn>
                        </p:par>
                        <p:par>
                          <p:cTn id="801" grpId="0" nodeType="withPrev">
                            <p:stCondLst>
                              <p:cond delay="600"/>
                            </p:stCondLst>
                            <p:childTnLst>
                              <p:set>
                                <p:cBhvr>
                                  <p:cTn id="802" dur="1" fill="hold"/>
                                  <p:tgtEl>
                                    <p:spTgt spid="8"/>
                                  </p:tgtEl>
                                  <p:attrNameLst>
                                    <p:attrName>style.visibility</p:attrName>
                                  </p:attrNameLst>
                                </p:cBhvr>
                                <p:to>
                                  <p:strVal val="visible"/>
                                </p:to>
                              </p:set>
                              <p:animEffect transition="in" filter="fade">
                                <p:cBhvr>
                                  <p:cTn id="803" dur="500" fill="hold"/>
                                  <p:tgtEl>
                                    <p:spTgt spid="8"/>
                                  </p:tgtEl>
                                </p:cBhvr>
                              </p:animEffect>
                            </p:childTnLst>
                          </p:cTn>
                        </p:par>
                        <p:par>
                          <p:cTn id="901" grpId="0" nodeType="withPrev">
                            <p:stCondLst>
                              <p:cond delay="600"/>
                            </p:stCondLst>
                            <p:childTnLst>
                              <p:set>
                                <p:cBhvr>
                                  <p:cTn id="902" dur="1" fill="hold"/>
                                  <p:tgtEl>
                                    <p:spTgt spid="9"/>
                                  </p:tgtEl>
                                  <p:attrNameLst>
                                    <p:attrName>style.visibility</p:attrName>
                                  </p:attrNameLst>
                                </p:cBhvr>
                                <p:to>
                                  <p:strVal val="visible"/>
                                </p:to>
                              </p:set>
                              <p:animEffect transition="in" filter="fade">
                                <p:cBhvr>
                                  <p:cTn id="903" dur="500" fill="hold"/>
                                  <p:tgtEl>
                                    <p:spTgt spid="9"/>
                                  </p:tgtEl>
                                </p:cBhvr>
                              </p:animEffect>
                            </p:childTnLst>
                          </p:cTn>
                        </p:par>
                        <p:par>
                          <p:cTn id="1001" grpId="0" nodeType="withPrev">
                            <p:stCondLst>
                              <p:cond delay="900"/>
                            </p:stCondLst>
                            <p:childTnLst>
                              <p:set>
                                <p:cBhvr>
                                  <p:cTn id="1002" dur="1" fill="hold"/>
                                  <p:tgtEl>
                                    <p:spTgt spid="10"/>
                                  </p:tgtEl>
                                  <p:attrNameLst>
                                    <p:attrName>style.visibility</p:attrName>
                                  </p:attrNameLst>
                                </p:cBhvr>
                                <p:to>
                                  <p:strVal val="visible"/>
                                </p:to>
                              </p:set>
                              <p:animEffect transition="in" filter="circle">
                                <p:cBhvr>
                                  <p:cTn id="1003" dur="400" fill="hold"/>
                                  <p:tgtEl>
                                    <p:spTgt spid="10"/>
                                  </p:tgtEl>
                                </p:cBhvr>
                              </p:animEffect>
                            </p:childTnLst>
                          </p:cTn>
                        </p:par>
                        <p:par>
                          <p:cTn id="1101" grpId="0" nodeType="withPrev">
                            <p:stCondLst>
                              <p:cond delay="900"/>
                            </p:stCondLst>
                            <p:childTnLst>
                              <p:set>
                                <p:cBhvr>
                                  <p:cTn id="1102" dur="1" fill="hold"/>
                                  <p:tgtEl>
                                    <p:spTgt spid="11"/>
                                  </p:tgtEl>
                                  <p:attrNameLst>
                                    <p:attrName>style.visibility</p:attrName>
                                  </p:attrNameLst>
                                </p:cBhvr>
                                <p:to>
                                  <p:strVal val="visible"/>
                                </p:to>
                              </p:set>
                              <p:animEffect transition="in" filter="circle">
                                <p:cBhvr>
                                  <p:cTn id="1103" dur="400" fill="hold"/>
                                  <p:tgtEl>
                                    <p:spTgt spid="11"/>
                                  </p:tgtEl>
                                </p:cBhvr>
                              </p:animEffect>
                            </p:childTnLst>
                          </p:cTn>
                        </p:par>
                        <p:par>
                          <p:cTn id="1201" grpId="0" nodeType="withPrev">
                            <p:stCondLst>
                              <p:cond delay="900"/>
                            </p:stCondLst>
                            <p:childTnLst>
                              <p:set>
                                <p:cBhvr>
                                  <p:cTn id="1202" dur="1" fill="hold"/>
                                  <p:tgtEl>
                                    <p:spTgt spid="12"/>
                                  </p:tgtEl>
                                  <p:attrNameLst>
                                    <p:attrName>style.visibility</p:attrName>
                                  </p:attrNameLst>
                                </p:cBhvr>
                                <p:to>
                                  <p:strVal val="visible"/>
                                </p:to>
                              </p:set>
                              <p:animEffect transition="in" filter="fade">
                                <p:cBhvr>
                                  <p:cTn id="1203" dur="500" fill="hold"/>
                                  <p:tgtEl>
                                    <p:spTgt spid="12"/>
                                  </p:tgtEl>
                                </p:cBhvr>
                              </p:animEffect>
                            </p:childTnLst>
                          </p:cTn>
                        </p:par>
                        <p:par>
                          <p:cTn id="1301" grpId="0" nodeType="withPrev">
                            <p:stCondLst>
                              <p:cond delay="900"/>
                            </p:stCondLst>
                            <p:childTnLst>
                              <p:set>
                                <p:cBhvr>
                                  <p:cTn id="1302" dur="1" fill="hold"/>
                                  <p:tgtEl>
                                    <p:spTgt spid="13"/>
                                  </p:tgtEl>
                                  <p:attrNameLst>
                                    <p:attrName>style.visibility</p:attrName>
                                  </p:attrNameLst>
                                </p:cBhvr>
                                <p:to>
                                  <p:strVal val="visible"/>
                                </p:to>
                              </p:set>
                              <p:animEffect transition="in" filter="fade">
                                <p:cBhvr>
                                  <p:cTn id="1303" dur="500" fill="hold"/>
                                  <p:tgtEl>
                                    <p:spTgt spid="13"/>
                                  </p:tgtEl>
                                </p:cBhvr>
                              </p:animEffect>
                            </p:childTnLst>
                          </p:cTn>
                        </p:par>
                      </p:childTnLst>
                    </p:cTn>
                  </p:par>
                </p:childTnLst>
              </p:cTn>
            </p:par>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 Elements Tab</a:t>
            </a:r>
            <a:endParaRPr lang="en-US" sz="2200" dirty="0"/>
          </a:p>
        </p:txBody>
      </p:sp>
      <p:sp>
        <p:nvSpPr>
          <p:cNvPr id="5" name="Text 3"/>
          <p:cNvSpPr/>
          <p:nvPr/>
        </p:nvSpPr>
        <p:spPr>
          <a:xfrm>
            <a:off x="457200" y="1005840"/>
            <a:ext cx="8229600" cy="36576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Click the Add item (+) icon to specify field information:</a:t>
            </a:r>
            <a:endParaRPr lang="en-US" sz="1400" dirty="0"/>
          </a:p>
        </p:txBody>
      </p:sp>
      <p:sp>
        <p:nvSpPr>
          <p:cNvPr id="6" name="Shape 4"/>
          <p:cNvSpPr/>
          <p:nvPr/>
        </p:nvSpPr>
        <p:spPr>
          <a:xfrm>
            <a:off x="457200" y="1463040"/>
            <a:ext cx="8229600" cy="411480"/>
          </a:xfrm>
          <a:prstGeom prst="rect">
            <a:avLst/>
          </a:prstGeom>
          <a:solidFill>
            <a:srgbClr val="0D1B2A"/>
          </a:solidFill>
          <a:ln w="12700">
            <a:solidFill>
              <a:srgbClr val="0D1B2A"/>
            </a:solidFill>
            <a:prstDash val="solid"/>
          </a:ln>
        </p:spPr>
      </p:sp>
      <p:sp>
        <p:nvSpPr>
          <p:cNvPr id="7" name="Text 5"/>
          <p:cNvSpPr/>
          <p:nvPr/>
        </p:nvSpPr>
        <p:spPr>
          <a:xfrm>
            <a:off x="548640" y="1463040"/>
            <a:ext cx="182880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p>
        </p:txBody>
      </p:sp>
      <p:sp>
        <p:nvSpPr>
          <p:cNvPr id="8" name="Text 6"/>
          <p:cNvSpPr/>
          <p:nvPr/>
        </p:nvSpPr>
        <p:spPr>
          <a:xfrm>
            <a:off x="2560320" y="1463040"/>
            <a:ext cx="347472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p>
        </p:txBody>
      </p:sp>
      <p:sp>
        <p:nvSpPr>
          <p:cNvPr id="9" name="Text 7"/>
          <p:cNvSpPr/>
          <p:nvPr/>
        </p:nvSpPr>
        <p:spPr>
          <a:xfrm>
            <a:off x="6217920" y="1463040"/>
            <a:ext cx="182880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p>
        </p:txBody>
      </p:sp>
      <p:sp>
        <p:nvSpPr>
          <p:cNvPr id="10" name="Shape 8"/>
          <p:cNvSpPr/>
          <p:nvPr/>
        </p:nvSpPr>
        <p:spPr>
          <a:xfrm>
            <a:off x="457200" y="1874520"/>
            <a:ext cx="8229600" cy="548640"/>
          </a:xfrm>
          <a:prstGeom prst="rect">
            <a:avLst/>
          </a:prstGeom>
          <a:solidFill>
            <a:srgbClr val="F8FAFC"/>
          </a:solidFill>
          <a:ln w="6350">
            <a:solidFill>
              <a:srgbClr val="CBD5E1"/>
            </a:solidFill>
            <a:prstDash val="solid"/>
          </a:ln>
        </p:spPr>
      </p:sp>
      <p:sp>
        <p:nvSpPr>
          <p:cNvPr id="11" name="Text 9"/>
          <p:cNvSpPr/>
          <p:nvPr/>
        </p:nvSpPr>
        <p:spPr>
          <a:xfrm>
            <a:off x="548640" y="1874520"/>
            <a:ext cx="1920240" cy="548640"/>
          </a:xfrm>
          <a:prstGeom prst="rect">
            <a:avLst/>
          </a:prstGeom>
          <a:noFill/>
          <a:ln/>
        </p:spPr>
        <p:txBody>
          <a:bodyPr wrap="square" rtlCol="0" anchor="ctr"/>
          <a:lstStyle/>
          <a:p>
            <a:pPr indent="0" marL="0">
              <a:buNone/>
            </a:pPr>
            <a:r>
              <a:rPr lang="en-US" sz="1100" b="1" dirty="0">
                <a:solidFill>
                  <a:srgbClr val="0E5C7A"/>
                </a:solidFill>
                <a:latin typeface="Calibri" pitchFamily="34" charset="0"/>
                <a:ea typeface="Calibri" pitchFamily="34" charset="-122"/>
                <a:cs typeface="Calibri" pitchFamily="34" charset="-120"/>
              </a:rPr>
              <a:t>Key Identifier</a:t>
            </a:r>
            <a:endParaRPr lang="en-US" sz="1100" dirty="0"/>
          </a:p>
        </p:txBody>
      </p:sp>
      <p:sp>
        <p:nvSpPr>
          <p:cNvPr id="12" name="Text 10"/>
          <p:cNvSpPr/>
          <p:nvPr/>
        </p:nvSpPr>
        <p:spPr>
          <a:xfrm>
            <a:off x="2560320" y="1874520"/>
            <a:ext cx="3474720" cy="54864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The key in the JSON string</a:t>
            </a:r>
            <a:endParaRPr lang="en-US" sz="1100" dirty="0"/>
          </a:p>
        </p:txBody>
      </p:sp>
      <p:sp>
        <p:nvSpPr>
          <p:cNvPr id="13" name="Text 11"/>
          <p:cNvSpPr/>
          <p:nvPr/>
        </p:nvSpPr>
        <p:spPr>
          <a:xfrm>
            <a:off x="6217920" y="1874520"/>
            <a:ext cx="2286000" cy="5486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Unique per data stream</a:t>
            </a:r>
            <a:endParaRPr lang="en-US" sz="1000" dirty="0"/>
          </a:p>
        </p:txBody>
      </p:sp>
      <p:sp>
        <p:nvSpPr>
          <p:cNvPr id="14" name="Shape 12"/>
          <p:cNvSpPr/>
          <p:nvPr/>
        </p:nvSpPr>
        <p:spPr>
          <a:xfrm>
            <a:off x="457200" y="2441448"/>
            <a:ext cx="8229600" cy="548640"/>
          </a:xfrm>
          <a:prstGeom prst="rect">
            <a:avLst/>
          </a:prstGeom>
          <a:solidFill>
            <a:srgbClr val="FFFFFF"/>
          </a:solidFill>
          <a:ln w="6350">
            <a:solidFill>
              <a:srgbClr val="CBD5E1"/>
            </a:solidFill>
            <a:prstDash val="solid"/>
          </a:ln>
        </p:spPr>
      </p:sp>
      <p:sp>
        <p:nvSpPr>
          <p:cNvPr id="15" name="Text 13"/>
          <p:cNvSpPr/>
          <p:nvPr/>
        </p:nvSpPr>
        <p:spPr>
          <a:xfrm>
            <a:off x="548640" y="2441448"/>
            <a:ext cx="1920240" cy="548640"/>
          </a:xfrm>
          <a:prstGeom prst="rect">
            <a:avLst/>
          </a:prstGeom>
          <a:noFill/>
          <a:ln/>
        </p:spPr>
        <p:txBody>
          <a:bodyPr wrap="square" rtlCol="0" anchor="ctr"/>
          <a:lstStyle/>
          <a:p>
            <a:pPr indent="0" marL="0">
              <a:buNone/>
            </a:pPr>
            <a:r>
              <a:rPr lang="en-US" sz="1100" b="1" dirty="0">
                <a:solidFill>
                  <a:srgbClr val="0E5C7A"/>
                </a:solidFill>
                <a:latin typeface="Calibri" pitchFamily="34" charset="0"/>
                <a:ea typeface="Calibri" pitchFamily="34" charset="-122"/>
                <a:cs typeface="Calibri" pitchFamily="34" charset="-120"/>
              </a:rPr>
              <a:t>Business Name</a:t>
            </a:r>
            <a:endParaRPr lang="en-US" sz="1100" dirty="0"/>
          </a:p>
        </p:txBody>
      </p:sp>
      <p:sp>
        <p:nvSpPr>
          <p:cNvPr id="16" name="Text 14"/>
          <p:cNvSpPr/>
          <p:nvPr/>
        </p:nvSpPr>
        <p:spPr>
          <a:xfrm>
            <a:off x="2560320" y="2441448"/>
            <a:ext cx="3474720" cy="54864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Display name in Policy Manager &amp; Analytics</a:t>
            </a:r>
            <a:endParaRPr lang="en-US" sz="1100" dirty="0"/>
          </a:p>
        </p:txBody>
      </p:sp>
      <p:sp>
        <p:nvSpPr>
          <p:cNvPr id="17" name="Text 15"/>
          <p:cNvSpPr/>
          <p:nvPr/>
        </p:nvSpPr>
        <p:spPr>
          <a:xfrm>
            <a:off x="6217920" y="2441448"/>
            <a:ext cx="2286000" cy="5486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Shown in authoring environment</a:t>
            </a:r>
            <a:endParaRPr lang="en-US" sz="1000" dirty="0"/>
          </a:p>
        </p:txBody>
      </p:sp>
      <p:sp>
        <p:nvSpPr>
          <p:cNvPr id="18" name="Shape 16"/>
          <p:cNvSpPr/>
          <p:nvPr/>
        </p:nvSpPr>
        <p:spPr>
          <a:xfrm>
            <a:off x="457200" y="3008376"/>
            <a:ext cx="8229600" cy="548640"/>
          </a:xfrm>
          <a:prstGeom prst="rect">
            <a:avLst/>
          </a:prstGeom>
          <a:solidFill>
            <a:srgbClr val="F8FAFC"/>
          </a:solidFill>
          <a:ln w="6350">
            <a:solidFill>
              <a:srgbClr val="CBD5E1"/>
            </a:solidFill>
            <a:prstDash val="solid"/>
          </a:ln>
        </p:spPr>
      </p:sp>
      <p:sp>
        <p:nvSpPr>
          <p:cNvPr id="19" name="Text 17"/>
          <p:cNvSpPr/>
          <p:nvPr/>
        </p:nvSpPr>
        <p:spPr>
          <a:xfrm>
            <a:off x="548640" y="3008376"/>
            <a:ext cx="1920240" cy="548640"/>
          </a:xfrm>
          <a:prstGeom prst="rect">
            <a:avLst/>
          </a:prstGeom>
          <a:noFill/>
          <a:ln/>
        </p:spPr>
        <p:txBody>
          <a:bodyPr wrap="square" rtlCol="0" anchor="ctr"/>
          <a:lstStyle/>
          <a:p>
            <a:pPr indent="0" marL="0">
              <a:buNone/>
            </a:pPr>
            <a:r>
              <a:rPr lang="en-US" sz="1100" b="1" dirty="0">
                <a:solidFill>
                  <a:srgbClr val="0E5C7A"/>
                </a:solidFill>
                <a:latin typeface="Calibri" pitchFamily="34" charset="0"/>
                <a:ea typeface="Calibri" pitchFamily="34" charset="-122"/>
                <a:cs typeface="Calibri" pitchFamily="34" charset="-120"/>
              </a:rPr>
              <a:t>Data Type</a:t>
            </a:r>
            <a:endParaRPr lang="en-US" sz="1100" dirty="0"/>
          </a:p>
        </p:txBody>
      </p:sp>
      <p:sp>
        <p:nvSpPr>
          <p:cNvPr id="20" name="Text 18"/>
          <p:cNvSpPr/>
          <p:nvPr/>
        </p:nvSpPr>
        <p:spPr>
          <a:xfrm>
            <a:off x="2560320" y="3008376"/>
            <a:ext cx="3474720" cy="54864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Type of the field value</a:t>
            </a:r>
            <a:endParaRPr lang="en-US" sz="1100" dirty="0"/>
          </a:p>
        </p:txBody>
      </p:sp>
      <p:sp>
        <p:nvSpPr>
          <p:cNvPr id="21" name="Text 19"/>
          <p:cNvSpPr/>
          <p:nvPr/>
        </p:nvSpPr>
        <p:spPr>
          <a:xfrm>
            <a:off x="6217920" y="3008376"/>
            <a:ext cx="2286000" cy="5486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String, Integer, Boolean, etc.</a:t>
            </a:r>
            <a:endParaRPr lang="en-US" sz="1000" dirty="0"/>
          </a:p>
        </p:txBody>
      </p:sp>
      <p:sp>
        <p:nvSpPr>
          <p:cNvPr id="22" name="Shape 20"/>
          <p:cNvSpPr/>
          <p:nvPr/>
        </p:nvSpPr>
        <p:spPr>
          <a:xfrm>
            <a:off x="457200" y="3575304"/>
            <a:ext cx="8229600" cy="548640"/>
          </a:xfrm>
          <a:prstGeom prst="rect">
            <a:avLst/>
          </a:prstGeom>
          <a:solidFill>
            <a:srgbClr val="FFFFFF"/>
          </a:solidFill>
          <a:ln w="6350">
            <a:solidFill>
              <a:srgbClr val="CBD5E1"/>
            </a:solidFill>
            <a:prstDash val="solid"/>
          </a:ln>
        </p:spPr>
      </p:sp>
      <p:sp>
        <p:nvSpPr>
          <p:cNvPr id="23" name="Text 21"/>
          <p:cNvSpPr/>
          <p:nvPr/>
        </p:nvSpPr>
        <p:spPr>
          <a:xfrm>
            <a:off x="548640" y="3575304"/>
            <a:ext cx="1920240" cy="548640"/>
          </a:xfrm>
          <a:prstGeom prst="rect">
            <a:avLst/>
          </a:prstGeom>
          <a:noFill/>
          <a:ln/>
        </p:spPr>
        <p:txBody>
          <a:bodyPr wrap="square" rtlCol="0" anchor="ctr"/>
          <a:lstStyle/>
          <a:p>
            <a:pPr indent="0" marL="0">
              <a:buNone/>
            </a:pPr>
            <a:r>
              <a:rPr lang="en-US" sz="1100" b="1" dirty="0">
                <a:solidFill>
                  <a:srgbClr val="0E5C7A"/>
                </a:solidFill>
                <a:latin typeface="Calibri" pitchFamily="34" charset="0"/>
                <a:ea typeface="Calibri" pitchFamily="34" charset="-122"/>
                <a:cs typeface="Calibri" pitchFamily="34" charset="-120"/>
              </a:rPr>
              <a:t>Scrambling Method</a:t>
            </a:r>
            <a:endParaRPr lang="en-US" sz="1100" dirty="0"/>
          </a:p>
        </p:txBody>
      </p:sp>
      <p:sp>
        <p:nvSpPr>
          <p:cNvPr id="24" name="Text 22"/>
          <p:cNvSpPr/>
          <p:nvPr/>
        </p:nvSpPr>
        <p:spPr>
          <a:xfrm>
            <a:off x="2560320" y="3575304"/>
            <a:ext cx="3474720" cy="54864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How data is masked when persisted</a:t>
            </a:r>
            <a:endParaRPr lang="en-US" sz="1100" dirty="0"/>
          </a:p>
        </p:txBody>
      </p:sp>
      <p:sp>
        <p:nvSpPr>
          <p:cNvPr id="25" name="Text 23"/>
          <p:cNvSpPr/>
          <p:nvPr/>
        </p:nvSpPr>
        <p:spPr>
          <a:xfrm>
            <a:off x="6217920" y="3575304"/>
            <a:ext cx="2286000" cy="5486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Applies to DataLakes storage</a:t>
            </a:r>
            <a:endParaRPr lang="en-US" sz="1000" dirty="0"/>
          </a:p>
        </p:txBody>
      </p:sp>
      <p:sp>
        <p:nvSpPr>
          <p:cNvPr id="26" name="Shape 24"/>
          <p:cNvSpPr/>
          <p:nvPr/>
        </p:nvSpPr>
        <p:spPr>
          <a:xfrm>
            <a:off x="457200" y="4142232"/>
            <a:ext cx="8229600" cy="548640"/>
          </a:xfrm>
          <a:prstGeom prst="rect">
            <a:avLst/>
          </a:prstGeom>
          <a:solidFill>
            <a:srgbClr val="F8FAFC"/>
          </a:solidFill>
          <a:ln w="6350">
            <a:solidFill>
              <a:srgbClr val="CBD5E1"/>
            </a:solidFill>
            <a:prstDash val="solid"/>
          </a:ln>
        </p:spPr>
      </p:sp>
      <p:sp>
        <p:nvSpPr>
          <p:cNvPr id="27" name="Text 25"/>
          <p:cNvSpPr/>
          <p:nvPr/>
        </p:nvSpPr>
        <p:spPr>
          <a:xfrm>
            <a:off x="548640" y="4142232"/>
            <a:ext cx="1920240" cy="548640"/>
          </a:xfrm>
          <a:prstGeom prst="rect">
            <a:avLst/>
          </a:prstGeom>
          <a:noFill/>
          <a:ln/>
        </p:spPr>
        <p:txBody>
          <a:bodyPr wrap="square" rtlCol="0" anchor="ctr"/>
          <a:lstStyle/>
          <a:p>
            <a:pPr indent="0" marL="0">
              <a:buNone/>
            </a:pPr>
            <a:r>
              <a:rPr lang="en-US" sz="1100" b="1" dirty="0">
                <a:solidFill>
                  <a:srgbClr val="0E5C7A"/>
                </a:solidFill>
                <a:latin typeface="Calibri" pitchFamily="34" charset="0"/>
                <a:ea typeface="Calibri" pitchFamily="34" charset="-122"/>
                <a:cs typeface="Calibri" pitchFamily="34" charset="-120"/>
              </a:rPr>
              <a:t>Client Field Mapping</a:t>
            </a:r>
            <a:endParaRPr lang="en-US" sz="1100" dirty="0"/>
          </a:p>
        </p:txBody>
      </p:sp>
      <p:sp>
        <p:nvSpPr>
          <p:cNvPr id="28" name="Text 26"/>
          <p:cNvSpPr/>
          <p:nvPr/>
        </p:nvSpPr>
        <p:spPr>
          <a:xfrm>
            <a:off x="2560320" y="4142232"/>
            <a:ext cx="3474720" cy="54864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Maps stream field to IFM data model field</a:t>
            </a:r>
            <a:endParaRPr lang="en-US" sz="1100" dirty="0"/>
          </a:p>
        </p:txBody>
      </p:sp>
      <p:sp>
        <p:nvSpPr>
          <p:cNvPr id="29" name="Text 27"/>
          <p:cNvSpPr/>
          <p:nvPr/>
        </p:nvSpPr>
        <p:spPr>
          <a:xfrm>
            <a:off x="6217920" y="4142232"/>
            <a:ext cx="2286000" cy="5486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Based on data type compatibility</a:t>
            </a:r>
            <a:endParaRPr lang="en-US" sz="1000" dirty="0"/>
          </a:p>
        </p:txBody>
      </p:sp>
    </p:spTree>
  </p:cSld>
  <p:clrMapOvr>
    <a:masterClrMapping/>
  </p:clrMapOvr>
  <p:transition spd="med" advClick="1" advTm="0">
    <p:fade/>
  </p:transition>
  <p:timing>
    <p:tnLst>
      <p:par>
        <p:cTn id="12000" dur="indefin" restart="whenNotActive" nodeType="tmRoot">
          <p:childTnLst>
            <p:par>
              <p:cTn id="12001" fill="hold" nodeType="mainSeq">
                <p:stCondLst>
                  <p:cond delay="indefin"/>
                </p:stCondLst>
                <p:childTnLst>
                  <p:par>
                    <p:cTn id="12002" fill="hold">
                      <p:stCondLst>
                        <p:cond delay="0"/>
                      </p:stCondLst>
                      <p:childTnLst>
                        <p:par>
                          <p:cTn id="201" grpId="0" nodeType="withPrev">
                            <p:stCondLst>
                              <p:cond delay="0"/>
                            </p:stCondLst>
                            <p:childTnLst>
                              <p:set>
                                <p:cBhvr>
                                  <p:cTn id="202" dur="1" fill="hold"/>
                                  <p:tgtEl>
                                    <p:spTgt spid="2"/>
                                  </p:tgtEl>
                                  <p:attrNameLst>
                                    <p:attrName>style.visibility</p:attrName>
                                  </p:attrNameLst>
                                </p:cBhvr>
                                <p:to>
                                  <p:strVal val="visible"/>
                                </p:to>
                              </p:set>
                              <p:animEffect transition="in" filter="fade">
                                <p:cBhvr>
                                  <p:cTn id="203" dur="500" fill="hold"/>
                                  <p:tgtEl>
                                    <p:spTgt spid="2"/>
                                  </p:tgtEl>
                                </p:cBhvr>
                              </p:animEffect>
                            </p:childTnLst>
                          </p:cTn>
                        </p:par>
                        <p:par>
                          <p:cTn id="301" grpId="0" nodeType="withPrev">
                            <p:stCondLst>
                              <p:cond delay="0"/>
                            </p:stCondLst>
                            <p:childTnLst>
                              <p:set>
                                <p:cBhvr>
                                  <p:cTn id="302" dur="1" fill="hold"/>
                                  <p:tgtEl>
                                    <p:spTgt spid="3"/>
                                  </p:tgtEl>
                                  <p:attrNameLst>
                                    <p:attrName>style.visibility</p:attrName>
                                  </p:attrNameLst>
                                </p:cBhvr>
                                <p:to>
                                  <p:strVal val="visible"/>
                                </p:to>
                              </p:set>
                              <p:animEffect transition="in" filter="fade">
                                <p:cBhvr>
                                  <p:cTn id="303" dur="500" fill="hold"/>
                                  <p:tgtEl>
                                    <p:spTgt spid="3"/>
                                  </p:tgtEl>
                                </p:cBhvr>
                              </p:animEffect>
                            </p:childTnLst>
                          </p:cTn>
                        </p:par>
                        <p:par>
                          <p:cTn id="401" grpId="0" nodeType="withPrev">
                            <p:stCondLst>
                              <p:cond delay="0"/>
                            </p:stCondLst>
                            <p:childTnLst>
                              <p:set>
                                <p:cBhvr>
                                  <p:cTn id="402" dur="1" fill="hold"/>
                                  <p:tgtEl>
                                    <p:spTgt spid="4"/>
                                  </p:tgtEl>
                                  <p:attrNameLst>
                                    <p:attrName>style.visibility</p:attrName>
                                  </p:attrNameLst>
                                </p:cBhvr>
                                <p:to>
                                  <p:strVal val="visible"/>
                                </p:to>
                              </p:set>
                              <p:animEffect transition="in" filter="fade">
                                <p:cBhvr>
                                  <p:cTn id="403" dur="500" fill="hold"/>
                                  <p:tgtEl>
                                    <p:spTgt spid="4"/>
                                  </p:tgtEl>
                                </p:cBhvr>
                              </p:animEffect>
                            </p:childTnLst>
                          </p:cTn>
                        </p:par>
                        <p:par>
                          <p:cTn id="501" grpId="0" nodeType="withPrev">
                            <p:stCondLst>
                              <p:cond delay="300"/>
                            </p:stCondLst>
                            <p:childTnLst>
                              <p:set>
                                <p:cBhvr>
                                  <p:cTn id="502" dur="1" fill="hold"/>
                                  <p:tgtEl>
                                    <p:spTgt spid="5"/>
                                  </p:tgtEl>
                                  <p:attrNameLst>
                                    <p:attrName>style.visibility</p:attrName>
                                  </p:attrNameLst>
                                </p:cBhvr>
                                <p:to>
                                  <p:strVal val="visible"/>
                                </p:to>
                              </p:set>
                              <p:animEffect transition="in" filter="wipe(up)">
                                <p:cBhvr>
                                  <p:cTn id="503" dur="400" fill="hold"/>
                                  <p:tgtEl>
                                    <p:spTgt spid="5"/>
                                  </p:tgtEl>
                                </p:cBhvr>
                              </p:animEffect>
                            </p:childTnLst>
                          </p:cTn>
                        </p:par>
                        <p:par>
                          <p:cTn id="601" grpId="0" nodeType="withPrev">
                            <p:stCondLst>
                              <p:cond delay="400"/>
                            </p:stCondLst>
                            <p:childTnLst>
                              <p:set>
                                <p:cBhvr>
                                  <p:cTn id="602" dur="1" fill="hold"/>
                                  <p:tgtEl>
                                    <p:spTgt spid="6"/>
                                  </p:tgtEl>
                                  <p:attrNameLst>
                                    <p:attrName>style.visibility</p:attrName>
                                  </p:attrNameLst>
                                </p:cBhvr>
                                <p:to>
                                  <p:strVal val="visible"/>
                                </p:to>
                              </p:set>
                              <p:animEffect transition="in" filter="fade">
                                <p:cBhvr>
                                  <p:cTn id="603" dur="500" fill="hold"/>
                                  <p:tgtEl>
                                    <p:spTgt spid="6"/>
                                  </p:tgtEl>
                                </p:cBhvr>
                              </p:animEffect>
                            </p:childTnLst>
                          </p:cTn>
                        </p:par>
                        <p:par>
                          <p:cTn id="701" grpId="0" nodeType="withPrev">
                            <p:stCondLst>
                              <p:cond delay="400"/>
                            </p:stCondLst>
                            <p:childTnLst>
                              <p:set>
                                <p:cBhvr>
                                  <p:cTn id="702" dur="1" fill="hold"/>
                                  <p:tgtEl>
                                    <p:spTgt spid="7"/>
                                  </p:tgtEl>
                                  <p:attrNameLst>
                                    <p:attrName>style.visibility</p:attrName>
                                  </p:attrNameLst>
                                </p:cBhvr>
                                <p:to>
                                  <p:strVal val="visible"/>
                                </p:to>
                              </p:set>
                              <p:animEffect transition="in" filter="fade">
                                <p:cBhvr>
                                  <p:cTn id="703" dur="500" fill="hold"/>
                                  <p:tgtEl>
                                    <p:spTgt spid="7"/>
                                  </p:tgtEl>
                                </p:cBhvr>
                              </p:animEffect>
                            </p:childTnLst>
                          </p:cTn>
                        </p:par>
                        <p:par>
                          <p:cTn id="801" grpId="0" nodeType="withPrev">
                            <p:stCondLst>
                              <p:cond delay="400"/>
                            </p:stCondLst>
                            <p:childTnLst>
                              <p:set>
                                <p:cBhvr>
                                  <p:cTn id="802" dur="1" fill="hold"/>
                                  <p:tgtEl>
                                    <p:spTgt spid="8"/>
                                  </p:tgtEl>
                                  <p:attrNameLst>
                                    <p:attrName>style.visibility</p:attrName>
                                  </p:attrNameLst>
                                </p:cBhvr>
                                <p:to>
                                  <p:strVal val="visible"/>
                                </p:to>
                              </p:set>
                              <p:animEffect transition="in" filter="fade">
                                <p:cBhvr>
                                  <p:cTn id="803" dur="500" fill="hold"/>
                                  <p:tgtEl>
                                    <p:spTgt spid="8"/>
                                  </p:tgtEl>
                                </p:cBhvr>
                              </p:animEffect>
                            </p:childTnLst>
                          </p:cTn>
                        </p:par>
                        <p:par>
                          <p:cTn id="901" grpId="0" nodeType="withPrev">
                            <p:stCondLst>
                              <p:cond delay="400"/>
                            </p:stCondLst>
                            <p:childTnLst>
                              <p:set>
                                <p:cBhvr>
                                  <p:cTn id="902" dur="1" fill="hold"/>
                                  <p:tgtEl>
                                    <p:spTgt spid="9"/>
                                  </p:tgtEl>
                                  <p:attrNameLst>
                                    <p:attrName>style.visibility</p:attrName>
                                  </p:attrNameLst>
                                </p:cBhvr>
                                <p:to>
                                  <p:strVal val="visible"/>
                                </p:to>
                              </p:set>
                              <p:animEffect transition="in" filter="fade">
                                <p:cBhvr>
                                  <p:cTn id="903" dur="500" fill="hold"/>
                                  <p:tgtEl>
                                    <p:spTgt spid="9"/>
                                  </p:tgtEl>
                                </p:cBhvr>
                              </p:animEffect>
                            </p:childTnLst>
                          </p:cTn>
                        </p:par>
                        <p:par>
                          <p:cTn id="1001" grpId="0" nodeType="withPrev">
                            <p:stCondLst>
                              <p:cond delay="600"/>
                            </p:stCondLst>
                            <p:childTnLst>
                              <p:set>
                                <p:cBhvr>
                                  <p:cTn id="1002" dur="1" fill="hold"/>
                                  <p:tgtEl>
                                    <p:spTgt spid="10"/>
                                  </p:tgtEl>
                                  <p:attrNameLst>
                                    <p:attrName>style.visibility</p:attrName>
                                  </p:attrNameLst>
                                </p:cBhvr>
                                <p:to>
                                  <p:strVal val="visible"/>
                                </p:to>
                              </p:set>
                              <p:animEffect transition="in" filter="wipe(up)">
                                <p:cBhvr>
                                  <p:cTn id="1003" dur="400" fill="hold"/>
                                  <p:tgtEl>
                                    <p:spTgt spid="10"/>
                                  </p:tgtEl>
                                </p:cBhvr>
                              </p:animEffect>
                            </p:childTnLst>
                          </p:cTn>
                        </p:par>
                        <p:par>
                          <p:cTn id="1101" grpId="0" nodeType="withPrev">
                            <p:stCondLst>
                              <p:cond delay="700"/>
                            </p:stCondLst>
                            <p:childTnLst>
                              <p:set>
                                <p:cBhvr>
                                  <p:cTn id="1102" dur="1" fill="hold"/>
                                  <p:tgtEl>
                                    <p:spTgt spid="11"/>
                                  </p:tgtEl>
                                  <p:attrNameLst>
                                    <p:attrName>style.visibility</p:attrName>
                                  </p:attrNameLst>
                                </p:cBhvr>
                                <p:to>
                                  <p:strVal val="visible"/>
                                </p:to>
                              </p:set>
                              <p:animEffect transition="in" filter="wipe(up)">
                                <p:cBhvr>
                                  <p:cTn id="1103" dur="400" fill="hold"/>
                                  <p:tgtEl>
                                    <p:spTgt spid="11"/>
                                  </p:tgtEl>
                                </p:cBhvr>
                              </p:animEffect>
                            </p:childTnLst>
                          </p:cTn>
                        </p:par>
                        <p:par>
                          <p:cTn id="1201" grpId="0" nodeType="withPrev">
                            <p:stCondLst>
                              <p:cond delay="800"/>
                            </p:stCondLst>
                            <p:childTnLst>
                              <p:set>
                                <p:cBhvr>
                                  <p:cTn id="1202" dur="1" fill="hold"/>
                                  <p:tgtEl>
                                    <p:spTgt spid="12"/>
                                  </p:tgtEl>
                                  <p:attrNameLst>
                                    <p:attrName>style.visibility</p:attrName>
                                  </p:attrNameLst>
                                </p:cBhvr>
                                <p:to>
                                  <p:strVal val="visible"/>
                                </p:to>
                              </p:set>
                              <p:animEffect transition="in" filter="wipe(up)">
                                <p:cBhvr>
                                  <p:cTn id="1203" dur="400" fill="hold"/>
                                  <p:tgtEl>
                                    <p:spTgt spid="12"/>
                                  </p:tgtEl>
                                </p:cBhvr>
                              </p:animEffect>
                            </p:childTnLst>
                          </p:cTn>
                        </p:par>
                        <p:par>
                          <p:cTn id="1301" grpId="0" nodeType="withPrev">
                            <p:stCondLst>
                              <p:cond delay="900"/>
                            </p:stCondLst>
                            <p:childTnLst>
                              <p:set>
                                <p:cBhvr>
                                  <p:cTn id="1302" dur="1" fill="hold"/>
                                  <p:tgtEl>
                                    <p:spTgt spid="13"/>
                                  </p:tgtEl>
                                  <p:attrNameLst>
                                    <p:attrName>style.visibility</p:attrName>
                                  </p:attrNameLst>
                                </p:cBhvr>
                                <p:to>
                                  <p:strVal val="visible"/>
                                </p:to>
                              </p:set>
                              <p:animEffect transition="in" filter="wipe(up)">
                                <p:cBhvr>
                                  <p:cTn id="1303" dur="400" fill="hold"/>
                                  <p:tgtEl>
                                    <p:spTgt spid="13"/>
                                  </p:tgtEl>
                                </p:cBhvr>
                              </p:animEffect>
                            </p:childTnLst>
                          </p:cTn>
                        </p:par>
                        <p:par>
                          <p:cTn id="1401" grpId="0" nodeType="withPrev">
                            <p:stCondLst>
                              <p:cond delay="1000"/>
                            </p:stCondLst>
                            <p:childTnLst>
                              <p:set>
                                <p:cBhvr>
                                  <p:cTn id="1402" dur="1" fill="hold"/>
                                  <p:tgtEl>
                                    <p:spTgt spid="14"/>
                                  </p:tgtEl>
                                  <p:attrNameLst>
                                    <p:attrName>style.visibility</p:attrName>
                                  </p:attrNameLst>
                                </p:cBhvr>
                                <p:to>
                                  <p:strVal val="visible"/>
                                </p:to>
                              </p:set>
                              <p:animEffect transition="in" filter="wipe(up)">
                                <p:cBhvr>
                                  <p:cTn id="1403" dur="400" fill="hold"/>
                                  <p:tgtEl>
                                    <p:spTgt spid="14"/>
                                  </p:tgtEl>
                                </p:cBhvr>
                              </p:animEffect>
                            </p:childTnLst>
                          </p:cTn>
                        </p:par>
                        <p:par>
                          <p:cTn id="1501" grpId="0" nodeType="withPrev">
                            <p:stCondLst>
                              <p:cond delay="1000"/>
                            </p:stCondLst>
                            <p:childTnLst>
                              <p:set>
                                <p:cBhvr>
                                  <p:cTn id="1502" dur="1" fill="hold"/>
                                  <p:tgtEl>
                                    <p:spTgt spid="15"/>
                                  </p:tgtEl>
                                  <p:attrNameLst>
                                    <p:attrName>style.visibility</p:attrName>
                                  </p:attrNameLst>
                                </p:cBhvr>
                                <p:to>
                                  <p:strVal val="visible"/>
                                </p:to>
                              </p:set>
                              <p:animEffect transition="in" filter="wipe(up)">
                                <p:cBhvr>
                                  <p:cTn id="1503" dur="400" fill="hold"/>
                                  <p:tgtEl>
                                    <p:spTgt spid="15"/>
                                  </p:tgtEl>
                                </p:cBhvr>
                              </p:animEffect>
                            </p:childTnLst>
                          </p:cTn>
                        </p:par>
                        <p:par>
                          <p:cTn id="1601" grpId="0" nodeType="withPrev">
                            <p:stCondLst>
                              <p:cond delay="1000"/>
                            </p:stCondLst>
                            <p:childTnLst>
                              <p:set>
                                <p:cBhvr>
                                  <p:cTn id="1602" dur="1" fill="hold"/>
                                  <p:tgtEl>
                                    <p:spTgt spid="16"/>
                                  </p:tgtEl>
                                  <p:attrNameLst>
                                    <p:attrName>style.visibility</p:attrName>
                                  </p:attrNameLst>
                                </p:cBhvr>
                                <p:to>
                                  <p:strVal val="visible"/>
                                </p:to>
                              </p:set>
                              <p:animEffect transition="in" filter="wipe(up)">
                                <p:cBhvr>
                                  <p:cTn id="1603" dur="400" fill="hold"/>
                                  <p:tgtEl>
                                    <p:spTgt spid="16"/>
                                  </p:tgtEl>
                                </p:cBhvr>
                              </p:animEffect>
                            </p:childTnLst>
                          </p:cTn>
                        </p:par>
                        <p:par>
                          <p:cTn id="1701" grpId="0" nodeType="withPrev">
                            <p:stCondLst>
                              <p:cond delay="1100"/>
                            </p:stCondLst>
                            <p:childTnLst>
                              <p:set>
                                <p:cBhvr>
                                  <p:cTn id="1702" dur="1" fill="hold"/>
                                  <p:tgtEl>
                                    <p:spTgt spid="17"/>
                                  </p:tgtEl>
                                  <p:attrNameLst>
                                    <p:attrName>style.visibility</p:attrName>
                                  </p:attrNameLst>
                                </p:cBhvr>
                                <p:to>
                                  <p:strVal val="visible"/>
                                </p:to>
                              </p:set>
                              <p:animEffect transition="in" filter="wipe(up)">
                                <p:cBhvr>
                                  <p:cTn id="1703" dur="400" fill="hold"/>
                                  <p:tgtEl>
                                    <p:spTgt spid="17"/>
                                  </p:tgtEl>
                                </p:cBhvr>
                              </p:animEffect>
                            </p:childTnLst>
                          </p:cTn>
                        </p:par>
                        <p:par>
                          <p:cTn id="1801" grpId="0" nodeType="withPrev">
                            <p:stCondLst>
                              <p:cond delay="1100"/>
                            </p:stCondLst>
                            <p:childTnLst>
                              <p:set>
                                <p:cBhvr>
                                  <p:cTn id="1802" dur="1" fill="hold"/>
                                  <p:tgtEl>
                                    <p:spTgt spid="18"/>
                                  </p:tgtEl>
                                  <p:attrNameLst>
                                    <p:attrName>style.visibility</p:attrName>
                                  </p:attrNameLst>
                                </p:cBhvr>
                                <p:to>
                                  <p:strVal val="visible"/>
                                </p:to>
                              </p:set>
                              <p:animEffect transition="in" filter="wipe(up)">
                                <p:cBhvr>
                                  <p:cTn id="1803" dur="400" fill="hold"/>
                                  <p:tgtEl>
                                    <p:spTgt spid="18"/>
                                  </p:tgtEl>
                                </p:cBhvr>
                              </p:animEffect>
                            </p:childTnLst>
                          </p:cTn>
                        </p:par>
                        <p:par>
                          <p:cTn id="1901" grpId="0" nodeType="withPrev">
                            <p:stCondLst>
                              <p:cond delay="1100"/>
                            </p:stCondLst>
                            <p:childTnLst>
                              <p:set>
                                <p:cBhvr>
                                  <p:cTn id="1902" dur="1" fill="hold"/>
                                  <p:tgtEl>
                                    <p:spTgt spid="19"/>
                                  </p:tgtEl>
                                  <p:attrNameLst>
                                    <p:attrName>style.visibility</p:attrName>
                                  </p:attrNameLst>
                                </p:cBhvr>
                                <p:to>
                                  <p:strVal val="visible"/>
                                </p:to>
                              </p:set>
                              <p:animEffect transition="in" filter="wipe(up)">
                                <p:cBhvr>
                                  <p:cTn id="1903" dur="400" fill="hold"/>
                                  <p:tgtEl>
                                    <p:spTgt spid="19"/>
                                  </p:tgtEl>
                                </p:cBhvr>
                              </p:animEffect>
                            </p:childTnLst>
                          </p:cTn>
                        </p:par>
                        <p:par>
                          <p:cTn id="2001" grpId="0" nodeType="withPrev">
                            <p:stCondLst>
                              <p:cond delay="1100"/>
                            </p:stCondLst>
                            <p:childTnLst>
                              <p:set>
                                <p:cBhvr>
                                  <p:cTn id="2002" dur="1" fill="hold"/>
                                  <p:tgtEl>
                                    <p:spTgt spid="20"/>
                                  </p:tgtEl>
                                  <p:attrNameLst>
                                    <p:attrName>style.visibility</p:attrName>
                                  </p:attrNameLst>
                                </p:cBhvr>
                                <p:to>
                                  <p:strVal val="visible"/>
                                </p:to>
                              </p:set>
                              <p:animEffect transition="in" filter="wipe(up)">
                                <p:cBhvr>
                                  <p:cTn id="2003" dur="400" fill="hold"/>
                                  <p:tgtEl>
                                    <p:spTgt spid="20"/>
                                  </p:tgtEl>
                                </p:cBhvr>
                              </p:animEffect>
                            </p:childTnLst>
                          </p:cTn>
                        </p:par>
                      </p:childTnLst>
                    </p:cTn>
                  </p:par>
                </p:childTnLst>
              </p:cTn>
            </p:par>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Detection Process Tab</a:t>
            </a:r>
            <a:endParaRPr lang="en-US" sz="2200" dirty="0"/>
          </a:p>
        </p:txBody>
      </p:sp>
      <p:sp>
        <p:nvSpPr>
          <p:cNvPr id="5" name="Text 3"/>
          <p:cNvSpPr/>
          <p:nvPr/>
        </p:nvSpPr>
        <p:spPr>
          <a:xfrm>
            <a:off x="457200" y="1005840"/>
            <a:ext cx="8229600" cy="45720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Similarly, click the Add item (+) icon to specify the required detection process for the data stream.</a:t>
            </a:r>
            <a:endParaRPr lang="en-US" sz="1400" dirty="0"/>
          </a:p>
        </p:txBody>
      </p:sp>
      <p:sp>
        <p:nvSpPr>
          <p:cNvPr id="6" name="Shape 4"/>
          <p:cNvSpPr/>
          <p:nvPr/>
        </p:nvSpPr>
        <p:spPr>
          <a:xfrm>
            <a:off x="457200" y="1600200"/>
            <a:ext cx="8229600" cy="1097280"/>
          </a:xfrm>
          <a:prstGeom prst="rect">
            <a:avLst/>
          </a:prstGeom>
          <a:solidFill>
            <a:srgbClr val="1B7FA6">
              <a:alpha val="12000"/>
            </a:srgbClr>
          </a:solidFill>
          <a:ln w="19050">
            <a:solidFill>
              <a:srgbClr val="1B7FA6"/>
            </a:solidFill>
            <a:prstDash val="solid"/>
          </a:ln>
        </p:spPr>
      </p:sp>
      <p:sp>
        <p:nvSpPr>
          <p:cNvPr id="7" name="Shape 5"/>
          <p:cNvSpPr/>
          <p:nvPr/>
        </p:nvSpPr>
        <p:spPr>
          <a:xfrm>
            <a:off x="457200" y="1600200"/>
            <a:ext cx="64008" cy="1097280"/>
          </a:xfrm>
          <a:prstGeom prst="rect">
            <a:avLst/>
          </a:prstGeom>
          <a:solidFill>
            <a:srgbClr val="02C39A"/>
          </a:solidFill>
          <a:ln w="12700">
            <a:solidFill>
              <a:srgbClr val="02C39A"/>
            </a:solidFill>
            <a:prstDash val="solid"/>
          </a:ln>
        </p:spPr>
      </p:sp>
      <p:sp>
        <p:nvSpPr>
          <p:cNvPr id="8" name="Text 6"/>
          <p:cNvSpPr/>
          <p:nvPr/>
        </p:nvSpPr>
        <p:spPr>
          <a:xfrm>
            <a:off x="640080" y="1645920"/>
            <a:ext cx="1828800" cy="320040"/>
          </a:xfrm>
          <a:prstGeom prst="rect">
            <a:avLst/>
          </a:prstGeom>
          <a:noFill/>
          <a:ln/>
        </p:spPr>
        <p:txBody>
          <a:bodyPr wrap="square" lIns="0" tIns="0" rIns="0" bIns="0" rtlCol="0" anchor="ctr"/>
          <a:lstStyle/>
          <a:p>
            <a:pPr indent="0" marL="0">
              <a:buNone/>
            </a:pPr>
            <a:r>
              <a:rPr lang="en-US" sz="1200" b="1" dirty="0">
                <a:solidFill>
                  <a:srgbClr val="0E5C7A"/>
                </a:solidFill>
                <a:latin typeface="Calibri" pitchFamily="34" charset="0"/>
                <a:ea typeface="Calibri" pitchFamily="34" charset="-122"/>
                <a:cs typeface="Calibri" pitchFamily="34" charset="-120"/>
              </a:rPr>
              <a:t>Result</a:t>
            </a:r>
            <a:endParaRPr lang="en-US" sz="1200" dirty="0"/>
          </a:p>
        </p:txBody>
      </p:sp>
      <p:sp>
        <p:nvSpPr>
          <p:cNvPr id="9" name="Text 7"/>
          <p:cNvSpPr/>
          <p:nvPr/>
        </p:nvSpPr>
        <p:spPr>
          <a:xfrm>
            <a:off x="640080" y="1965960"/>
            <a:ext cx="7863840" cy="594360"/>
          </a:xfrm>
          <a:prstGeom prst="rect">
            <a:avLst/>
          </a:prstGeom>
          <a:noFill/>
          <a:ln/>
        </p:spPr>
        <p:txBody>
          <a:bodyPr wrap="square" lIns="0" tIns="0" rIns="0" bIns="0" rtlCol="0" anchor="ctr"/>
          <a:lstStyle/>
          <a:p>
            <a:pPr indent="0" marL="0">
              <a:buNone/>
            </a:pPr>
            <a:r>
              <a:rPr lang="en-US" sz="1300" dirty="0">
                <a:solidFill>
                  <a:srgbClr val="0D1B2A"/>
                </a:solidFill>
                <a:latin typeface="Calibri" pitchFamily="34" charset="0"/>
                <a:ea typeface="Calibri" pitchFamily="34" charset="-122"/>
                <a:cs typeface="Calibri" pitchFamily="34" charset="-120"/>
              </a:rPr>
              <a:t>Once a data stream is configured, its fields are displayed in Policy Manager rules, profile and rule contexts — in the same way as out-of-the-box DFM fields.</a:t>
            </a:r>
            <a:endParaRPr lang="en-US" sz="1300" dirty="0"/>
          </a:p>
        </p:txBody>
      </p:sp>
      <p:sp>
        <p:nvSpPr>
          <p:cNvPr id="10" name="Shape 8"/>
          <p:cNvSpPr/>
          <p:nvPr/>
        </p:nvSpPr>
        <p:spPr>
          <a:xfrm>
            <a:off x="365760" y="2926080"/>
            <a:ext cx="1920240" cy="640080"/>
          </a:xfrm>
          <a:prstGeom prst="rect">
            <a:avLst/>
          </a:prstGeom>
          <a:solidFill>
            <a:srgbClr val="0D1B2A"/>
          </a:solidFill>
          <a:ln w="12700">
            <a:solidFill>
              <a:srgbClr val="0D1B2A"/>
            </a:solidFill>
            <a:prstDash val="solid"/>
          </a:ln>
        </p:spPr>
      </p:sp>
      <p:sp>
        <p:nvSpPr>
          <p:cNvPr id="11" name="Text 9"/>
          <p:cNvSpPr/>
          <p:nvPr/>
        </p:nvSpPr>
        <p:spPr>
          <a:xfrm>
            <a:off x="365760" y="2926080"/>
            <a:ext cx="1920240" cy="64008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Stream Configured</a:t>
            </a:r>
            <a:endParaRPr lang="en-US" sz="1000" dirty="0"/>
          </a:p>
        </p:txBody>
      </p:sp>
      <p:sp>
        <p:nvSpPr>
          <p:cNvPr id="12" name="Text 10"/>
          <p:cNvSpPr/>
          <p:nvPr/>
        </p:nvSpPr>
        <p:spPr>
          <a:xfrm>
            <a:off x="2286000" y="2926080"/>
            <a:ext cx="228600" cy="640080"/>
          </a:xfrm>
          <a:prstGeom prst="rect">
            <a:avLst/>
          </a:prstGeom>
          <a:noFill/>
          <a:ln/>
        </p:spPr>
        <p:txBody>
          <a:bodyPr wrap="square" lIns="0" tIns="0" rIns="0" bIns="0" rtlCol="0" anchor="ctr"/>
          <a:lstStyle/>
          <a:p>
            <a:pPr algn="ctr" indent="0" marL="0">
              <a:buNone/>
            </a:pPr>
            <a:r>
              <a:rPr lang="en-US" sz="1600" dirty="0">
                <a:solidFill>
                  <a:srgbClr val="1B7FA6"/>
                </a:solidFill>
              </a:rPr>
              <a:t>→</a:t>
            </a:r>
            <a:endParaRPr lang="en-US" sz="1600" dirty="0"/>
          </a:p>
        </p:txBody>
      </p:sp>
      <p:sp>
        <p:nvSpPr>
          <p:cNvPr id="13" name="Shape 11"/>
          <p:cNvSpPr/>
          <p:nvPr/>
        </p:nvSpPr>
        <p:spPr>
          <a:xfrm>
            <a:off x="2514600" y="2926080"/>
            <a:ext cx="1920240" cy="640080"/>
          </a:xfrm>
          <a:prstGeom prst="rect">
            <a:avLst/>
          </a:prstGeom>
          <a:solidFill>
            <a:srgbClr val="0D1B2A"/>
          </a:solidFill>
          <a:ln w="12700">
            <a:solidFill>
              <a:srgbClr val="0D1B2A"/>
            </a:solidFill>
            <a:prstDash val="solid"/>
          </a:ln>
        </p:spPr>
      </p:sp>
      <p:sp>
        <p:nvSpPr>
          <p:cNvPr id="14" name="Text 12"/>
          <p:cNvSpPr/>
          <p:nvPr/>
        </p:nvSpPr>
        <p:spPr>
          <a:xfrm>
            <a:off x="2514600" y="2926080"/>
            <a:ext cx="1920240" cy="64008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Fields Registered</a:t>
            </a:r>
            <a:endParaRPr lang="en-US" sz="1000" dirty="0"/>
          </a:p>
        </p:txBody>
      </p:sp>
      <p:sp>
        <p:nvSpPr>
          <p:cNvPr id="15" name="Text 13"/>
          <p:cNvSpPr/>
          <p:nvPr/>
        </p:nvSpPr>
        <p:spPr>
          <a:xfrm>
            <a:off x="4434840" y="2926080"/>
            <a:ext cx="228600" cy="640080"/>
          </a:xfrm>
          <a:prstGeom prst="rect">
            <a:avLst/>
          </a:prstGeom>
          <a:noFill/>
          <a:ln/>
        </p:spPr>
        <p:txBody>
          <a:bodyPr wrap="square" lIns="0" tIns="0" rIns="0" bIns="0" rtlCol="0" anchor="ctr"/>
          <a:lstStyle/>
          <a:p>
            <a:pPr algn="ctr" indent="0" marL="0">
              <a:buNone/>
            </a:pPr>
            <a:r>
              <a:rPr lang="en-US" sz="1600" dirty="0">
                <a:solidFill>
                  <a:srgbClr val="1B7FA6"/>
                </a:solidFill>
              </a:rPr>
              <a:t>→</a:t>
            </a:r>
            <a:endParaRPr lang="en-US" sz="1600" dirty="0"/>
          </a:p>
        </p:txBody>
      </p:sp>
      <p:sp>
        <p:nvSpPr>
          <p:cNvPr id="16" name="Shape 14"/>
          <p:cNvSpPr/>
          <p:nvPr/>
        </p:nvSpPr>
        <p:spPr>
          <a:xfrm>
            <a:off x="4663440" y="2926080"/>
            <a:ext cx="1920240" cy="640080"/>
          </a:xfrm>
          <a:prstGeom prst="rect">
            <a:avLst/>
          </a:prstGeom>
          <a:solidFill>
            <a:srgbClr val="0D1B2A"/>
          </a:solidFill>
          <a:ln w="12700">
            <a:solidFill>
              <a:srgbClr val="0D1B2A"/>
            </a:solidFill>
            <a:prstDash val="solid"/>
          </a:ln>
        </p:spPr>
      </p:sp>
      <p:sp>
        <p:nvSpPr>
          <p:cNvPr id="17" name="Text 15"/>
          <p:cNvSpPr/>
          <p:nvPr/>
        </p:nvSpPr>
        <p:spPr>
          <a:xfrm>
            <a:off x="4663440" y="2926080"/>
            <a:ext cx="1920240" cy="64008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Available in Policy Manager</a:t>
            </a:r>
            <a:endParaRPr lang="en-US" sz="1000" dirty="0"/>
          </a:p>
        </p:txBody>
      </p:sp>
      <p:sp>
        <p:nvSpPr>
          <p:cNvPr id="18" name="Text 16"/>
          <p:cNvSpPr/>
          <p:nvPr/>
        </p:nvSpPr>
        <p:spPr>
          <a:xfrm>
            <a:off x="6583680" y="2926080"/>
            <a:ext cx="228600" cy="640080"/>
          </a:xfrm>
          <a:prstGeom prst="rect">
            <a:avLst/>
          </a:prstGeom>
          <a:noFill/>
          <a:ln/>
        </p:spPr>
        <p:txBody>
          <a:bodyPr wrap="square" lIns="0" tIns="0" rIns="0" bIns="0" rtlCol="0" anchor="ctr"/>
          <a:lstStyle/>
          <a:p>
            <a:pPr algn="ctr" indent="0" marL="0">
              <a:buNone/>
            </a:pPr>
            <a:r>
              <a:rPr lang="en-US" sz="1600" dirty="0">
                <a:solidFill>
                  <a:srgbClr val="1B7FA6"/>
                </a:solidFill>
              </a:rPr>
              <a:t>→</a:t>
            </a:r>
            <a:endParaRPr lang="en-US" sz="1600" dirty="0"/>
          </a:p>
        </p:txBody>
      </p:sp>
      <p:sp>
        <p:nvSpPr>
          <p:cNvPr id="19" name="Shape 17"/>
          <p:cNvSpPr/>
          <p:nvPr/>
        </p:nvSpPr>
        <p:spPr>
          <a:xfrm>
            <a:off x="6812280" y="2926080"/>
            <a:ext cx="1920240" cy="640080"/>
          </a:xfrm>
          <a:prstGeom prst="rect">
            <a:avLst/>
          </a:prstGeom>
          <a:solidFill>
            <a:srgbClr val="0D1B2A"/>
          </a:solidFill>
          <a:ln w="12700">
            <a:solidFill>
              <a:srgbClr val="0D1B2A"/>
            </a:solidFill>
            <a:prstDash val="solid"/>
          </a:ln>
        </p:spPr>
      </p:sp>
      <p:sp>
        <p:nvSpPr>
          <p:cNvPr id="20" name="Text 18"/>
          <p:cNvSpPr/>
          <p:nvPr/>
        </p:nvSpPr>
        <p:spPr>
          <a:xfrm>
            <a:off x="6812280" y="2926080"/>
            <a:ext cx="1920240" cy="64008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Use in Rules &amp; Profiles</a:t>
            </a:r>
            <a:endParaRPr lang="en-US" sz="1000" dirty="0"/>
          </a:p>
        </p:txBody>
      </p:sp>
    </p:spTree>
  </p:cSld>
  <p:clrMapOvr>
    <a:masterClrMapping/>
  </p:clrMapOvr>
  <p:transition spd="med" advClick="1" advTm="0">
    <p:fade/>
  </p:transition>
  <p:timing>
    <p:tnLst>
      <p:par>
        <p:cTn id="13000" dur="indefin" restart="whenNotActive" nodeType="tmRoot">
          <p:childTnLst>
            <p:par>
              <p:cTn id="13001" fill="hold" nodeType="mainSeq">
                <p:stCondLst>
                  <p:cond delay="indefin"/>
                </p:stCondLst>
                <p:childTnLst>
                  <p:par>
                    <p:cTn id="13002" fill="hold">
                      <p:stCondLst>
                        <p:cond delay="0"/>
                      </p:stCondLst>
                      <p:childTnLst>
                        <p:par>
                          <p:cTn id="201" grpId="0" nodeType="withPrev">
                            <p:stCondLst>
                              <p:cond delay="0"/>
                            </p:stCondLst>
                            <p:childTnLst>
                              <p:set>
                                <p:cBhvr>
                                  <p:cTn id="202" dur="1" fill="hold"/>
                                  <p:tgtEl>
                                    <p:spTgt spid="2"/>
                                  </p:tgtEl>
                                  <p:attrNameLst>
                                    <p:attrName>style.visibility</p:attrName>
                                  </p:attrNameLst>
                                </p:cBhvr>
                                <p:to>
                                  <p:strVal val="visible"/>
                                </p:to>
                              </p:set>
                              <p:animEffect transition="in" filter="fade">
                                <p:cBhvr>
                                  <p:cTn id="203" dur="500" fill="hold"/>
                                  <p:tgtEl>
                                    <p:spTgt spid="2"/>
                                  </p:tgtEl>
                                </p:cBhvr>
                              </p:animEffect>
                            </p:childTnLst>
                          </p:cTn>
                        </p:par>
                        <p:par>
                          <p:cTn id="301" grpId="0" nodeType="withPrev">
                            <p:stCondLst>
                              <p:cond delay="0"/>
                            </p:stCondLst>
                            <p:childTnLst>
                              <p:set>
                                <p:cBhvr>
                                  <p:cTn id="302" dur="1" fill="hold"/>
                                  <p:tgtEl>
                                    <p:spTgt spid="3"/>
                                  </p:tgtEl>
                                  <p:attrNameLst>
                                    <p:attrName>style.visibility</p:attrName>
                                  </p:attrNameLst>
                                </p:cBhvr>
                                <p:to>
                                  <p:strVal val="visible"/>
                                </p:to>
                              </p:set>
                              <p:animEffect transition="in" filter="fade">
                                <p:cBhvr>
                                  <p:cTn id="303" dur="500" fill="hold"/>
                                  <p:tgtEl>
                                    <p:spTgt spid="3"/>
                                  </p:tgtEl>
                                </p:cBhvr>
                              </p:animEffect>
                            </p:childTnLst>
                          </p:cTn>
                        </p:par>
                        <p:par>
                          <p:cTn id="401" grpId="0" nodeType="withPrev">
                            <p:stCondLst>
                              <p:cond delay="0"/>
                            </p:stCondLst>
                            <p:childTnLst>
                              <p:set>
                                <p:cBhvr>
                                  <p:cTn id="402" dur="1" fill="hold"/>
                                  <p:tgtEl>
                                    <p:spTgt spid="4"/>
                                  </p:tgtEl>
                                  <p:attrNameLst>
                                    <p:attrName>style.visibility</p:attrName>
                                  </p:attrNameLst>
                                </p:cBhvr>
                                <p:to>
                                  <p:strVal val="visible"/>
                                </p:to>
                              </p:set>
                              <p:animEffect transition="in" filter="fade">
                                <p:cBhvr>
                                  <p:cTn id="403" dur="500" fill="hold"/>
                                  <p:tgtEl>
                                    <p:spTgt spid="4"/>
                                  </p:tgtEl>
                                </p:cBhvr>
                              </p:animEffect>
                            </p:childTnLst>
                          </p:cTn>
                        </p:par>
                        <p:par>
                          <p:cTn id="501" grpId="0" nodeType="withPrev">
                            <p:stCondLst>
                              <p:cond delay="300"/>
                            </p:stCondLst>
                            <p:childTnLst>
                              <p:set>
                                <p:cBhvr>
                                  <p:cTn id="502" dur="1" fill="hold"/>
                                  <p:tgtEl>
                                    <p:spTgt spid="5"/>
                                  </p:tgtEl>
                                  <p:attrNameLst>
                                    <p:attrName>style.visibility</p:attrName>
                                  </p:attrNameLst>
                                </p:cBhvr>
                                <p:to>
                                  <p:strVal val="visible"/>
                                </p:to>
                              </p:set>
                              <p:animEffect transition="in" filter="wipe(up)">
                                <p:cBhvr>
                                  <p:cTn id="503" dur="400" fill="hold"/>
                                  <p:tgtEl>
                                    <p:spTgt spid="5"/>
                                  </p:tgtEl>
                                </p:cBhvr>
                              </p:animEffect>
                            </p:childTnLst>
                          </p:cTn>
                        </p:par>
                        <p:par>
                          <p:cTn id="601" grpId="0" nodeType="withPrev">
                            <p:stCondLst>
                              <p:cond delay="500"/>
                            </p:stCondLst>
                            <p:childTnLst>
                              <p:set>
                                <p:cBhvr>
                                  <p:cTn id="602" dur="1" fill="hold"/>
                                  <p:tgtEl>
                                    <p:spTgt spid="6"/>
                                  </p:tgtEl>
                                  <p:attrNameLst>
                                    <p:attrName>style.visibility</p:attrName>
                                  </p:attrNameLst>
                                </p:cBhvr>
                                <p:to>
                                  <p:strVal val="visible"/>
                                </p:to>
                              </p:set>
                              <p:animEffect transition="in" filter="fade">
                                <p:cBhvr>
                                  <p:cTn id="603" dur="500" fill="hold"/>
                                  <p:tgtEl>
                                    <p:spTgt spid="6"/>
                                  </p:tgtEl>
                                </p:cBhvr>
                              </p:animEffect>
                            </p:childTnLst>
                          </p:cTn>
                        </p:par>
                        <p:par>
                          <p:cTn id="701" grpId="0" nodeType="withPrev">
                            <p:stCondLst>
                              <p:cond delay="500"/>
                            </p:stCondLst>
                            <p:childTnLst>
                              <p:set>
                                <p:cBhvr>
                                  <p:cTn id="702" dur="1" fill="hold"/>
                                  <p:tgtEl>
                                    <p:spTgt spid="7"/>
                                  </p:tgtEl>
                                  <p:attrNameLst>
                                    <p:attrName>style.visibility</p:attrName>
                                  </p:attrNameLst>
                                </p:cBhvr>
                                <p:to>
                                  <p:strVal val="visible"/>
                                </p:to>
                              </p:set>
                              <p:animEffect transition="in" filter="fade">
                                <p:cBhvr>
                                  <p:cTn id="703" dur="500" fill="hold"/>
                                  <p:tgtEl>
                                    <p:spTgt spid="7"/>
                                  </p:tgtEl>
                                </p:cBhvr>
                              </p:animEffect>
                            </p:childTnLst>
                          </p:cTn>
                        </p:par>
                        <p:par>
                          <p:cTn id="801" grpId="0" nodeType="withPrev">
                            <p:stCondLst>
                              <p:cond delay="700"/>
                            </p:stCondLst>
                            <p:childTnLst>
                              <p:set>
                                <p:cBhvr>
                                  <p:cTn id="802" dur="1" fill="hold"/>
                                  <p:tgtEl>
                                    <p:spTgt spid="8"/>
                                  </p:tgtEl>
                                  <p:attrNameLst>
                                    <p:attrName>style.visibility</p:attrName>
                                  </p:attrNameLst>
                                </p:cBhvr>
                                <p:to>
                                  <p:strVal val="visible"/>
                                </p:to>
                              </p:set>
                              <p:animEffect transition="in" filter="fade">
                                <p:cBhvr>
                                  <p:cTn id="803" dur="500" fill="hold"/>
                                  <p:tgtEl>
                                    <p:spTgt spid="8"/>
                                  </p:tgtEl>
                                </p:cBhvr>
                              </p:animEffect>
                            </p:childTnLst>
                          </p:cTn>
                        </p:par>
                        <p:par>
                          <p:cTn id="901" grpId="0" nodeType="withPrev">
                            <p:stCondLst>
                              <p:cond delay="700"/>
                            </p:stCondLst>
                            <p:childTnLst>
                              <p:set>
                                <p:cBhvr>
                                  <p:cTn id="902" dur="1" fill="hold"/>
                                  <p:tgtEl>
                                    <p:spTgt spid="9"/>
                                  </p:tgtEl>
                                  <p:attrNameLst>
                                    <p:attrName>style.visibility</p:attrName>
                                  </p:attrNameLst>
                                </p:cBhvr>
                                <p:to>
                                  <p:strVal val="visible"/>
                                </p:to>
                              </p:set>
                              <p:animEffect transition="in" filter="fade">
                                <p:cBhvr>
                                  <p:cTn id="903" dur="500" fill="hold"/>
                                  <p:tgtEl>
                                    <p:spTgt spid="9"/>
                                  </p:tgtEl>
                                </p:cBhvr>
                              </p:animEffect>
                            </p:childTnLst>
                          </p:cTn>
                        </p:par>
                        <p:par>
                          <p:cTn id="1001" grpId="0" nodeType="withPrev">
                            <p:stCondLst>
                              <p:cond delay="900"/>
                            </p:stCondLst>
                            <p:childTnLst>
                              <p:set>
                                <p:cBhvr>
                                  <p:cTn id="1002" dur="1" fill="hold"/>
                                  <p:tgtEl>
                                    <p:spTgt spid="10"/>
                                  </p:tgtEl>
                                  <p:attrNameLst>
                                    <p:attrName>style.visibility</p:attrName>
                                  </p:attrNameLst>
                                </p:cBhvr>
                                <p:to>
                                  <p:strVal val="visible"/>
                                </p:to>
                              </p:set>
                              <p:animEffect transition="in" filter="wipe(up)">
                                <p:cBhvr>
                                  <p:cTn id="1003" dur="400" fill="hold"/>
                                  <p:tgtEl>
                                    <p:spTgt spid="10"/>
                                  </p:tgtEl>
                                </p:cBhvr>
                              </p:animEffect>
                            </p:childTnLst>
                          </p:cTn>
                        </p:par>
                        <p:par>
                          <p:cTn id="1101" grpId="0" nodeType="withPrev">
                            <p:stCondLst>
                              <p:cond delay="900"/>
                            </p:stCondLst>
                            <p:childTnLst>
                              <p:set>
                                <p:cBhvr>
                                  <p:cTn id="1102" dur="1" fill="hold"/>
                                  <p:tgtEl>
                                    <p:spTgt spid="11"/>
                                  </p:tgtEl>
                                  <p:attrNameLst>
                                    <p:attrName>style.visibility</p:attrName>
                                  </p:attrNameLst>
                                </p:cBhvr>
                                <p:to>
                                  <p:strVal val="visible"/>
                                </p:to>
                              </p:set>
                              <p:animEffect transition="in" filter="wipe(up)">
                                <p:cBhvr>
                                  <p:cTn id="1103" dur="400" fill="hold"/>
                                  <p:tgtEl>
                                    <p:spTgt spid="11"/>
                                  </p:tgtEl>
                                </p:cBhvr>
                              </p:animEffect>
                            </p:childTnLst>
                          </p:cTn>
                        </p:par>
                        <p:par>
                          <p:cTn id="1201" grpId="0" nodeType="withPrev">
                            <p:stCondLst>
                              <p:cond delay="1100"/>
                            </p:stCondLst>
                            <p:childTnLst>
                              <p:set>
                                <p:cBhvr>
                                  <p:cTn id="1202" dur="1" fill="hold"/>
                                  <p:tgtEl>
                                    <p:spTgt spid="12"/>
                                  </p:tgtEl>
                                  <p:attrNameLst>
                                    <p:attrName>style.visibility</p:attrName>
                                  </p:attrNameLst>
                                </p:cBhvr>
                                <p:to>
                                  <p:strVal val="visible"/>
                                </p:to>
                              </p:set>
                              <p:animEffect transition="in" filter="wipe(up)">
                                <p:cBhvr>
                                  <p:cTn id="1203" dur="400" fill="hold"/>
                                  <p:tgtEl>
                                    <p:spTgt spid="12"/>
                                  </p:tgtEl>
                                </p:cBhvr>
                              </p:animEffect>
                            </p:childTnLst>
                          </p:cTn>
                        </p:par>
                        <p:par>
                          <p:cTn id="1301" grpId="0" nodeType="withPrev">
                            <p:stCondLst>
                              <p:cond delay="1100"/>
                            </p:stCondLst>
                            <p:childTnLst>
                              <p:set>
                                <p:cBhvr>
                                  <p:cTn id="1302" dur="1" fill="hold"/>
                                  <p:tgtEl>
                                    <p:spTgt spid="13"/>
                                  </p:tgtEl>
                                  <p:attrNameLst>
                                    <p:attrName>style.visibility</p:attrName>
                                  </p:attrNameLst>
                                </p:cBhvr>
                                <p:to>
                                  <p:strVal val="visible"/>
                                </p:to>
                              </p:set>
                              <p:animEffect transition="in" filter="wipe(up)">
                                <p:cBhvr>
                                  <p:cTn id="1303" dur="400" fill="hold"/>
                                  <p:tgtEl>
                                    <p:spTgt spid="13"/>
                                  </p:tgtEl>
                                </p:cBhvr>
                              </p:animEffect>
                            </p:childTnLst>
                          </p:cTn>
                        </p:par>
                        <p:par>
                          <p:cTn id="1401" grpId="0" nodeType="withPrev">
                            <p:stCondLst>
                              <p:cond delay="1300"/>
                            </p:stCondLst>
                            <p:childTnLst>
                              <p:set>
                                <p:cBhvr>
                                  <p:cTn id="1402" dur="1" fill="hold"/>
                                  <p:tgtEl>
                                    <p:spTgt spid="14"/>
                                  </p:tgtEl>
                                  <p:attrNameLst>
                                    <p:attrName>style.visibility</p:attrName>
                                  </p:attrNameLst>
                                </p:cBhvr>
                                <p:to>
                                  <p:strVal val="visible"/>
                                </p:to>
                              </p:set>
                              <p:animEffect transition="in" filter="wipe(up)">
                                <p:cBhvr>
                                  <p:cTn id="1403" dur="400" fill="hold"/>
                                  <p:tgtEl>
                                    <p:spTgt spid="14"/>
                                  </p:tgtEl>
                                </p:cBhvr>
                              </p:animEffect>
                            </p:childTnLst>
                          </p:cTn>
                        </p:par>
                        <p:par>
                          <p:cTn id="1501" grpId="0" nodeType="withPrev">
                            <p:stCondLst>
                              <p:cond delay="1300"/>
                            </p:stCondLst>
                            <p:childTnLst>
                              <p:set>
                                <p:cBhvr>
                                  <p:cTn id="1502" dur="1" fill="hold"/>
                                  <p:tgtEl>
                                    <p:spTgt spid="15"/>
                                  </p:tgtEl>
                                  <p:attrNameLst>
                                    <p:attrName>style.visibility</p:attrName>
                                  </p:attrNameLst>
                                </p:cBhvr>
                                <p:to>
                                  <p:strVal val="visible"/>
                                </p:to>
                              </p:set>
                              <p:animEffect transition="in" filter="wipe(up)">
                                <p:cBhvr>
                                  <p:cTn id="1503" dur="400" fill="hold"/>
                                  <p:tgtEl>
                                    <p:spTgt spid="15"/>
                                  </p:tgtEl>
                                </p:cBhvr>
                              </p:animEffect>
                            </p:childTnLst>
                          </p:cTn>
                        </p:par>
                        <p:par>
                          <p:cTn id="1601" grpId="0" nodeType="withPrev">
                            <p:stCondLst>
                              <p:cond delay="1500"/>
                            </p:stCondLst>
                            <p:childTnLst>
                              <p:set>
                                <p:cBhvr>
                                  <p:cTn id="1602" dur="1" fill="hold"/>
                                  <p:tgtEl>
                                    <p:spTgt spid="16"/>
                                  </p:tgtEl>
                                  <p:attrNameLst>
                                    <p:attrName>style.visibility</p:attrName>
                                  </p:attrNameLst>
                                </p:cBhvr>
                                <p:to>
                                  <p:strVal val="visible"/>
                                </p:to>
                              </p:set>
                              <p:animEffect transition="in" filter="wipe(up)">
                                <p:cBhvr>
                                  <p:cTn id="1603" dur="400" fill="hold"/>
                                  <p:tgtEl>
                                    <p:spTgt spid="16"/>
                                  </p:tgtEl>
                                </p:cBhvr>
                              </p:animEffect>
                            </p:childTnLst>
                          </p:cTn>
                        </p:par>
                        <p:par>
                          <p:cTn id="1701" grpId="0" nodeType="withPrev">
                            <p:stCondLst>
                              <p:cond delay="1500"/>
                            </p:stCondLst>
                            <p:childTnLst>
                              <p:set>
                                <p:cBhvr>
                                  <p:cTn id="1702" dur="1" fill="hold"/>
                                  <p:tgtEl>
                                    <p:spTgt spid="17"/>
                                  </p:tgtEl>
                                  <p:attrNameLst>
                                    <p:attrName>style.visibility</p:attrName>
                                  </p:attrNameLst>
                                </p:cBhvr>
                                <p:to>
                                  <p:strVal val="visible"/>
                                </p:to>
                              </p:set>
                              <p:animEffect transition="in" filter="wipe(up)">
                                <p:cBhvr>
                                  <p:cTn id="1703" dur="400" fill="hold"/>
                                  <p:tgtEl>
                                    <p:spTgt spid="17"/>
                                  </p:tgtEl>
                                </p:cBhvr>
                              </p:animEffect>
                            </p:childTnLst>
                          </p:cTn>
                        </p:par>
                        <p:par>
                          <p:cTn id="1801" grpId="0" nodeType="withPrev">
                            <p:stCondLst>
                              <p:cond delay="1500"/>
                            </p:stCondLst>
                            <p:childTnLst>
                              <p:set>
                                <p:cBhvr>
                                  <p:cTn id="1802" dur="1" fill="hold"/>
                                  <p:tgtEl>
                                    <p:spTgt spid="18"/>
                                  </p:tgtEl>
                                  <p:attrNameLst>
                                    <p:attrName>style.visibility</p:attrName>
                                  </p:attrNameLst>
                                </p:cBhvr>
                                <p:to>
                                  <p:strVal val="visible"/>
                                </p:to>
                              </p:set>
                              <p:animEffect transition="in" filter="wipe(up)">
                                <p:cBhvr>
                                  <p:cTn id="1803" dur="400" fill="hold"/>
                                  <p:tgtEl>
                                    <p:spTgt spid="18"/>
                                  </p:tgtEl>
                                </p:cBhvr>
                              </p:animEffect>
                            </p:childTnLst>
                          </p:cTn>
                        </p:par>
                        <p:par>
                          <p:cTn id="1901" grpId="0" nodeType="withPrev">
                            <p:stCondLst>
                              <p:cond delay="1500"/>
                            </p:stCondLst>
                            <p:childTnLst>
                              <p:set>
                                <p:cBhvr>
                                  <p:cTn id="1902" dur="1" fill="hold"/>
                                  <p:tgtEl>
                                    <p:spTgt spid="19"/>
                                  </p:tgtEl>
                                  <p:attrNameLst>
                                    <p:attrName>style.visibility</p:attrName>
                                  </p:attrNameLst>
                                </p:cBhvr>
                                <p:to>
                                  <p:strVal val="visible"/>
                                </p:to>
                              </p:set>
                              <p:animEffect transition="in" filter="wipe(up)">
                                <p:cBhvr>
                                  <p:cTn id="1903" dur="400" fill="hold"/>
                                  <p:tgtEl>
                                    <p:spTgt spid="19"/>
                                  </p:tgtEl>
                                </p:cBhvr>
                              </p:animEffect>
                            </p:childTnLst>
                          </p:cTn>
                        </p:par>
                        <p:par>
                          <p:cTn id="2001" grpId="0" nodeType="withPrev">
                            <p:stCondLst>
                              <p:cond delay="1500"/>
                            </p:stCondLst>
                            <p:childTnLst>
                              <p:set>
                                <p:cBhvr>
                                  <p:cTn id="2002" dur="1" fill="hold"/>
                                  <p:tgtEl>
                                    <p:spTgt spid="20"/>
                                  </p:tgtEl>
                                  <p:attrNameLst>
                                    <p:attrName>style.visibility</p:attrName>
                                  </p:attrNameLst>
                                </p:cBhvr>
                                <p:to>
                                  <p:strVal val="visible"/>
                                </p:to>
                              </p:set>
                              <p:animEffect transition="in" filter="wipe(up)">
                                <p:cBhvr>
                                  <p:cTn id="2003" dur="400" fill="hold"/>
                                  <p:tgtEl>
                                    <p:spTgt spid="20"/>
                                  </p:tgtEl>
                                </p:cBhvr>
                              </p:animEffect>
                            </p:childTnLst>
                          </p:cTn>
                        </p:par>
                      </p:childTnLst>
                    </p:cTn>
                  </p:par>
                </p:childTnLst>
              </p:cTn>
            </p:par>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5943600" y="731520"/>
            <a:ext cx="4114800" cy="4114800"/>
          </a:xfrm>
          <a:prstGeom prst="ellipse">
            <a:avLst/>
          </a:prstGeom>
          <a:solidFill>
            <a:srgbClr val="1B7FA6">
              <a:alpha val="18000"/>
            </a:srgbClr>
          </a:solidFill>
          <a:ln w="12700">
            <a:solidFill>
              <a:srgbClr val="1B7FA6">
                <a:alpha val="25000"/>
              </a:srgbClr>
            </a:solidFill>
            <a:prstDash val="solid"/>
          </a:ln>
        </p:spPr>
      </p:sp>
      <p:sp>
        <p:nvSpPr>
          <p:cNvPr id="4" name="Shape 2"/>
          <p:cNvSpPr/>
          <p:nvPr/>
        </p:nvSpPr>
        <p:spPr>
          <a:xfrm>
            <a:off x="6858000" y="1371600"/>
            <a:ext cx="2743200" cy="2743200"/>
          </a:xfrm>
          <a:prstGeom prst="ellipse">
            <a:avLst/>
          </a:prstGeom>
          <a:solidFill>
            <a:srgbClr val="02C39A">
              <a:alpha val="12000"/>
            </a:srgbClr>
          </a:solidFill>
          <a:ln w="12700">
            <a:solidFill>
              <a:srgbClr val="02C39A">
                <a:alpha val="20000"/>
              </a:srgbClr>
            </a:solidFill>
            <a:prstDash val="solid"/>
          </a:ln>
        </p:spPr>
      </p:sp>
      <p:sp>
        <p:nvSpPr>
          <p:cNvPr id="5" name="Text 3"/>
          <p:cNvSpPr/>
          <p:nvPr/>
        </p:nvSpPr>
        <p:spPr>
          <a:xfrm>
            <a:off x="548640" y="1280160"/>
            <a:ext cx="548640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6" name="Shape 4"/>
          <p:cNvSpPr/>
          <p:nvPr/>
        </p:nvSpPr>
        <p:spPr>
          <a:xfrm>
            <a:off x="548640" y="2240280"/>
            <a:ext cx="1371600" cy="54864"/>
          </a:xfrm>
          <a:prstGeom prst="rect">
            <a:avLst/>
          </a:prstGeom>
          <a:solidFill>
            <a:srgbClr val="02C39A"/>
          </a:solidFill>
          <a:ln w="12700">
            <a:solidFill>
              <a:srgbClr val="02C39A"/>
            </a:solidFill>
            <a:prstDash val="solid"/>
          </a:ln>
        </p:spPr>
      </p:sp>
      <p:sp>
        <p:nvSpPr>
          <p:cNvPr id="7" name="Text 5"/>
          <p:cNvSpPr/>
          <p:nvPr/>
        </p:nvSpPr>
        <p:spPr>
          <a:xfrm>
            <a:off x="548640" y="2423160"/>
            <a:ext cx="5943600" cy="73152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For more information, visit our</a:t>
            </a:r>
            <a:endParaRPr lang="en-US" sz="1600" dirty="0"/>
          </a:p>
          <a:p>
            <a:pPr indent="0" marL="0">
              <a:buNone/>
            </a:pPr>
            <a:r>
              <a:rPr lang="en-US" sz="1600" dirty="0">
                <a:solidFill>
                  <a:srgbClr val="CBD5E1"/>
                </a:solidFill>
                <a:latin typeface="Calibri" pitchFamily="34" charset="0"/>
                <a:ea typeface="Calibri" pitchFamily="34" charset="-122"/>
                <a:cs typeface="Calibri" pitchFamily="34" charset="-120"/>
              </a:rPr>
              <a:t>Documentation Center.</a:t>
            </a:r>
            <a:endParaRPr lang="en-US" sz="1600" dirty="0"/>
          </a:p>
        </p:txBody>
      </p:sp>
      <p:sp>
        <p:nvSpPr>
          <p:cNvPr id="8" name="Text 6"/>
          <p:cNvSpPr/>
          <p:nvPr/>
        </p:nvSpPr>
        <p:spPr>
          <a:xfrm>
            <a:off x="548640" y="3383280"/>
            <a:ext cx="5486400" cy="8229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StreamGuard Analytics Platform</a:t>
            </a:r>
            <a:endParaRPr lang="en-US" sz="1300" dirty="0"/>
          </a:p>
          <a:p>
            <a:pPr indent="0" marL="0">
              <a:buNone/>
            </a:pPr>
            <a:r>
              <a:rPr lang="en-US" sz="1300" i="1" dirty="0">
                <a:solidFill>
                  <a:srgbClr val="64748B"/>
                </a:solidFill>
                <a:latin typeface="Calibri" pitchFamily="34" charset="0"/>
                <a:ea typeface="Calibri" pitchFamily="34" charset="-122"/>
                <a:cs typeface="Calibri" pitchFamily="34" charset="-120"/>
              </a:rPr>
              <a:t>Video Documentation Series</a:t>
            </a:r>
            <a:endParaRPr lang="en-US" sz="1300" dirty="0"/>
          </a:p>
        </p:txBody>
      </p:sp>
      <p:sp>
        <p:nvSpPr>
          <p:cNvPr id="9" name="Shape 7"/>
          <p:cNvSpPr/>
          <p:nvPr/>
        </p:nvSpPr>
        <p:spPr>
          <a:xfrm>
            <a:off x="0" y="4754880"/>
            <a:ext cx="9144000" cy="384048"/>
          </a:xfrm>
          <a:prstGeom prst="rect">
            <a:avLst/>
          </a:prstGeom>
          <a:solidFill>
            <a:srgbClr val="0E5C7A"/>
          </a:solidFill>
          <a:ln w="12700">
            <a:solidFill>
              <a:srgbClr val="0E5C7A"/>
            </a:solidFill>
            <a:prstDash val="solid"/>
          </a:ln>
        </p:spPr>
      </p:sp>
      <p:sp>
        <p:nvSpPr>
          <p:cNvPr id="10" name="Text 8"/>
          <p:cNvSpPr/>
          <p:nvPr/>
        </p:nvSpPr>
        <p:spPr>
          <a:xfrm>
            <a:off x="274320" y="4773168"/>
            <a:ext cx="8595360" cy="347472"/>
          </a:xfrm>
          <a:prstGeom prst="rect">
            <a:avLst/>
          </a:prstGeom>
          <a:noFill/>
          <a:ln/>
        </p:spPr>
        <p:txBody>
          <a:bodyPr wrap="square"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StreamGuard Analytics Platform  |  Video Documentation Series</a:t>
            </a:r>
            <a:endParaRPr lang="en-US" sz="1100" dirty="0"/>
          </a:p>
        </p:txBody>
      </p:sp>
    </p:spTree>
  </p:cSld>
  <p:clrMapOvr>
    <a:masterClrMapping/>
  </p:clrMapOvr>
  <p:transition spd="med" advClick="1" advTm="0">
    <p:fade/>
  </p:transition>
  <p:timing>
    <p:tnLst>
      <p:par>
        <p:cTn id="14000" dur="indefin" restart="whenNotActive" nodeType="tmRoot">
          <p:childTnLst>
            <p:par>
              <p:cTn id="14001" fill="hold" nodeType="mainSeq">
                <p:stCondLst>
                  <p:cond delay="indefin"/>
                </p:stCondLst>
                <p:childTnLst>
                  <p:par>
                    <p:cTn id="14002" fill="hold">
                      <p:stCondLst>
                        <p:cond delay="0"/>
                      </p:stCondLst>
                      <p:childTnLst>
                        <p:par>
                          <p:cTn id="201" grpId="0" nodeType="withPrev">
                            <p:stCondLst>
                              <p:cond delay="0"/>
                            </p:stCondLst>
                            <p:childTnLst>
                              <p:set>
                                <p:cBhvr>
                                  <p:cTn id="202" dur="1" fill="hold"/>
                                  <p:tgtEl>
                                    <p:spTgt spid="2"/>
                                  </p:tgtEl>
                                  <p:attrNameLst>
                                    <p:attrName>style.visibility</p:attrName>
                                  </p:attrNameLst>
                                </p:cBhvr>
                                <p:to>
                                  <p:strVal val="visible"/>
                                </p:to>
                              </p:set>
                              <p:animEffect transition="in" filter="fade">
                                <p:cBhvr>
                                  <p:cTn id="203" dur="500" fill="hold"/>
                                  <p:tgtEl>
                                    <p:spTgt spid="2"/>
                                  </p:tgtEl>
                                </p:cBhvr>
                              </p:animEffect>
                            </p:childTnLst>
                          </p:cTn>
                        </p:par>
                        <p:par>
                          <p:cTn id="301" grpId="0" nodeType="withPrev">
                            <p:stCondLst>
                              <p:cond delay="200"/>
                            </p:stCondLst>
                            <p:childTnLst>
                              <p:set>
                                <p:cBhvr>
                                  <p:cTn id="302" dur="1" fill="hold"/>
                                  <p:tgtEl>
                                    <p:spTgt spid="3"/>
                                  </p:tgtEl>
                                  <p:attrNameLst>
                                    <p:attrName>style.visibility</p:attrName>
                                  </p:attrNameLst>
                                </p:cBhvr>
                                <p:to>
                                  <p:strVal val="visible"/>
                                </p:to>
                              </p:set>
                              <p:animEffect transition="in" filter="fade">
                                <p:cBhvr>
                                  <p:cTn id="303" dur="500" fill="hold"/>
                                  <p:tgtEl>
                                    <p:spTgt spid="3"/>
                                  </p:tgtEl>
                                </p:cBhvr>
                              </p:animEffect>
                            </p:childTnLst>
                          </p:cTn>
                        </p:par>
                        <p:par>
                          <p:cTn id="401" grpId="0" nodeType="withPrev">
                            <p:stCondLst>
                              <p:cond delay="400"/>
                            </p:stCondLst>
                            <p:childTnLst>
                              <p:set>
                                <p:cBhvr>
                                  <p:cTn id="402" dur="1" fill="hold"/>
                                  <p:tgtEl>
                                    <p:spTgt spid="4"/>
                                  </p:tgtEl>
                                  <p:attrNameLst>
                                    <p:attrName>style.visibility</p:attrName>
                                  </p:attrNameLst>
                                </p:cBhvr>
                                <p:to>
                                  <p:strVal val="visible"/>
                                </p:to>
                              </p:set>
                              <p:animEffect transition="in" filter="fade">
                                <p:cBhvr>
                                  <p:cTn id="403" dur="500" fill="hold"/>
                                  <p:tgtEl>
                                    <p:spTgt spid="4"/>
                                  </p:tgtEl>
                                </p:cBhvr>
                              </p:animEffect>
                            </p:childTnLst>
                          </p:cTn>
                        </p:par>
                        <p:par>
                          <p:cTn id="501" grpId="0" nodeType="withPrev">
                            <p:stCondLst>
                              <p:cond delay="600"/>
                            </p:stCondLst>
                            <p:childTnLst>
                              <p:set>
                                <p:cBhvr>
                                  <p:cTn id="502" dur="1" fill="hold"/>
                                  <p:tgtEl>
                                    <p:spTgt spid="5"/>
                                  </p:tgtEl>
                                  <p:attrNameLst>
                                    <p:attrName>style.visibility</p:attrName>
                                  </p:attrNameLst>
                                </p:cBhvr>
                                <p:to>
                                  <p:strVal val="visible"/>
                                </p:to>
                              </p:set>
                              <p:animEffect transition="in" filter="wipe(up)">
                                <p:cBhvr>
                                  <p:cTn id="503" dur="400" fill="hold"/>
                                  <p:tgtEl>
                                    <p:spTgt spid="5"/>
                                  </p:tgtEl>
                                </p:cBhvr>
                              </p:animEffect>
                            </p:childTnLst>
                          </p:cTn>
                        </p:par>
                        <p:par>
                          <p:cTn id="601" grpId="0" nodeType="withPrev">
                            <p:stCondLst>
                              <p:cond delay="800"/>
                            </p:stCondLst>
                            <p:childTnLst>
                              <p:set>
                                <p:cBhvr>
                                  <p:cTn id="602" dur="1" fill="hold"/>
                                  <p:tgtEl>
                                    <p:spTgt spid="6"/>
                                  </p:tgtEl>
                                  <p:attrNameLst>
                                    <p:attrName>style.visibility</p:attrName>
                                  </p:attrNameLst>
                                </p:cBhvr>
                                <p:to>
                                  <p:strVal val="visible"/>
                                </p:to>
                              </p:set>
                              <p:animEffect transition="in" filter="fade">
                                <p:cBhvr>
                                  <p:cTn id="603" dur="500" fill="hold"/>
                                  <p:tgtEl>
                                    <p:spTgt spid="6"/>
                                  </p:tgtEl>
                                </p:cBhvr>
                              </p:animEffect>
                            </p:childTnLst>
                          </p:cTn>
                        </p:par>
                        <p:par>
                          <p:cTn id="701" grpId="0" nodeType="withPrev">
                            <p:stCondLst>
                              <p:cond delay="900"/>
                            </p:stCondLst>
                            <p:childTnLst>
                              <p:set>
                                <p:cBhvr>
                                  <p:cTn id="702" dur="1" fill="hold"/>
                                  <p:tgtEl>
                                    <p:spTgt spid="7"/>
                                  </p:tgtEl>
                                  <p:attrNameLst>
                                    <p:attrName>style.visibility</p:attrName>
                                  </p:attrNameLst>
                                </p:cBhvr>
                                <p:to>
                                  <p:strVal val="visible"/>
                                </p:to>
                              </p:set>
                              <p:animEffect transition="in" filter="wipe(up)">
                                <p:cBhvr>
                                  <p:cTn id="703" dur="400" fill="hold"/>
                                  <p:tgtEl>
                                    <p:spTgt spid="7"/>
                                  </p:tgtEl>
                                </p:cBhvr>
                              </p:animEffect>
                            </p:childTnLst>
                          </p:cTn>
                        </p:par>
                        <p:par>
                          <p:cTn id="801" grpId="0" nodeType="withPrev">
                            <p:stCondLst>
                              <p:cond delay="1100"/>
                            </p:stCondLst>
                            <p:childTnLst>
                              <p:set>
                                <p:cBhvr>
                                  <p:cTn id="802" dur="1" fill="hold"/>
                                  <p:tgtEl>
                                    <p:spTgt spid="8"/>
                                  </p:tgtEl>
                                  <p:attrNameLst>
                                    <p:attrName>style.visibility</p:attrName>
                                  </p:attrNameLst>
                                </p:cBhvr>
                                <p:to>
                                  <p:strVal val="visible"/>
                                </p:to>
                              </p:set>
                              <p:animEffect transition="in" filter="fade">
                                <p:cBhvr>
                                  <p:cTn id="803" dur="500" fill="hold"/>
                                  <p:tgtEl>
                                    <p:spTgt spid="8"/>
                                  </p:tgtEl>
                                </p:cBhvr>
                              </p:animEffect>
                            </p:childTnLst>
                          </p:cTn>
                        </p:par>
                        <p:par>
                          <p:cTn id="901" grpId="0" nodeType="withPrev">
                            <p:stCondLst>
                              <p:cond delay="1300"/>
                            </p:stCondLst>
                            <p:childTnLst>
                              <p:set>
                                <p:cBhvr>
                                  <p:cTn id="902" dur="1" fill="hold"/>
                                  <p:tgtEl>
                                    <p:spTgt spid="9"/>
                                  </p:tgtEl>
                                  <p:attrNameLst>
                                    <p:attrName>style.visibility</p:attrName>
                                  </p:attrNameLst>
                                </p:cBhvr>
                                <p:to>
                                  <p:strVal val="visible"/>
                                </p:to>
                              </p:set>
                              <p:animEffect transition="in" filter="fade">
                                <p:cBhvr>
                                  <p:cTn id="903" dur="500" fill="hold"/>
                                  <p:tgtEl>
                                    <p:spTgt spid="9"/>
                                  </p:tgtEl>
                                </p:cBhvr>
                              </p:animEffect>
                            </p:childTnLst>
                          </p:cTn>
                        </p:par>
                        <p:par>
                          <p:cTn id="1001" grpId="0" nodeType="withPrev">
                            <p:stCondLst>
                              <p:cond delay="1300"/>
                            </p:stCondLst>
                            <p:childTnLst>
                              <p:set>
                                <p:cBhvr>
                                  <p:cTn id="1002" dur="1" fill="hold"/>
                                  <p:tgtEl>
                                    <p:spTgt spid="10"/>
                                  </p:tgtEl>
                                  <p:attrNameLst>
                                    <p:attrName>style.visibility</p:attrName>
                                  </p:attrNameLst>
                                </p:cBhvr>
                                <p:to>
                                  <p:strVal val="visible"/>
                                </p:to>
                              </p:set>
                              <p:animEffect transition="in" filter="fade">
                                <p:cBhvr>
                                  <p:cTn id="1003" dur="500" fill="hold"/>
                                  <p:tgtEl>
                                    <p:spTgt spid="10"/>
                                  </p:tgtEl>
                                </p:cBhvr>
                              </p:animEffect>
                            </p:childTnLst>
                          </p:cTn>
                        </p:par>
                      </p:childTnLst>
                    </p:cTn>
                  </p:par>
                </p:childTnLst>
              </p:cTn>
            </p:par>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DFM-X Data Stream Integration</dc:title>
  <dc:subject>PptxGenJS Presentation</dc:subject>
  <dc:creator>Documentation Team</dc:creator>
  <cp:lastModifiedBy>Documentation Team</cp:lastModifiedBy>
  <cp:revision>1</cp:revision>
  <dcterms:created xsi:type="dcterms:W3CDTF">2026-02-25T09:23:26Z</dcterms:created>
  <dcterms:modified xsi:type="dcterms:W3CDTF">2026-02-25T09:23:26Z</dcterms:modified>
</cp:coreProperties>
</file>